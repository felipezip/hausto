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69748bdac849c2" /><Relationship Type="http://schemas.openxmlformats.org/officeDocument/2006/relationships/extended-properties" Target="/docProps/app.xml" Id="R3c14d81599924a3b" /><Relationship Type="http://schemas.openxmlformats.org/officeDocument/2006/relationships/officeDocument" Target="/ppt/presentation.xml" Id="Reb07ddd884bc4910" /></Relationships>
</file>

<file path=ppt/presentation.xml><?xml version="1.0" encoding="utf-8"?>
<p:presentation xmlns:p="http://schemas.openxmlformats.org/presentationml/2006/main">
  <p:sldMasterIdLst>
    <p:sldMasterId xmlns:r="http://schemas.openxmlformats.org/officeDocument/2006/relationships" id="2147483648" r:id="R90276ff4438a450f"/>
  </p:sldMasterIdLst>
  <p:notesMasterIdLst>
    <p:notesMasterId xmlns:r="http://schemas.openxmlformats.org/officeDocument/2006/relationships" r:id="R112f04a4596349c7"/>
  </p:notesMasterIdLst>
  <p:sldIdLst>
    <p:sldId xmlns:r="http://schemas.openxmlformats.org/officeDocument/2006/relationships" id="256" r:id="R090038a7d7404d07"/>
    <p:sldId xmlns:r="http://schemas.openxmlformats.org/officeDocument/2006/relationships" id="257" r:id="R69255999a8e74ac0"/>
    <p:sldId xmlns:r="http://schemas.openxmlformats.org/officeDocument/2006/relationships" id="258" r:id="Ra5b21ac5c03f4c25"/>
    <p:sldId xmlns:r="http://schemas.openxmlformats.org/officeDocument/2006/relationships" id="259" r:id="Rd6f99756d6de4e37"/>
    <p:sldId xmlns:r="http://schemas.openxmlformats.org/officeDocument/2006/relationships" id="260" r:id="R71730883d49448ec"/>
    <p:sldId xmlns:r="http://schemas.openxmlformats.org/officeDocument/2006/relationships" id="261" r:id="Rfa7a9c48155f4665"/>
    <p:sldId xmlns:r="http://schemas.openxmlformats.org/officeDocument/2006/relationships" id="262" r:id="R99f934aaa9544de5"/>
    <p:sldId xmlns:r="http://schemas.openxmlformats.org/officeDocument/2006/relationships" id="263" r:id="Rf74c4343824441d6"/>
    <p:sldId xmlns:r="http://schemas.openxmlformats.org/officeDocument/2006/relationships" id="264" r:id="R6bffc5f53e0c43a6"/>
    <p:sldId xmlns:r="http://schemas.openxmlformats.org/officeDocument/2006/relationships" id="265" r:id="Rf64fc507d26f4761"/>
    <p:sldId xmlns:r="http://schemas.openxmlformats.org/officeDocument/2006/relationships" id="266" r:id="R41944856578b4f94"/>
    <p:sldId xmlns:r="http://schemas.openxmlformats.org/officeDocument/2006/relationships" id="267" r:id="R0a8e934b174a4cd3"/>
    <p:sldId xmlns:r="http://schemas.openxmlformats.org/officeDocument/2006/relationships" id="268" r:id="Re58f55a8583840dc"/>
    <p:sldId xmlns:r="http://schemas.openxmlformats.org/officeDocument/2006/relationships" id="269" r:id="R3f2e6d14ac3b4896"/>
    <p:sldId xmlns:r="http://schemas.openxmlformats.org/officeDocument/2006/relationships" id="270" r:id="R2365e10849534af5"/>
    <p:sldId xmlns:r="http://schemas.openxmlformats.org/officeDocument/2006/relationships" id="271" r:id="R419d5d63f58742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b8de93fe674cfa" /><Relationship Type="http://schemas.openxmlformats.org/officeDocument/2006/relationships/slideMaster" Target="/ppt/slideMasters/slideMaster1.xml" Id="R90276ff4438a450f" /><Relationship Type="http://schemas.openxmlformats.org/officeDocument/2006/relationships/notesMaster" Target="/ppt/notesMasters/notesMaster1.xml" Id="R112f04a4596349c7" /><Relationship Type="http://schemas.openxmlformats.org/officeDocument/2006/relationships/presProps" Target="/ppt/presProps.xml" Id="R42636c2b7ed8471d" /><Relationship Type="http://schemas.openxmlformats.org/officeDocument/2006/relationships/tableStyles" Target="/ppt/tableStyles.xml" Id="R56493d2fa8e34a49" /><Relationship Type="http://schemas.openxmlformats.org/officeDocument/2006/relationships/slide" Target="/ppt/slides/slide1.xml" Id="R090038a7d7404d07" /><Relationship Type="http://schemas.openxmlformats.org/officeDocument/2006/relationships/slide" Target="/ppt/slides/slide2.xml" Id="R69255999a8e74ac0" /><Relationship Type="http://schemas.openxmlformats.org/officeDocument/2006/relationships/slide" Target="/ppt/slides/slide3.xml" Id="Ra5b21ac5c03f4c25" /><Relationship Type="http://schemas.openxmlformats.org/officeDocument/2006/relationships/slide" Target="/ppt/slides/slide4.xml" Id="Rd6f99756d6de4e37" /><Relationship Type="http://schemas.openxmlformats.org/officeDocument/2006/relationships/slide" Target="/ppt/slides/slide5.xml" Id="R71730883d49448ec" /><Relationship Type="http://schemas.openxmlformats.org/officeDocument/2006/relationships/slide" Target="/ppt/slides/slide6.xml" Id="Rfa7a9c48155f4665" /><Relationship Type="http://schemas.openxmlformats.org/officeDocument/2006/relationships/slide" Target="/ppt/slides/slide7.xml" Id="R99f934aaa9544de5" /><Relationship Type="http://schemas.openxmlformats.org/officeDocument/2006/relationships/slide" Target="/ppt/slides/slide8.xml" Id="Rf74c4343824441d6" /><Relationship Type="http://schemas.openxmlformats.org/officeDocument/2006/relationships/slide" Target="/ppt/slides/slide9.xml" Id="R6bffc5f53e0c43a6" /><Relationship Type="http://schemas.openxmlformats.org/officeDocument/2006/relationships/slide" Target="/ppt/slides/slide10.xml" Id="Rf64fc507d26f4761" /><Relationship Type="http://schemas.openxmlformats.org/officeDocument/2006/relationships/slide" Target="/ppt/slides/slide11.xml" Id="R41944856578b4f94" /><Relationship Type="http://schemas.openxmlformats.org/officeDocument/2006/relationships/slide" Target="/ppt/slides/slide12.xml" Id="R0a8e934b174a4cd3" /><Relationship Type="http://schemas.openxmlformats.org/officeDocument/2006/relationships/slide" Target="/ppt/slides/slide13.xml" Id="Re58f55a8583840dc" /><Relationship Type="http://schemas.openxmlformats.org/officeDocument/2006/relationships/slide" Target="/ppt/slides/slide14.xml" Id="R3f2e6d14ac3b4896" /><Relationship Type="http://schemas.openxmlformats.org/officeDocument/2006/relationships/slide" Target="/ppt/slides/slide15.xml" Id="R2365e10849534af5" /><Relationship Type="http://schemas.openxmlformats.org/officeDocument/2006/relationships/slide" Target="/ppt/slides/slide16.xml" Id="R419d5d63f58742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66572ae85c4d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d214f969fc4128" /><Relationship Type="http://schemas.openxmlformats.org/officeDocument/2006/relationships/notesMaster" Target="/ppt/notesMasters/notesMaster1.xml" Id="R9926307580ac4a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ebbf0bcaf4421b" /><Relationship Type="http://schemas.openxmlformats.org/officeDocument/2006/relationships/notesMaster" Target="/ppt/notesMasters/notesMaster1.xml" Id="Rb9b3de1dbd6847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65806ad9b24f0f" /><Relationship Type="http://schemas.openxmlformats.org/officeDocument/2006/relationships/notesMaster" Target="/ppt/notesMasters/notesMaster1.xml" Id="Rf092412e9e2c4d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34491939b34f38" /><Relationship Type="http://schemas.openxmlformats.org/officeDocument/2006/relationships/notesMaster" Target="/ppt/notesMasters/notesMaster1.xml" Id="R43d5d0b6c8714b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74b751fc9e417c" /><Relationship Type="http://schemas.openxmlformats.org/officeDocument/2006/relationships/notesMaster" Target="/ppt/notesMasters/notesMaster1.xml" Id="Rea8937b6c2bc41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49a0a023cd4172" /><Relationship Type="http://schemas.openxmlformats.org/officeDocument/2006/relationships/notesMaster" Target="/ppt/notesMasters/notesMaster1.xml" Id="R6e3d9191cfff40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78aa23975f46b6" /><Relationship Type="http://schemas.openxmlformats.org/officeDocument/2006/relationships/notesMaster" Target="/ppt/notesMasters/notesMaster1.xml" Id="R96b41b30e07042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95faea7be14455" /><Relationship Type="http://schemas.openxmlformats.org/officeDocument/2006/relationships/notesMaster" Target="/ppt/notesMasters/notesMaster1.xml" Id="R017facab541344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eb241b96d041c1" /><Relationship Type="http://schemas.openxmlformats.org/officeDocument/2006/relationships/notesMaster" Target="/ppt/notesMasters/notesMaster1.xml" Id="R64899cb86db34b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55e49c3eb141ac" /><Relationship Type="http://schemas.openxmlformats.org/officeDocument/2006/relationships/notesMaster" Target="/ppt/notesMasters/notesMaster1.xml" Id="Rb90ab33d380d4d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5f261414d94264" /><Relationship Type="http://schemas.openxmlformats.org/officeDocument/2006/relationships/notesMaster" Target="/ppt/notesMasters/notesMaster1.xml" Id="R87f6a08e216145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a7c7b7ad1c4773" /><Relationship Type="http://schemas.openxmlformats.org/officeDocument/2006/relationships/notesMaster" Target="/ppt/notesMasters/notesMaster1.xml" Id="R1d5260251cf14f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3825df7f154607" /><Relationship Type="http://schemas.openxmlformats.org/officeDocument/2006/relationships/notesMaster" Target="/ppt/notesMasters/notesMaster1.xml" Id="R467364e894704e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f02af9aa754f1c" /><Relationship Type="http://schemas.openxmlformats.org/officeDocument/2006/relationships/notesMaster" Target="/ppt/notesMasters/notesMaster1.xml" Id="R266ee49683884df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7f173896cf41ac" /><Relationship Type="http://schemas.openxmlformats.org/officeDocument/2006/relationships/notesMaster" Target="/ppt/notesMasters/notesMaster1.xml" Id="R4b3b29ee77f14a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d76817969d84da8" /><Relationship Type="http://schemas.openxmlformats.org/officeDocument/2006/relationships/notesMaster" Target="/ppt/notesMasters/notesMaster1.xml" Id="R7e292228bad14a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Abertura sugerida: fechamos o recorte inicial do Hausto em pessoa física. A jornada considera conta, fatura e despesas essenciais até a próxima renda. Mantemos a colaboração entre agentes, reduzimos o MVP para quatro papéis e reservamos PJ para a expansão. Este material atualiza o alinhamento interno, sem declarar a solução já implementada. Duração sugerida: 12 a 15 minutos com discussão.</a:t>
            </a:r>
          </a:p>
          <a:p xmlns:a="http://schemas.openxmlformats.org/drawingml/2006/main">
            <a:r>
              <a:t/>
            </a:r>
          </a:p>
          <a:p xmlns:a="http://schemas.openxmlformats.org/drawingml/2006/main">
            <a:r>
              <a:t>FONTES E PREMISSAS</a:t>
            </a:r>
          </a:p>
          <a:p xmlns:a="http://schemas.openxmlformats.org/drawingml/2006/main">
            <a:r>
              <a:t>Posicionamento escolhido pelo usuário nesta conversa: começar no ecossistema pessoa física e escalar depois para PJ. Arquitetura proposta com quatro agentes no MVP. Material para alinhamento interno da equipe Eleven.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escolha PF é uma decisão de execução e aderência aos insumos disponíveis, não uma proibição de PJ no regulamento. Aproveitamos a base fornecida, o protótipo e a capacidade de dois desenvolvedores. A presença de uma fatura delimita o momento de decisão. O sistema precisa considerar a conta e compromissos, confirmar o que falta e explicar consequências. Não classificar ocupação ou intenção a partir do extrato sem confirmação.</a:t>
            </a:r>
          </a:p>
          <a:p xmlns:a="http://schemas.openxmlformats.org/drawingml/2006/main">
            <a:r>
              <a:t/>
            </a:r>
          </a:p>
          <a:p xmlns:a="http://schemas.openxmlformats.org/drawingml/2006/main">
            <a:r>
              <a:t>FONTES E PREMISSAS</a:t>
            </a:r>
          </a:p>
          <a:p xmlns:a="http://schemas.openxmlformats.org/drawingml/2006/main">
            <a:r>
              <a:t>Posicionamento escolhido pelo usuário nesta conversa: começar no ecossistema pessoa física e escalar depois para PJ. Arquitetura proposta com quatro agentes no MVP. Material para alinhamento interno da equipe Eleven.</a:t>
            </a:r>
          </a:p>
          <a:p xmlns:a="http://schemas.openxmlformats.org/drawingml/2006/main">
            <a:r>
              <a:t>Batalha de Agentes - Apresentação Case.pdf, fornecido pelo usuário. Base sintética de extratos de mil pessoas. Enunciado orienta gestão financeira contextual, antecipação, orientação útil, letramento e uso de ferramentas 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escopo se mantém no ecossistema PF, com uma decisão integrada. O histórico apoia hipóteses, sem substituir dados contratuais e compromissos externos. Distinguir entrada esperada de dinheiro disponível. O horizonte precisa cobrir todas as datas até a próxima renda confirmada. Se a renda for incerta, apresentar cenários condicionais. Novos produtos exigem regras e condições próprias antes de entrar na comparação.</a:t>
            </a:r>
          </a:p>
          <a:p xmlns:a="http://schemas.openxmlformats.org/drawingml/2006/main">
            <a:r>
              <a:t/>
            </a:r>
          </a:p>
          <a:p xmlns:a="http://schemas.openxmlformats.org/drawingml/2006/main">
            <a:r>
              <a:t>FONTES E PREMISSAS</a:t>
            </a:r>
          </a:p>
          <a:p xmlns:a="http://schemas.openxmlformats.org/drawingml/2006/main">
            <a:r>
              <a:t>Batalha de Agentes - Apresentação Case.pdf, fornecido pelo usuário. Base sintética de extratos de mil pessoas. Enunciado orienta gestão financeira contextual, antecipação, orientação útil, letramento e uso de ferramentas Google.</a:t>
            </a:r>
          </a:p>
          <a:p xmlns:a="http://schemas.openxmlformats.org/drawingml/2006/main">
            <a:r>
              <a:t>Posicionamento escolhido pelo usuário nesta conversa: começar no ecossistema pessoa física e escalar depois para PJ. Arquitetura proposta com quatro agentes no MVP. Material para alinhamento interno da equipe Eleven.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Quatro agentes lógicos são suficientes para o recorte. A última linha da tabela representa código, não um quinto agente. Conta identifica quais projeções pedir e interpreta resultados, sem fazer as contas por linguagem natural. Compromissos avalia as condições disponíveis, sem inventar taxas ou ofertas. Revisão procura omissões e resultados desatualizados, mas não garante correção por ser outro modelo. Todos respeitam o objetivo do cliente.</a:t>
            </a:r>
          </a:p>
          <a:p xmlns:a="http://schemas.openxmlformats.org/drawingml/2006/main">
            <a:r>
              <a:t/>
            </a:r>
          </a:p>
          <a:p xmlns:a="http://schemas.openxmlformats.org/drawingml/2006/main">
            <a:r>
              <a:t>FONTES E PREMISSAS</a:t>
            </a:r>
          </a:p>
          <a:p xmlns:a="http://schemas.openxmlformats.org/drawingml/2006/main">
            <a:r>
              <a:t>Posicionamento escolhido pelo usuário nesta conversa: começar no ecossistema pessoa física e escalar depois para PJ. Arquitetura proposta com quatro agentes no MVP. Material para alinhamento interno da equipe Eleven.</a:t>
            </a:r>
          </a:p>
          <a:p xmlns:a="http://schemas.openxmlformats.org/drawingml/2006/main">
            <a:r>
              <a:t>Google ADK: https://adk.dev/sessions/state/ ; https://adk.dev/safety/ ; https://adk.dev/evaluate/ . Consulta em 26/09/2026. O versionamento proposto é controle da aplicação. Persistência depende do serviço de sessão configurado. Validações programadas complementam o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diagrama ilustra canais de colaboração, não uma sequência fixa. Compromissos pode perguntar a Conta sobre a viabilidade de uma alternativa. Conta pode apontar uma data ausente. Contexto obtém a resposta do cliente e cria nova versão dos fatos. Revisão pode devolver objeções. O sistema não precisa acionar todos os agentes em toda interação. Mostrar mensagens estruturadas, chamadas e evidências reais na demo, sem expor pensamento interno nem apresentar animação como execução.</a:t>
            </a:r>
          </a:p>
          <a:p xmlns:a="http://schemas.openxmlformats.org/drawingml/2006/main">
            <a:r>
              <a:t/>
            </a:r>
          </a:p>
          <a:p xmlns:a="http://schemas.openxmlformats.org/drawingml/2006/main">
            <a:r>
              <a:t>FONTES E PREMISSAS</a:t>
            </a:r>
          </a:p>
          <a:p xmlns:a="http://schemas.openxmlformats.org/drawingml/2006/main">
            <a:r>
              <a:t>Google ADK: https://adk.dev/sessions/state/ ; https://adk.dev/safety/ ; https://adk.dev/evaluate/ . Consulta em 26/09/2026. O versionamento proposto é controle da aplicação. Persistência depende do serviço de sessão configurado. Validações programadas complementam o modelo.</a:t>
            </a:r>
          </a:p>
          <a:p xmlns:a="http://schemas.openxmlformats.org/drawingml/2006/main">
            <a:r>
              <a:t>Posicionamento escolhido pelo usuário nesta conversa: começar no ecossistema pessoa física e escalar depois para PJ. Arquitetura proposta com quatro agentes no MVP. Material para alinhamento interno da equipe Eleven.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Reaproveitamos a arquitetura com quatro agentes. ADK mantém a coordenação e o contexto da sessão. A aplicação valida atualizações e atribui versão. Cloud Run é a opção proposta para ferramentas de consulta, projeção, simulação e restrições. BigQuery mantém histórico e dados de referência. Persistência de sessão depende do serviço configurado; BigQuery não fornece automaticamente memória de sessão. A integração bancária precisa ser comprovada. No MVP, a decisão registrada é simulada.</a:t>
            </a:r>
          </a:p>
          <a:p xmlns:a="http://schemas.openxmlformats.org/drawingml/2006/main">
            <a:r>
              <a:t/>
            </a:r>
          </a:p>
          <a:p xmlns:a="http://schemas.openxmlformats.org/drawingml/2006/main">
            <a:r>
              <a:t>FONTES E PREMISSAS</a:t>
            </a:r>
          </a:p>
          <a:p xmlns:a="http://schemas.openxmlformats.org/drawingml/2006/main">
            <a:r>
              <a:t>Google ADK: https://adk.dev/sessions/state/ ; https://adk.dev/safety/ ; https://adk.dev/evaluate/ . Consulta em 26/09/2026. O versionamento proposto é controle da aplicação. Persistência depende do serviço de sessão configurado. Validações programadas complementam o modelo.</a:t>
            </a:r>
          </a:p>
          <a:p xmlns:a="http://schemas.openxmlformats.org/drawingml/2006/main">
            <a:r>
              <a:t>Posicionamento escolhido pelo usuário nesta conversa: começar no ecossistema pessoa física e escalar depois para PJ. Arquitetura proposta com quatro agentes no MVP. Material para alinhamento interno da equipe Eleven.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fluxo permanece: entender objetivo, verificar dados necessários, pedir esclarecimento quando necessário, acionar especialistas e validar retornos. Nova informação invalida a orientação anterior. Falha técnica não significa nenhuma alternativa viável. Projeções devem cobrir as datas até a próxima renda. A escolha do cliente pode gerar nova pergunta ou comparação, sem executar pagamento.</a:t>
            </a:r>
          </a:p>
          <a:p xmlns:a="http://schemas.openxmlformats.org/drawingml/2006/main">
            <a:r>
              <a:t/>
            </a:r>
          </a:p>
          <a:p xmlns:a="http://schemas.openxmlformats.org/drawingml/2006/main">
            <a:r>
              <a:t>FONTES E PREMISSAS</a:t>
            </a:r>
          </a:p>
          <a:p xmlns:a="http://schemas.openxmlformats.org/drawingml/2006/main">
            <a:r>
              <a:t>Google ADK: https://adk.dev/sessions/state/ ; https://adk.dev/safety/ ; https://adk.dev/evaluate/ . Consulta em 26/09/2026. O versionamento proposto é controle da aplicação. Persistência depende do serviço de sessão configurado. Validações programadas complementam o modelo.</a:t>
            </a:r>
          </a:p>
          <a:p xmlns:a="http://schemas.openxmlformats.org/drawingml/2006/main">
            <a:r>
              <a:t>Posicionamento escolhido pelo usuário nesta conversa: começar no ecossistema pessoa física e escalar depois para PJ. Arquitetura proposta com quatro agentes no MVP. Material para alinhamento interno da equipe Eleven.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conta serve para verificar o recálculo, não para recomendar pagamento parcial. Sem novas entradas ou saídas no intervalo: 7.100 menos 3.600 menos 100 resulta em 3.400. Uma nova despesa essencial de 500 reduz a capacidade para 2.900. O mínimo contratual, encargos e outras condições precisam ser conhecidos. Se o cliente escolher pagar parcialmente, mostrar principal pendente e encargos separadamente. Validar também o menor saldo por data, porque o saldo agregado pode esconder insuficiência intermediária. O piso de 100 é didático e não uma regra universal.</a:t>
            </a:r>
          </a:p>
          <a:p xmlns:a="http://schemas.openxmlformats.org/drawingml/2006/main">
            <a:r>
              <a:t/>
            </a:r>
          </a:p>
          <a:p xmlns:a="http://schemas.openxmlformats.org/drawingml/2006/main">
            <a:r>
              <a:t>FONTES E PREMISSAS</a:t>
            </a:r>
          </a:p>
          <a:p xmlns:a="http://schemas.openxmlformats.org/drawingml/2006/main">
            <a:r>
              <a:t>Cenário sintético simplificado, baseado em Bruno. Saldo 7.100, fatura 3.900, despesas essenciais 3.600 e piso 100. Capacidade aritmética 7.100 − 3.600 − 100 = 3.400. Nova despesa de 500 eleva essenciais para 4.100, reduzindo a capacidade para 2.900. Sem outras entradas ou saídas antes da próxima renda no exemplo. Essa capacidade não é pagamento recomendado. Datas, encargos, mínimo e condições reais devem ser confirmados.</a:t>
            </a:r>
          </a:p>
          <a:p xmlns:a="http://schemas.openxmlformats.org/drawingml/2006/main">
            <a:r>
              <a:t>Protótipo fornecido pela equipe: https://claude.ai/artifact/PwomrkUSFtjLPqJ3s3kxKA . Cenários Bruno e Carla analisados anteriormente nesta conversa. Dados e taxas simulados, sem pagamento executado. O protótipo não comprova integração com ADK, Gemini ou serviços bancários.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cenário transforma um problema encontrado no protótipo em critério de aceitação. A aritmética é 2.300 menos 2.100 menos 224 igual a menos 24. A diferença para preservar também 100 é 124. Uma alternativa que viola as condições não pode receber selo de melhor para você. Reconhecer que nenhuma opção avaliada atende quando todas as alternativas conhecidas falharem. Não afirmar que não existe qualquer solução, não tratar falha de ferramenta como inviabilidade e não sugerir pagamento abaixo do mínimo como solução automática.</a:t>
            </a:r>
          </a:p>
          <a:p xmlns:a="http://schemas.openxmlformats.org/drawingml/2006/main">
            <a:r>
              <a:t/>
            </a:r>
          </a:p>
          <a:p xmlns:a="http://schemas.openxmlformats.org/drawingml/2006/main">
            <a:r>
              <a:t>FONTES E PREMISSAS</a:t>
            </a:r>
          </a:p>
          <a:p xmlns:a="http://schemas.openxmlformats.org/drawingml/2006/main">
            <a:r>
              <a:t>Cenário sintético Carla após reparo da geladeira. Saldo 2.300, despesas essenciais 2.100, pagamento mínimo simulado 224. 2.300 − 2.100 − 224 = −24. Para preservar também piso didático de 100, faltam 124. A correção desejada remove o selo de melhor opção. Não é recomendação de pagar abaixo do mínimo nem afirmação de que não existe qualquer solução financeira.</a:t>
            </a:r>
          </a:p>
          <a:p xmlns:a="http://schemas.openxmlformats.org/drawingml/2006/main">
            <a:r>
              <a:t>Protótipo fornecido pela equipe: https://claude.ai/artifact/PwomrkUSFtjLPqJ3s3kxKA . Cenários Bruno e Carla analisados anteriormente nesta conversa. Dados e taxas simulados, sem pagamento executado. O protótipo não comprova integração com ADK, Gemini ou serviços bancários.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cinco linhas representam eventos de quatro agentes: Contexto aparece no início e no final. É um roteiro proposto, não log de uma execução observada. A demonstração deve mostrar uma mudança real no estado, uma chamada real à ferramenta e o uso do resultado novo. Registrar versão, entrada, saída, emissor e destinatário. O agente de alternativas não pode concluir por um pagamento apenas com a capacidade aritmética. Quando faltarem condições, a resposta deve solicitar informação.</a:t>
            </a:r>
          </a:p>
          <a:p xmlns:a="http://schemas.openxmlformats.org/drawingml/2006/main">
            <a:r>
              <a:t/>
            </a:r>
          </a:p>
          <a:p xmlns:a="http://schemas.openxmlformats.org/drawingml/2006/main">
            <a:r>
              <a:t>FONTES E PREMISSAS</a:t>
            </a:r>
          </a:p>
          <a:p xmlns:a="http://schemas.openxmlformats.org/drawingml/2006/main">
            <a:r>
              <a:t>Cenário sintético simplificado, baseado em Bruno. Saldo 7.100, fatura 3.900, despesas essenciais 3.600 e piso 100. Capacidade aritmética 7.100 − 3.600 − 100 = 3.400. Nova despesa de 500 eleva essenciais para 4.100, reduzindo a capacidade para 2.900. Sem outras entradas ou saídas antes da próxima renda no exemplo. Essa capacidade não é pagamento recomendado. Datas, encargos, mínimo e condições reais devem ser confirmados.</a:t>
            </a:r>
          </a:p>
          <a:p xmlns:a="http://schemas.openxmlformats.org/drawingml/2006/main">
            <a:r>
              <a:t>Google ADK: https://adk.dev/sessions/state/ ; https://adk.dev/safety/ ; https://adk.dev/evaluate/ . Consulta em 26/09/2026. O versionamento proposto é controle da aplicação. Persistência depende do serviço de sessão configurado. Validações programadas complementam o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proposta deve ir além de detectar insuficiência. Quando houver condições suficientes, comparar alternativas no mesmo horizonte e explicitar efeitos futuros. Separar saldo, principal pendente e encargos. A pergunta de compreensão pode verificar uma consequência específica e oferecer nova explicação sem julgar o cliente. Considerar linguagem simples, navegação por teclado, contraste e leitura por tecnologias assistivas. A demo não paga nem contrata. Falta de condições deve gerar pergunta útil, sem promessa de solução.</a:t>
            </a:r>
          </a:p>
          <a:p xmlns:a="http://schemas.openxmlformats.org/drawingml/2006/main">
            <a:r>
              <a:t/>
            </a:r>
          </a:p>
          <a:p xmlns:a="http://schemas.openxmlformats.org/drawingml/2006/main">
            <a:r>
              <a:t>FONTES E PREMISSAS</a:t>
            </a:r>
          </a:p>
          <a:p xmlns:a="http://schemas.openxmlformats.org/drawingml/2006/main">
            <a:r>
              <a:t>Batalha de Agentes - Apresentação Case.pdf, fornecido pelo usuário. Base sintética de extratos de mil pessoas. Enunciado orienta gestão financeira contextual, antecipação, orientação útil, letramento e uso de ferramentas Google.</a:t>
            </a:r>
          </a:p>
          <a:p xmlns:a="http://schemas.openxmlformats.org/drawingml/2006/main">
            <a:r>
              <a:t>Site oficial: https://live.popcast.com.br/itau/batalha_agentes/ . Regulamento: https://live.popcast.com.br/itau/batalha_agentes/Regulamento_Batalha_Agentes_VF.pdf, página 2. Consulta em 26/09/2026. Critérios: Business Thinking 30%, Design e Experiência 20%, Arquitetura, Engenharia e Ciência de Dados 50%. Cinco entregáveis: proposta de negócio, protótipo funcional, racional de prototipação, desenho de solução e documento explicativo da arquitetura. Pitch de 5 minutos segundo o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Todo valor precisa de origem, referência temporal e status. Não inferir fatura devida a partir de pagamento passado sem validação. O usuário confirma dados que faltam. A aplicação centraliza alterações de estado, gera nova versão e impede uso de resultados desatualizados. Acesso e isolamento entre clientes são controles externos ao modelo. Dados de extrato são conteúdo, não instruções. A decisão declarada não pode se transformar em pagamento observado. Persistência, retenção e exclusão dependem da implementação definida.</a:t>
            </a:r>
          </a:p>
          <a:p xmlns:a="http://schemas.openxmlformats.org/drawingml/2006/main">
            <a:r>
              <a:t/>
            </a:r>
          </a:p>
          <a:p xmlns:a="http://schemas.openxmlformats.org/drawingml/2006/main">
            <a:r>
              <a:t>FONTES E PREMISSAS</a:t>
            </a:r>
          </a:p>
          <a:p xmlns:a="http://schemas.openxmlformats.org/drawingml/2006/main">
            <a:r>
              <a:t>Batalha de Agentes - Apresentação Case.pdf, fornecido pelo usuário. Base sintética de extratos de mil pessoas. Enunciado orienta gestão financeira contextual, antecipação, orientação útil, letramento e uso de ferramentas Google.</a:t>
            </a:r>
          </a:p>
          <a:p xmlns:a="http://schemas.openxmlformats.org/drawingml/2006/main">
            <a:r>
              <a:t>Google ADK: https://adk.dev/sessions/state/ ; https://adk.dev/safety/ ; https://adk.dev/evaluate/ . Consulta em 26/09/2026. O versionamento proposto é controle da aplicação. Persistência depende do serviço de sessão configurado. Validações programadas complementam o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Não construir duas jornadas principais no hackathon. A arquitetura permite expansão, mas o posicionamento e a demonstração devem se concentrar em PF. Primeiro ampliar a cobertura de acontecimentos da mesma jornada, depois novas alternativas. PJ vem com recebíveis, fornecedores e folha, exigindo validação própria. Recursos PF e PJ não devem ser somados automaticamente. Esse slide descreve um roteiro de expansão, não promessas de capacidade implementada.</a:t>
            </a:r>
          </a:p>
          <a:p xmlns:a="http://schemas.openxmlformats.org/drawingml/2006/main">
            <a:r>
              <a:t/>
            </a:r>
          </a:p>
          <a:p xmlns:a="http://schemas.openxmlformats.org/drawingml/2006/main">
            <a:r>
              <a:t>FONTES E PREMISSAS</a:t>
            </a:r>
          </a:p>
          <a:p xmlns:a="http://schemas.openxmlformats.org/drawingml/2006/main">
            <a:r>
              <a:t>Posicionamento escolhido pelo usuário nesta conversa: começar no ecossistema pessoa física e escalar depois para PJ. Arquitetura proposta com quatro agentes no MVP. Material para alinhamento interno da equipe Eleven.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Definir entradas e saídas esperadas antes de integrar. Incluir o Bruno para recálculo e a Carla para insuficiência. Verificar projeção em todas as datas, dados contraditórios e recebimento incerto. A comparação entre modelos deve usar os mesmos dados e ferramentas. Um teste só está concluído após observar o resultado e registrar falhas. O LLM pode ajudar a avaliar clareza, mas não substituir a referência numérica. Não executar transações financeiras no MVP.</a:t>
            </a:r>
          </a:p>
          <a:p xmlns:a="http://schemas.openxmlformats.org/drawingml/2006/main">
            <a:r>
              <a:t/>
            </a:r>
          </a:p>
          <a:p xmlns:a="http://schemas.openxmlformats.org/drawingml/2006/main">
            <a:r>
              <a:t>FONTES E PREMISSAS</a:t>
            </a:r>
          </a:p>
          <a:p xmlns:a="http://schemas.openxmlformats.org/drawingml/2006/main">
            <a:r>
              <a:t>Google ADK: https://adk.dev/sessions/state/ ; https://adk.dev/safety/ ; https://adk.dev/evaluate/ . Consulta em 26/09/2026. O versionamento proposto é controle da aplicação. Persistência depende do serviço de sessão configurado. Validações programadas complementam o modelo.</a:t>
            </a:r>
          </a:p>
          <a:p xmlns:a="http://schemas.openxmlformats.org/drawingml/2006/main">
            <a:r>
              <a:t>Cenário sintético simplificado, baseado em Bruno. Saldo 7.100, fatura 3.900, despesas essenciais 3.600 e piso 100. Capacidade aritmética 7.100 − 3.600 − 100 = 3.400. Nova despesa de 500 eleva essenciais para 4.100, reduzindo a capacidade para 2.900. Sem outras entradas ou saídas antes da próxima renda no exemplo. Essa capacidade não é pagamento recomendado. Datas, encargos, mínimo e condições reais devem ser confirmados.</a:t>
            </a:r>
          </a:p>
          <a:p xmlns:a="http://schemas.openxmlformats.org/drawingml/2006/main">
            <a:r>
              <a:t>Cenário sintético Carla após reparo da geladeira. Saldo 2.300, despesas essenciais 2.100, pagamento mínimo simulado 224. 2.300 − 2.100 − 224 = −24. Para preservar também piso didático de 100, faltam 124. A correção desejada remove o selo de melhor opção. Não é recomendação de pagar abaixo do mínimo nem afirmação de que não existe qualquer solução financeira.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pesos constam do regulamento oficial lido em 26/09/2026. A linha de comparação é uma proposta de avaliação da equipe, não um quarto critério oficial. Medir correção, insuficiência reconhecida, perguntas necessárias, compreensão, tempo e custo. Separar resultados da demo e hipóteses de redução de juros ou atendimento. Preparar os cinco entregáveis obrigatórios com escopo consistente. O deck interno de 16 slides não substitui o pitch de 5 minutos nem todos os documentos de submissão.</a:t>
            </a:r>
          </a:p>
          <a:p xmlns:a="http://schemas.openxmlformats.org/drawingml/2006/main">
            <a:r>
              <a:t/>
            </a:r>
          </a:p>
          <a:p xmlns:a="http://schemas.openxmlformats.org/drawingml/2006/main">
            <a:r>
              <a:t>FONTES E PREMISSAS</a:t>
            </a:r>
          </a:p>
          <a:p xmlns:a="http://schemas.openxmlformats.org/drawingml/2006/main">
            <a:r>
              <a:t>Site oficial: https://live.popcast.com.br/itau/batalha_agentes/ . Regulamento: https://live.popcast.com.br/itau/batalha_agentes/Regulamento_Batalha_Agentes_VF.pdf, página 2. Consulta em 26/09/2026. Critérios: Business Thinking 30%, Design e Experiência 20%, Arquitetura, Engenharia e Ciência de Dados 50%. Cinco entregáveis: proposta de negócio, protótipo funcional, racional de prototipação, desenho de solução e documento explicativo da arquitetura. Pitch de 5 minutos segundo o site.</a:t>
            </a:r>
          </a:p>
          <a:p xmlns:a="http://schemas.openxmlformats.org/drawingml/2006/main">
            <a:r>
              <a:t>Google ADK: https://adk.dev/sessions/state/ ; https://adk.dev/safety/ ; https://adk.dev/evaluate/ . Consulta em 26/09/2026. O versionamento proposto é controle da aplicação. Persistência depende do serviço de sessão configurado. Validações programadas complementam o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Divisão proposta para os dois desenvolvedores, ajustável por afinidade. A coordenação valida e registra mudanças; especialistas devolvem evidências, pendências e pedidos. Começar com uma integração pequena e real. Depois adicionar Compromissos, colaboração e revisão. O revisor entra após a jornada principal funcionar. A parte financeira pode pesar mais, por isso você pode preparar cenários e roteiro de avaliação, enquanto o colega confere as contas. Manter um único serviço no MVP reduz trabalho de infraestrutura. Encerrar com responsáveis e critérios de conclusão.</a:t>
            </a:r>
          </a:p>
          <a:p xmlns:a="http://schemas.openxmlformats.org/drawingml/2006/main">
            <a:r>
              <a:t/>
            </a:r>
          </a:p>
          <a:p xmlns:a="http://schemas.openxmlformats.org/drawingml/2006/main">
            <a:r>
              <a:t>FONTES E PREMISSAS</a:t>
            </a:r>
          </a:p>
          <a:p xmlns:a="http://schemas.openxmlformats.org/drawingml/2006/main">
            <a:r>
              <a:t>Posicionamento escolhido pelo usuário nesta conversa: começar no ecossistema pessoa física e escalar depois para PJ. Arquitetura proposta com quatro agentes no MVP. Material para alinhamento interno da equipe Eleven.</a:t>
            </a:r>
          </a:p>
          <a:p xmlns:a="http://schemas.openxmlformats.org/drawingml/2006/main">
            <a:r>
              <a:t>Google ADK: https://adk.dev/sessions/state/ ; https://adk.dev/safety/ ; https://adk.dev/evaluate/ . Consulta em 26/09/2026. O versionamento proposto é controle da aplicação. Persistência depende do serviço de sessão configurado. Validações programadas complementam o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462673a2064c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b6ac5053c24a4e" /><Relationship Type="http://schemas.openxmlformats.org/officeDocument/2006/relationships/slideLayout" Target="/ppt/slideLayouts/slideLayout1.xml" Id="Rfdcae4715ad946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cae4715ad946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059fc414b243d3" /><Relationship Type="http://schemas.openxmlformats.org/officeDocument/2006/relationships/image" Target="/ppt/media/image.png" Id="R38e600869ea3414f" /><Relationship Type="http://schemas.openxmlformats.org/officeDocument/2006/relationships/notesSlide" Target="/ppt/notesSlides/notesSlide1.xml" Id="Rcc00d27a7ed546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ba38941ae64e42" /><Relationship Type="http://schemas.openxmlformats.org/officeDocument/2006/relationships/notesSlide" Target="/ppt/notesSlides/notesSlide2.xml" Id="R23be1770788542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78ae3523d2489a" /><Relationship Type="http://schemas.openxmlformats.org/officeDocument/2006/relationships/notesSlide" Target="/ppt/notesSlides/notesSlide3.xml" Id="Rd1a4a7922b9746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982127c36247b3" /><Relationship Type="http://schemas.openxmlformats.org/officeDocument/2006/relationships/notesSlide" Target="/ppt/notesSlides/notesSlide4.xml" Id="Rdbf59b8449254a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0ed8eee4a74eac" /><Relationship Type="http://schemas.openxmlformats.org/officeDocument/2006/relationships/notesSlide" Target="/ppt/notesSlides/notesSlide5.xml" Id="Rd2886471c70a46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d3908b6c9b454b" /><Relationship Type="http://schemas.openxmlformats.org/officeDocument/2006/relationships/notesSlide" Target="/ppt/notesSlides/notesSlide6.xml" Id="Rf5acf883b6f049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b0c5ac0c31486e" /><Relationship Type="http://schemas.openxmlformats.org/officeDocument/2006/relationships/notesSlide" Target="/ppt/notesSlides/notesSlide7.xml" Id="R7e20be4818bb46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5feb360f3844735" /><Relationship Type="http://schemas.openxmlformats.org/officeDocument/2006/relationships/notesSlide" Target="/ppt/notesSlides/notesSlide8.xml" Id="R1b54969f071542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61e199b3b549ee" /><Relationship Type="http://schemas.openxmlformats.org/officeDocument/2006/relationships/notesSlide" Target="/ppt/notesSlides/notesSlide9.xml" Id="R8d41db7896664e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e6733326406436c" /><Relationship Type="http://schemas.openxmlformats.org/officeDocument/2006/relationships/notesSlide" Target="/ppt/notesSlides/notesSlide10.xml" Id="R246a6784a29a47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a07aa3d7634843" /><Relationship Type="http://schemas.openxmlformats.org/officeDocument/2006/relationships/notesSlide" Target="/ppt/notesSlides/notesSlide11.xml" Id="R7dd8fd92a38e46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26a0fe06204f4f" /><Relationship Type="http://schemas.openxmlformats.org/officeDocument/2006/relationships/notesSlide" Target="/ppt/notesSlides/notesSlide12.xml" Id="R787944d53f3543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6104fc39e754ee3" /><Relationship Type="http://schemas.openxmlformats.org/officeDocument/2006/relationships/notesSlide" Target="/ppt/notesSlides/notesSlide13.xml" Id="R0b900a89cb4b4c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5c5902f4ac47fa" /><Relationship Type="http://schemas.openxmlformats.org/officeDocument/2006/relationships/notesSlide" Target="/ppt/notesSlides/notesSlide14.xml" Id="R68a45503f9fe46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6aa3624498c44e9" /><Relationship Type="http://schemas.openxmlformats.org/officeDocument/2006/relationships/notesSlide" Target="/ppt/notesSlides/notesSlide15.xml" Id="Rc36c55f4623849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7e6e518624746ec" /><Relationship Type="http://schemas.openxmlformats.org/officeDocument/2006/relationships/notesSlide" Target="/ppt/notesSlides/notesSlide16.xml" Id="Rf12dabee15b14bfb" /></Relationships>
</file>

<file path=ppt/slides/slide1.xml><?xml version="1.0" encoding="utf-8"?>
<p:sld xmlns:p="http://schemas.openxmlformats.org/presentationml/2006/main">
  <p:cSld>
    <p:bg>
      <p:bgPr>
        <a:solidFill xmlns:a="http://schemas.openxmlformats.org/drawingml/2006/main">
          <a:srgbClr val="14231E"/>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8e600869ea3414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austo">
            <a:extLst xmlns:a="http://schemas.openxmlformats.org/drawingml/2006/main">
              <a:ext uri="{FF2B5EF4-FFF2-40B4-BE49-F238E27FC236}">
                <a16:creationId xmlns:a16="http://schemas.microsoft.com/office/drawing/2014/main" id="{6AA22FF7-755C-4297-BFBF-5E65E0832CD1}"/>
              </a:ext>
            </a:extLst>
          </p:cNvPr>
          <p:cNvSpPr>
            <a:spLocks xmlns:a="http://schemas.openxmlformats.org/drawingml/2006/main" noGrp="1"/>
          </p:cNvSpPr>
          <p:nvPr/>
        </p:nvSpPr>
        <p:spPr>
          <a:xfrm xmlns:a="http://schemas.openxmlformats.org/drawingml/2006/main">
            <a:off x="647700" y="1524000"/>
            <a:ext cx="7239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250" b="1">
                <a:solidFill>
                  <a:srgbClr val="FFFFFF"/>
                </a:solidFill>
                <a:latin typeface="Arial"/>
                <a:ea typeface="Arial"/>
                <a:cs typeface="Arial"/>
              </a:defRPr>
            </a:pPr>
            <a:r>
              <a:rPr sz="8250" b="1">
                <a:solidFill>
                  <a:srgbClr val="FFFFFF"/>
                </a:solidFill>
                <a:latin typeface="Arial"/>
                <a:ea typeface="Arial"/>
                <a:cs typeface="Arial"/>
              </a:rPr>
              <a:t>Hausto</a:t>
            </a:r>
          </a:p>
        </p:txBody>
      </p:sp>
      <p:sp>
        <p:nvSpPr>
          <p:cNvPr id="3" name="Agentes em colaboração no ecossistema Itaú">
            <a:extLst xmlns:a="http://schemas.openxmlformats.org/drawingml/2006/main">
              <a:ext uri="{FF2B5EF4-FFF2-40B4-BE49-F238E27FC236}">
                <a16:creationId xmlns:a16="http://schemas.microsoft.com/office/drawing/2014/main" id="{A520ADCF-EB47-4946-8FC8-E41AD9CDEB61}"/>
              </a:ext>
            </a:extLst>
          </p:cNvPr>
          <p:cNvSpPr>
            <a:spLocks xmlns:a="http://schemas.openxmlformats.org/drawingml/2006/main" noGrp="1"/>
          </p:cNvSpPr>
          <p:nvPr/>
        </p:nvSpPr>
        <p:spPr>
          <a:xfrm xmlns:a="http://schemas.openxmlformats.org/drawingml/2006/main">
            <a:off x="695325" y="3181350"/>
            <a:ext cx="7905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FFFFFF"/>
                </a:solidFill>
                <a:latin typeface="Arial"/>
                <a:ea typeface="Arial"/>
                <a:cs typeface="Arial"/>
              </a:defRPr>
            </a:pPr>
            <a:r>
              <a:rPr sz="3300" b="0">
                <a:solidFill>
                  <a:srgbClr val="FFFFFF"/>
                </a:solidFill>
                <a:latin typeface="Arial"/>
                <a:ea typeface="Arial"/>
                <a:cs typeface="Arial"/>
              </a:rPr>
              <a:t>Posicionamento final</a:t>
            </a:r>
          </a:p>
          <a:p xmlns:a="http://schemas.openxmlformats.org/drawingml/2006/main">
            <a:pPr algn="l">
              <a:buNone/>
              <a:defRPr sz="3300" b="0">
                <a:solidFill>
                  <a:srgbClr val="FFFFFF"/>
                </a:solidFill>
                <a:latin typeface="Arial"/>
                <a:ea typeface="Arial"/>
                <a:cs typeface="Arial"/>
              </a:defRPr>
            </a:pPr>
            <a:r>
              <a:rPr sz="3300" b="0">
                <a:solidFill>
                  <a:srgbClr val="FFFFFF"/>
                </a:solidFill>
                <a:latin typeface="Arial"/>
                <a:ea typeface="Arial"/>
                <a:cs typeface="Arial"/>
              </a:rPr>
              <a:t>Pessoa física primeiro</a:t>
            </a:r>
          </a:p>
        </p:txBody>
      </p:sp>
      <p:sp>
        <p:nvSpPr>
          <p:cNvPr id="4" name="Equipe Eleven Arquitetura proposta e jornada de demonstração">
            <a:extLst xmlns:a="http://schemas.openxmlformats.org/drawingml/2006/main">
              <a:ext uri="{FF2B5EF4-FFF2-40B4-BE49-F238E27FC236}">
                <a16:creationId xmlns:a16="http://schemas.microsoft.com/office/drawing/2014/main" id="{26A9CD6B-E6A2-470C-81A6-F666DEFE4C42}"/>
              </a:ext>
            </a:extLst>
          </p:cNvPr>
          <p:cNvSpPr>
            <a:spLocks xmlns:a="http://schemas.openxmlformats.org/drawingml/2006/main" noGrp="1"/>
          </p:cNvSpPr>
          <p:nvPr/>
        </p:nvSpPr>
        <p:spPr>
          <a:xfrm xmlns:a="http://schemas.openxmlformats.org/drawingml/2006/main">
            <a:off x="714375" y="5476875"/>
            <a:ext cx="9525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CCD7D1"/>
                </a:solidFill>
                <a:latin typeface="Arial"/>
                <a:ea typeface="Arial"/>
                <a:cs typeface="Arial"/>
              </a:defRPr>
            </a:pPr>
            <a:r>
              <a:rPr sz="1875" b="0">
                <a:solidFill>
                  <a:srgbClr val="CCD7D1"/>
                </a:solidFill>
                <a:latin typeface="Arial"/>
                <a:ea typeface="Arial"/>
                <a:cs typeface="Arial"/>
              </a:rPr>
              <a:t>Equipe Eleven</a:t>
            </a:r>
          </a:p>
          <a:p xmlns:a="http://schemas.openxmlformats.org/drawingml/2006/main">
            <a:pPr algn="l">
              <a:buNone/>
              <a:defRPr sz="1875" b="0">
                <a:solidFill>
                  <a:srgbClr val="CCD7D1"/>
                </a:solidFill>
                <a:latin typeface="Arial"/>
                <a:ea typeface="Arial"/>
                <a:cs typeface="Arial"/>
              </a:defRPr>
            </a:pPr>
            <a:r>
              <a:rPr sz="1875" b="0">
                <a:solidFill>
                  <a:srgbClr val="CCD7D1"/>
                </a:solidFill>
                <a:latin typeface="Arial"/>
                <a:ea typeface="Arial"/>
                <a:cs typeface="Arial"/>
              </a:rPr>
              <a:t>Quatro agentes no MVP. PJ como expansão.</a:t>
            </a:r>
          </a:p>
        </p:txBody>
      </p:sp>
    </p:spTree>
    <p:extLst>
      <p:ext uri="{BB962C8B-B14F-4D97-AF65-F5344CB8AC3E}">
        <p14:creationId xmlns:p14="http://schemas.microsoft.com/office/powerpoint/2010/main" val="1742228157"/>
      </p:ext>
    </p:extLst>
  </p:cSld>
</p:sld>
</file>

<file path=ppt/slides/slide2.xml><?xml version="1.0" encoding="utf-8"?>
<p:sld xmlns:p="http://schemas.openxmlformats.org/presentationml/2006/main">
  <p:cSld>
    <p:bg>
      <p:bgPr>
        <a:solidFill xmlns:a="http://schemas.openxmlformats.org/drawingml/2006/main">
          <a:srgbClr val="F6F5EE"/>
        </a:solidFill>
      </p:bgPr>
    </p:bg>
    <p:spTree>
      <p:nvGrpSpPr>
        <p:cNvPr id="1" name=""/>
        <p:cNvGrpSpPr/>
        <p:nvPr/>
      </p:nvGrpSpPr>
      <p:grpSpPr>
        <a:xfrm xmlns:a="http://schemas.openxmlformats.org/drawingml/2006/main"/>
      </p:grpSpPr>
      <p:sp>
        <p:nvSpPr>
          <p:cNvPr id="9" name="A oportunidade no ecossistema Itaú">
            <a:extLst xmlns:a="http://schemas.openxmlformats.org/drawingml/2006/main">
              <a:ext uri="{FF2B5EF4-FFF2-40B4-BE49-F238E27FC236}">
                <a16:creationId xmlns:a16="http://schemas.microsoft.com/office/drawing/2014/main" id="{48643B9A-8474-40B3-92D1-F50C917FB44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72520"/>
                </a:solidFill>
                <a:latin typeface="Arial"/>
                <a:ea typeface="Arial"/>
                <a:cs typeface="Arial"/>
              </a:defRPr>
            </a:pPr>
            <a:r>
              <a:rPr sz="3300" b="1">
                <a:solidFill>
                  <a:srgbClr val="172520"/>
                </a:solidFill>
                <a:latin typeface="Arial"/>
                <a:ea typeface="Arial"/>
                <a:cs typeface="Arial"/>
              </a:rPr>
              <a:t>Posicionamento final do Hausto</a:t>
            </a:r>
          </a:p>
        </p:txBody>
      </p:sp>
      <p:sp>
        <p:nvSpPr>
          <p:cNvPr id="2" name="Uma decisão financeira atravessa conta, compromissos e produtos.">
            <a:extLst xmlns:a="http://schemas.openxmlformats.org/drawingml/2006/main">
              <a:ext uri="{FF2B5EF4-FFF2-40B4-BE49-F238E27FC236}">
                <a16:creationId xmlns:a16="http://schemas.microsoft.com/office/drawing/2014/main" id="{B9360147-0F65-4F44-AB05-2CD3D56DC05C}"/>
              </a:ext>
            </a:extLst>
          </p:cNvPr>
          <p:cNvSpPr>
            <a:spLocks xmlns:a="http://schemas.openxmlformats.org/drawingml/2006/main" noGrp="1"/>
          </p:cNvSpPr>
          <p:nvPr/>
        </p:nvSpPr>
        <p:spPr>
          <a:xfrm xmlns:a="http://schemas.openxmlformats.org/drawingml/2006/main">
            <a:off x="609600" y="1781175"/>
            <a:ext cx="1097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75" b="1">
                <a:solidFill>
                  <a:srgbClr val="172520"/>
                </a:solidFill>
                <a:latin typeface="Arial"/>
                <a:ea typeface="Arial"/>
                <a:cs typeface="Arial"/>
              </a:defRPr>
            </a:pPr>
            <a:r>
              <a:rPr sz="3675" b="1">
                <a:solidFill>
                  <a:srgbClr val="172520"/>
                </a:solidFill>
                <a:latin typeface="Arial"/>
                <a:ea typeface="Arial"/>
                <a:cs typeface="Arial"/>
              </a:rPr>
              <a:t>Pessoa física primeiro.</a:t>
            </a:r>
          </a:p>
          <a:p xmlns:a="http://schemas.openxmlformats.org/drawingml/2006/main">
            <a:pPr algn="l">
              <a:buNone/>
              <a:defRPr sz="3675" b="1">
                <a:solidFill>
                  <a:srgbClr val="172520"/>
                </a:solidFill>
                <a:latin typeface="Arial"/>
                <a:ea typeface="Arial"/>
                <a:cs typeface="Arial"/>
              </a:defRPr>
            </a:pPr>
            <a:r>
              <a:rPr sz="3675" b="1">
                <a:solidFill>
                  <a:srgbClr val="172520"/>
                </a:solidFill>
                <a:latin typeface="Arial"/>
                <a:ea typeface="Arial"/>
                <a:cs typeface="Arial"/>
              </a:rPr>
              <a:t>Uma decisão financeira bem definida.</a:t>
            </a:r>
          </a:p>
        </p:txBody>
      </p:sp>
      <p:sp>
        <p:nvSpPr>
          <p:cNvPr id="3" name="O ponto de partida">
            <a:extLst xmlns:a="http://schemas.openxmlformats.org/drawingml/2006/main">
              <a:ext uri="{FF2B5EF4-FFF2-40B4-BE49-F238E27FC236}">
                <a16:creationId xmlns:a16="http://schemas.microsoft.com/office/drawing/2014/main" id="{EAB37900-FFE5-4FC8-8D90-C5108FC5D6C5}"/>
              </a:ext>
            </a:extLst>
          </p:cNvPr>
          <p:cNvSpPr>
            <a:spLocks xmlns:a="http://schemas.openxmlformats.org/drawingml/2006/main" noGrp="1"/>
          </p:cNvSpPr>
          <p:nvPr/>
        </p:nvSpPr>
        <p:spPr>
          <a:xfrm xmlns:a="http://schemas.openxmlformats.org/drawingml/2006/main">
            <a:off x="628650" y="3648075"/>
            <a:ext cx="489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ED7417"/>
                </a:solidFill>
                <a:latin typeface="Arial"/>
                <a:ea typeface="Arial"/>
                <a:cs typeface="Arial"/>
              </a:defRPr>
            </a:pPr>
            <a:r>
              <a:rPr sz="2250" b="1">
                <a:solidFill>
                  <a:srgbClr val="ED7417"/>
                </a:solidFill>
                <a:latin typeface="Arial"/>
                <a:ea typeface="Arial"/>
                <a:cs typeface="Arial"/>
              </a:rPr>
              <a:t>Nicho inicial</a:t>
            </a:r>
          </a:p>
        </p:txBody>
      </p:sp>
      <p:sp>
        <p:nvSpPr>
          <p:cNvPr id="4" name="“Quanto posso pagar da fatura sem comprometer minhas despesas essenciais?”">
            <a:extLst xmlns:a="http://schemas.openxmlformats.org/drawingml/2006/main">
              <a:ext uri="{FF2B5EF4-FFF2-40B4-BE49-F238E27FC236}">
                <a16:creationId xmlns:a16="http://schemas.microsoft.com/office/drawing/2014/main" id="{36DB135B-B7E6-44E3-A0CC-317AAACD7282}"/>
              </a:ext>
            </a:extLst>
          </p:cNvPr>
          <p:cNvSpPr>
            <a:spLocks xmlns:a="http://schemas.openxmlformats.org/drawingml/2006/main" noGrp="1"/>
          </p:cNvSpPr>
          <p:nvPr/>
        </p:nvSpPr>
        <p:spPr>
          <a:xfrm xmlns:a="http://schemas.openxmlformats.org/drawingml/2006/main">
            <a:off x="628650" y="4343400"/>
            <a:ext cx="4953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72520"/>
                </a:solidFill>
                <a:latin typeface="Arial"/>
                <a:ea typeface="Arial"/>
                <a:cs typeface="Arial"/>
              </a:defRPr>
            </a:pPr>
            <a:r>
              <a:rPr sz="2250" b="0">
                <a:solidFill>
                  <a:srgbClr val="172520"/>
                </a:solidFill>
                <a:latin typeface="Arial"/>
                <a:ea typeface="Arial"/>
                <a:cs typeface="Arial"/>
              </a:rPr>
              <a:t>Correntistas com fatura a vencer</a:t>
            </a:r>
          </a:p>
          <a:p xmlns:a="http://schemas.openxmlformats.org/drawingml/2006/main">
            <a:pPr algn="l">
              <a:buNone/>
              <a:defRPr sz="2250" b="0">
                <a:solidFill>
                  <a:srgbClr val="172520"/>
                </a:solidFill>
                <a:latin typeface="Arial"/>
                <a:ea typeface="Arial"/>
                <a:cs typeface="Arial"/>
              </a:defRPr>
            </a:pPr>
            <a:r>
              <a:rPr sz="2250" b="0">
                <a:solidFill>
                  <a:srgbClr val="172520"/>
                </a:solidFill>
                <a:latin typeface="Arial"/>
                <a:ea typeface="Arial"/>
                <a:cs typeface="Arial"/>
              </a:rPr>
              <a:t>e despesas essenciais antes</a:t>
            </a:r>
          </a:p>
          <a:p xmlns:a="http://schemas.openxmlformats.org/drawingml/2006/main">
            <a:pPr algn="l">
              <a:buNone/>
              <a:defRPr sz="2250" b="0">
                <a:solidFill>
                  <a:srgbClr val="172520"/>
                </a:solidFill>
                <a:latin typeface="Arial"/>
                <a:ea typeface="Arial"/>
                <a:cs typeface="Arial"/>
              </a:defRPr>
            </a:pPr>
            <a:r>
              <a:rPr sz="2250" b="0">
                <a:solidFill>
                  <a:srgbClr val="172520"/>
                </a:solidFill>
                <a:latin typeface="Arial"/>
                <a:ea typeface="Arial"/>
                <a:cs typeface="Arial"/>
              </a:rPr>
              <a:t>da próxima renda.</a:t>
            </a:r>
          </a:p>
        </p:txBody>
      </p:sp>
      <p:sp>
        <p:nvSpPr>
          <p:cNvPr id="5" name="O alcance proposto">
            <a:extLst xmlns:a="http://schemas.openxmlformats.org/drawingml/2006/main">
              <a:ext uri="{FF2B5EF4-FFF2-40B4-BE49-F238E27FC236}">
                <a16:creationId xmlns:a16="http://schemas.microsoft.com/office/drawing/2014/main" id="{02D9E34D-38DE-469C-BB70-48853E7D3E91}"/>
              </a:ext>
            </a:extLst>
          </p:cNvPr>
          <p:cNvSpPr>
            <a:spLocks xmlns:a="http://schemas.openxmlformats.org/drawingml/2006/main" noGrp="1"/>
          </p:cNvSpPr>
          <p:nvPr/>
        </p:nvSpPr>
        <p:spPr>
          <a:xfrm xmlns:a="http://schemas.openxmlformats.org/drawingml/2006/main">
            <a:off x="6572250" y="36480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86F68"/>
                </a:solidFill>
                <a:latin typeface="Arial"/>
                <a:ea typeface="Arial"/>
                <a:cs typeface="Arial"/>
              </a:defRPr>
            </a:pPr>
            <a:r>
              <a:rPr sz="2250" b="1">
                <a:solidFill>
                  <a:srgbClr val="086F68"/>
                </a:solidFill>
                <a:latin typeface="Arial"/>
                <a:ea typeface="Arial"/>
                <a:cs typeface="Arial"/>
              </a:rPr>
              <a:t>Decisão que vamos apoiar</a:t>
            </a:r>
          </a:p>
        </p:txBody>
      </p:sp>
      <p:sp>
        <p:nvSpPr>
          <p:cNvPr id="6" name="“Como cumprir meus compromissos e preservar meu caixa, considerando as alternativas dispon">
            <a:extLst xmlns:a="http://schemas.openxmlformats.org/drawingml/2006/main">
              <a:ext uri="{FF2B5EF4-FFF2-40B4-BE49-F238E27FC236}">
                <a16:creationId xmlns:a16="http://schemas.microsoft.com/office/drawing/2014/main" id="{DBB48A26-04D7-4A87-B11F-DD4DA638170B}"/>
              </a:ext>
            </a:extLst>
          </p:cNvPr>
          <p:cNvSpPr>
            <a:spLocks xmlns:a="http://schemas.openxmlformats.org/drawingml/2006/main" noGrp="1"/>
          </p:cNvSpPr>
          <p:nvPr/>
        </p:nvSpPr>
        <p:spPr>
          <a:xfrm xmlns:a="http://schemas.openxmlformats.org/drawingml/2006/main">
            <a:off x="6572250" y="4343400"/>
            <a:ext cx="50101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72520"/>
                </a:solidFill>
                <a:latin typeface="Arial"/>
                <a:ea typeface="Arial"/>
                <a:cs typeface="Arial"/>
              </a:defRPr>
            </a:pPr>
            <a:r>
              <a:rPr sz="2175" b="0">
                <a:solidFill>
                  <a:srgbClr val="172520"/>
                </a:solidFill>
                <a:latin typeface="Arial"/>
                <a:ea typeface="Arial"/>
                <a:cs typeface="Arial"/>
              </a:rPr>
              <a:t>“Quanto posso comprometer com</a:t>
            </a:r>
          </a:p>
          <a:p xmlns:a="http://schemas.openxmlformats.org/drawingml/2006/main">
            <a:pPr algn="l">
              <a:buNone/>
              <a:defRPr sz="2175" b="0">
                <a:solidFill>
                  <a:srgbClr val="172520"/>
                </a:solidFill>
                <a:latin typeface="Arial"/>
                <a:ea typeface="Arial"/>
                <a:cs typeface="Arial"/>
              </a:defRPr>
            </a:pPr>
            <a:r>
              <a:rPr sz="2175" b="0">
                <a:solidFill>
                  <a:srgbClr val="172520"/>
                </a:solidFill>
                <a:latin typeface="Arial"/>
                <a:ea typeface="Arial"/>
                <a:cs typeface="Arial"/>
              </a:rPr>
              <a:t>a fatura e o que acontece com</a:t>
            </a:r>
          </a:p>
          <a:p xmlns:a="http://schemas.openxmlformats.org/drawingml/2006/main">
            <a:pPr algn="l">
              <a:buNone/>
              <a:defRPr sz="2175" b="0">
                <a:solidFill>
                  <a:srgbClr val="172520"/>
                </a:solidFill>
                <a:latin typeface="Arial"/>
                <a:ea typeface="Arial"/>
                <a:cs typeface="Arial"/>
              </a:defRPr>
            </a:pPr>
            <a:r>
              <a:rPr sz="2175" b="0">
                <a:solidFill>
                  <a:srgbClr val="172520"/>
                </a:solidFill>
                <a:latin typeface="Arial"/>
                <a:ea typeface="Arial"/>
                <a:cs typeface="Arial"/>
              </a:rPr>
              <a:t>meu dinheiro depois?”</a:t>
            </a:r>
          </a:p>
        </p:txBody>
      </p:sp>
      <p:sp>
        <p:nvSpPr>
          <p:cNvPr id="7" name="O objetivo continua sendo ajudar o cliente a decidir e compreender as consequências.">
            <a:extLst xmlns:a="http://schemas.openxmlformats.org/drawingml/2006/main">
              <a:ext uri="{FF2B5EF4-FFF2-40B4-BE49-F238E27FC236}">
                <a16:creationId xmlns:a16="http://schemas.microsoft.com/office/drawing/2014/main" id="{7B4D1F9F-2FE9-4498-A7F2-DFF22D0A7AD7}"/>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B6862"/>
                </a:solidFill>
                <a:latin typeface="Arial"/>
                <a:ea typeface="Arial"/>
                <a:cs typeface="Arial"/>
              </a:defRPr>
            </a:pPr>
            <a:r>
              <a:rPr sz="1275" b="0">
                <a:solidFill>
                  <a:srgbClr val="5B6862"/>
                </a:solidFill>
                <a:latin typeface="Arial"/>
                <a:ea typeface="Arial"/>
                <a:cs typeface="Arial"/>
              </a:rPr>
              <a:t>O recorte aproveita a base PF e a jornada já explorada, concentrando a construção em uma experiência completa.</a:t>
            </a:r>
          </a:p>
        </p:txBody>
      </p:sp>
      <p:sp>
        <p:nvSpPr>
          <p:cNvPr id="8" name="02">
            <a:extLst xmlns:a="http://schemas.openxmlformats.org/drawingml/2006/main">
              <a:ext uri="{FF2B5EF4-FFF2-40B4-BE49-F238E27FC236}">
                <a16:creationId xmlns:a16="http://schemas.microsoft.com/office/drawing/2014/main" id="{83FB9B60-9531-40C7-AA6F-76FB7781ECF9}"/>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B6862"/>
                </a:solidFill>
                <a:latin typeface="Arial"/>
                <a:ea typeface="Arial"/>
                <a:cs typeface="Arial"/>
              </a:defRPr>
            </a:pPr>
            <a:r>
              <a:rPr sz="1275" b="0">
                <a:solidFill>
                  <a:srgbClr val="5B6862"/>
                </a:solidFill>
                <a:latin typeface="Arial"/>
                <a:ea typeface="Arial"/>
                <a:cs typeface="Arial"/>
              </a:rPr>
              <a:t>02</a:t>
            </a:r>
          </a:p>
        </p:txBody>
      </p:sp>
    </p:spTree>
    <p:extLst>
      <p:ext uri="{BB962C8B-B14F-4D97-AF65-F5344CB8AC3E}">
        <p14:creationId xmlns:p14="http://schemas.microsoft.com/office/powerpoint/2010/main" val="978438334"/>
      </p:ext>
    </p:extLst>
  </p:cSld>
</p:sld>
</file>

<file path=ppt/slides/slide3.xml><?xml version="1.0" encoding="utf-8"?>
<p:sld xmlns:p="http://schemas.openxmlformats.org/presentationml/2006/main">
  <p:cSld>
    <p:bg>
      <p:bgPr>
        <a:solidFill xmlns:a="http://schemas.openxmlformats.org/drawingml/2006/main">
          <a:srgbClr val="F6F5EE"/>
        </a:solidFill>
      </p:bgPr>
    </p:bg>
    <p:spTree>
      <p:nvGrpSpPr>
        <p:cNvPr id="1" name=""/>
        <p:cNvGrpSpPr/>
        <p:nvPr/>
      </p:nvGrpSpPr>
      <p:grpSpPr>
        <a:xfrm xmlns:a="http://schemas.openxmlformats.org/drawingml/2006/main"/>
      </p:grpSpPr>
      <p:sp>
        <p:nvSpPr>
          <p:cNvPr id="7" name="Escopo por necessidade do cliente">
            <a:extLst xmlns:a="http://schemas.openxmlformats.org/drawingml/2006/main">
              <a:ext uri="{FF2B5EF4-FFF2-40B4-BE49-F238E27FC236}">
                <a16:creationId xmlns:a16="http://schemas.microsoft.com/office/drawing/2014/main" id="{CDD43878-F3EB-499C-AD1C-5A30E55BA604}"/>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72520"/>
                </a:solidFill>
                <a:latin typeface="Arial"/>
                <a:ea typeface="Arial"/>
                <a:cs typeface="Arial"/>
              </a:defRPr>
            </a:pPr>
            <a:r>
              <a:rPr sz="3300" b="1">
                <a:solidFill>
                  <a:srgbClr val="172520"/>
                </a:solidFill>
                <a:latin typeface="Arial"/>
                <a:ea typeface="Arial"/>
                <a:cs typeface="Arial"/>
              </a:rPr>
              <a:t>Escopo do ecossistema PF no MVP</a:t>
            </a:r>
          </a:p>
        </p:txBody>
      </p:sp>
      <p:graphicFrame>
        <p:nvGraphicFramePr>
          <p:cNvPr id="10" name=""/>
          <p:cNvGraphicFramePr/>
          <p:nvPr/>
        </p:nvGraphicFramePr>
        <p:xfrm>
          <a:off xmlns:a="http://schemas.openxmlformats.org/drawingml/2006/main" x="609600" y="1771650"/>
          <a:ext xmlns:a="http://schemas.openxmlformats.org/drawingml/2006/main" cx="10972800" cy="2990850"/>
        </p:xfrm>
        <a:graphic xmlns:a="http://schemas.openxmlformats.org/drawingml/2006/main">
          <a:graphicData uri="http://schemas.openxmlformats.org/drawingml/2006/table">
            <a:tbl>
              <a:tblPr firstRow="1" bandRow="0"/>
              <a:tblGrid>
                <a:gridCol w="2228850"/>
                <a:gridCol w="5105400"/>
                <a:gridCol w="3638550"/>
              </a:tblGrid>
              <a:tr h="747713">
                <a:tc>
                  <a:txBody>
                    <a:bodyPr lIns="133350" tIns="76200" rIns="114300" bIns="76200">
                      <a:noAutofit/>
                    </a:bodyPr>
                    <a:lstStyle/>
                    <a:p>
                      <a:pPr algn="l">
                        <a:buNone/>
                      </a:pPr>
                      <a:r>
                        <a:rPr sz="1875" b="1">
                          <a:solidFill>
                            <a:srgbClr val="172520"/>
                          </a:solidFill>
                          <a:latin typeface="Arial"/>
                          <a:ea typeface="Arial"/>
                          <a:cs typeface="Arial"/>
                        </a:rPr>
                        <a:t>Domínio</a:t>
                      </a:r>
                    </a:p>
                  </a:txBody>
                  <a:tcPr marL="91440" marR="91440" marT="45720" marB="45720" anchor="ctr">
                    <a:solidFill>
                      <a:srgbClr val="E3E9E1"/>
                    </a:solidFill>
                  </a:tcPr>
                </a:tc>
                <a:tc>
                  <a:txBody>
                    <a:bodyPr lIns="133350" tIns="76200" rIns="114300" bIns="76200">
                      <a:noAutofit/>
                    </a:bodyPr>
                    <a:lstStyle/>
                    <a:p>
                      <a:pPr algn="l">
                        <a:buNone/>
                      </a:pPr>
                      <a:r>
                        <a:rPr sz="1875" b="1">
                          <a:solidFill>
                            <a:srgbClr val="172520"/>
                          </a:solidFill>
                          <a:latin typeface="Arial"/>
                          <a:ea typeface="Arial"/>
                          <a:cs typeface="Arial"/>
                        </a:rPr>
                        <a:t>O que entra na decisão</a:t>
                      </a:r>
                    </a:p>
                  </a:txBody>
                  <a:tcPr marL="91440" marR="91440" marT="45720" marB="45720" anchor="ctr">
                    <a:solidFill>
                      <a:srgbClr val="E3E9E1"/>
                    </a:solidFill>
                  </a:tcPr>
                </a:tc>
                <a:tc>
                  <a:txBody>
                    <a:bodyPr lIns="133350" tIns="76200" rIns="114300" bIns="76200">
                      <a:noAutofit/>
                    </a:bodyPr>
                    <a:lstStyle/>
                    <a:p>
                      <a:pPr algn="l">
                        <a:buNone/>
                      </a:pPr>
                      <a:r>
                        <a:rPr sz="1875" b="1">
                          <a:solidFill>
                            <a:srgbClr val="172520"/>
                          </a:solidFill>
                          <a:latin typeface="Arial"/>
                          <a:ea typeface="Arial"/>
                          <a:cs typeface="Arial"/>
                        </a:rPr>
                        <a:t>Condição de uso</a:t>
                      </a:r>
                    </a:p>
                  </a:txBody>
                  <a:tcPr marL="91440" marR="91440" marT="45720" marB="45720" anchor="ctr">
                    <a:solidFill>
                      <a:srgbClr val="E3E9E1"/>
                    </a:solidFill>
                  </a:tcPr>
                </a:tc>
              </a:tr>
              <a:tr h="747713">
                <a:tc>
                  <a:txBody>
                    <a:bodyPr lIns="133350" tIns="76200" rIns="114300" bIns="76200">
                      <a:noAutofit/>
                    </a:bodyPr>
                    <a:lstStyle/>
                    <a:p>
                      <a:pPr algn="l">
                        <a:buNone/>
                      </a:pPr>
                      <a:r>
                        <a:rPr sz="1875" b="0">
                          <a:solidFill>
                            <a:srgbClr val="172520"/>
                          </a:solidFill>
                          <a:latin typeface="Arial"/>
                          <a:ea typeface="Arial"/>
                          <a:cs typeface="Arial"/>
                        </a:rPr>
                        <a:t>Conta</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Saldo e entradas até a próxima renda</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Origem, data e certeza da entrada</a:t>
                      </a:r>
                    </a:p>
                  </a:txBody>
                  <a:tcPr marL="91440" marR="91440" marT="45720" marB="45720" anchor="ctr">
                    <a:solidFill>
                      <a:srgbClr val="F6F5EE"/>
                    </a:solidFill>
                  </a:tcPr>
                </a:tc>
              </a:tr>
              <a:tr h="747713">
                <a:tc>
                  <a:txBody>
                    <a:bodyPr lIns="133350" tIns="76200" rIns="114300" bIns="76200">
                      <a:noAutofit/>
                    </a:bodyPr>
                    <a:lstStyle/>
                    <a:p>
                      <a:pPr algn="l">
                        <a:buNone/>
                      </a:pPr>
                      <a:r>
                        <a:rPr sz="1875" b="0">
                          <a:solidFill>
                            <a:srgbClr val="172520"/>
                          </a:solidFill>
                          <a:latin typeface="Arial"/>
                          <a:ea typeface="Arial"/>
                          <a:cs typeface="Arial"/>
                        </a:rPr>
                        <a:t>Cartão</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Fatura, vencimento e opções de pagamento</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Condições e encargos identificados</a:t>
                      </a:r>
                    </a:p>
                  </a:txBody>
                  <a:tcPr marL="91440" marR="91440" marT="45720" marB="45720" anchor="ctr">
                    <a:solidFill>
                      <a:srgbClr val="F6F5EE"/>
                    </a:solidFill>
                  </a:tcPr>
                </a:tc>
              </a:tr>
              <a:tr h="747713">
                <a:tc>
                  <a:txBody>
                    <a:bodyPr lIns="133350" tIns="76200" rIns="114300" bIns="76200">
                      <a:noAutofit/>
                    </a:bodyPr>
                    <a:lstStyle/>
                    <a:p>
                      <a:pPr algn="l">
                        <a:buNone/>
                      </a:pPr>
                      <a:r>
                        <a:rPr sz="1875" b="0">
                          <a:solidFill>
                            <a:srgbClr val="172520"/>
                          </a:solidFill>
                          <a:latin typeface="Arial"/>
                          <a:ea typeface="Arial"/>
                          <a:cs typeface="Arial"/>
                        </a:rPr>
                        <a:t>Compromissos</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Essenciais, parcelas e prioridades pessoais</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Confirmação do cliente</a:t>
                      </a:r>
                    </a:p>
                  </a:txBody>
                  <a:tcPr marL="91440" marR="91440" marT="45720" marB="45720" anchor="ctr">
                    <a:solidFill>
                      <a:srgbClr val="F6F5EE"/>
                    </a:solidFill>
                  </a:tcPr>
                </a:tc>
              </a:tr>
            </a:tbl>
          </a:graphicData>
        </a:graphic>
      </p:graphicFrame>
      <p:sp>
        <p:nvSpPr>
          <p:cNvPr id="3" name="O Itaú já consolida informações financeiras.">
            <a:extLst xmlns:a="http://schemas.openxmlformats.org/drawingml/2006/main">
              <a:ext uri="{FF2B5EF4-FFF2-40B4-BE49-F238E27FC236}">
                <a16:creationId xmlns:a16="http://schemas.microsoft.com/office/drawing/2014/main" id="{68FB0152-DCE6-40E4-93EF-F3E823AB8533}"/>
              </a:ext>
            </a:extLst>
          </p:cNvPr>
          <p:cNvSpPr>
            <a:spLocks xmlns:a="http://schemas.openxmlformats.org/drawingml/2006/main" noGrp="1"/>
          </p:cNvSpPr>
          <p:nvPr/>
        </p:nvSpPr>
        <p:spPr>
          <a:xfrm xmlns:a="http://schemas.openxmlformats.org/drawingml/2006/main">
            <a:off x="628650" y="519112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520"/>
                </a:solidFill>
                <a:latin typeface="Arial"/>
                <a:ea typeface="Arial"/>
                <a:cs typeface="Arial"/>
              </a:defRPr>
            </a:pPr>
            <a:r>
              <a:rPr sz="2325" b="1">
                <a:solidFill>
                  <a:srgbClr val="172520"/>
                </a:solidFill>
                <a:latin typeface="Arial"/>
                <a:ea typeface="Arial"/>
                <a:cs typeface="Arial"/>
              </a:rPr>
              <a:t>O histórico orienta as perguntas. O cliente confirma o contexto.</a:t>
            </a:r>
          </a:p>
        </p:txBody>
      </p:sp>
      <p:sp>
        <p:nvSpPr>
          <p:cNvPr id="4" name="O Hausto acrescenta comparação contextual e revisão da orientação.">
            <a:extLst xmlns:a="http://schemas.openxmlformats.org/drawingml/2006/main">
              <a:ext uri="{FF2B5EF4-FFF2-40B4-BE49-F238E27FC236}">
                <a16:creationId xmlns:a16="http://schemas.microsoft.com/office/drawing/2014/main" id="{9D6BC839-3D7F-4AD4-8CD6-069B3BA404FF}"/>
              </a:ext>
            </a:extLst>
          </p:cNvPr>
          <p:cNvSpPr>
            <a:spLocks xmlns:a="http://schemas.openxmlformats.org/drawingml/2006/main" noGrp="1"/>
          </p:cNvSpPr>
          <p:nvPr/>
        </p:nvSpPr>
        <p:spPr>
          <a:xfrm xmlns:a="http://schemas.openxmlformats.org/drawingml/2006/main">
            <a:off x="628650" y="57435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86F68"/>
                </a:solidFill>
                <a:latin typeface="Arial"/>
                <a:ea typeface="Arial"/>
                <a:cs typeface="Arial"/>
              </a:defRPr>
            </a:pPr>
            <a:r>
              <a:rPr sz="2025" b="0">
                <a:solidFill>
                  <a:srgbClr val="086F68"/>
                </a:solidFill>
                <a:latin typeface="Arial"/>
                <a:ea typeface="Arial"/>
                <a:cs typeface="Arial"/>
              </a:rPr>
              <a:t>Reservas, outros produtos e PJ entram após a validação desta jornada.</a:t>
            </a:r>
          </a:p>
        </p:txBody>
      </p:sp>
      <p:sp>
        <p:nvSpPr>
          <p:cNvPr id="5" name="Integrações, condições e disponibilidade de produtos precisam ser comprovadas na implement">
            <a:extLst xmlns:a="http://schemas.openxmlformats.org/drawingml/2006/main">
              <a:ext uri="{FF2B5EF4-FFF2-40B4-BE49-F238E27FC236}">
                <a16:creationId xmlns:a16="http://schemas.microsoft.com/office/drawing/2014/main" id="{9DF71AFC-E0A0-4179-80EE-06BC2D2B420F}"/>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B6862"/>
                </a:solidFill>
                <a:latin typeface="Arial"/>
                <a:ea typeface="Arial"/>
                <a:cs typeface="Arial"/>
              </a:defRPr>
            </a:pPr>
            <a:r>
              <a:rPr sz="1275" b="0">
                <a:solidFill>
                  <a:srgbClr val="5B6862"/>
                </a:solidFill>
                <a:latin typeface="Arial"/>
                <a:ea typeface="Arial"/>
                <a:cs typeface="Arial"/>
              </a:rPr>
              <a:t>O extrato não informa sozinho todas as despesas externas, datas de vencimento ou condições contratuais.</a:t>
            </a:r>
          </a:p>
        </p:txBody>
      </p:sp>
      <p:sp>
        <p:nvSpPr>
          <p:cNvPr id="6" name="03">
            <a:extLst xmlns:a="http://schemas.openxmlformats.org/drawingml/2006/main">
              <a:ext uri="{FF2B5EF4-FFF2-40B4-BE49-F238E27FC236}">
                <a16:creationId xmlns:a16="http://schemas.microsoft.com/office/drawing/2014/main" id="{6735C963-3FED-418C-8D78-5F3FBDA2C02A}"/>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B6862"/>
                </a:solidFill>
                <a:latin typeface="Arial"/>
                <a:ea typeface="Arial"/>
                <a:cs typeface="Arial"/>
              </a:defRPr>
            </a:pPr>
            <a:r>
              <a:rPr sz="1275" b="0">
                <a:solidFill>
                  <a:srgbClr val="5B6862"/>
                </a:solidFill>
                <a:latin typeface="Arial"/>
                <a:ea typeface="Arial"/>
                <a:cs typeface="Arial"/>
              </a:rPr>
              <a:t>03</a:t>
            </a:r>
          </a:p>
        </p:txBody>
      </p:sp>
    </p:spTree>
    <p:extLst>
      <p:ext uri="{BB962C8B-B14F-4D97-AF65-F5344CB8AC3E}">
        <p14:creationId xmlns:p14="http://schemas.microsoft.com/office/powerpoint/2010/main" val="1677359740"/>
      </p:ext>
    </p:extLst>
  </p:cSld>
</p:sld>
</file>

<file path=ppt/slides/slide4.xml><?xml version="1.0" encoding="utf-8"?>
<p:sld xmlns:p="http://schemas.openxmlformats.org/presentationml/2006/main">
  <p:cSld>
    <p:bg>
      <p:bgPr>
        <a:solidFill xmlns:a="http://schemas.openxmlformats.org/drawingml/2006/main">
          <a:srgbClr val="F6F5EE"/>
        </a:solidFill>
      </p:bgPr>
    </p:bg>
    <p:spTree>
      <p:nvGrpSpPr>
        <p:cNvPr id="1" name=""/>
        <p:cNvGrpSpPr/>
        <p:nvPr/>
      </p:nvGrpSpPr>
      <p:grpSpPr>
        <a:xfrm xmlns:a="http://schemas.openxmlformats.org/drawingml/2006/main"/>
      </p:grpSpPr>
      <p:sp>
        <p:nvSpPr>
          <p:cNvPr id="5" name="Cinco agentes com responsabilidades claras">
            <a:extLst xmlns:a="http://schemas.openxmlformats.org/drawingml/2006/main">
              <a:ext uri="{FF2B5EF4-FFF2-40B4-BE49-F238E27FC236}">
                <a16:creationId xmlns:a16="http://schemas.microsoft.com/office/drawing/2014/main" id="{77FC27C3-68DE-4564-9A60-52784A329B4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72520"/>
                </a:solidFill>
                <a:latin typeface="Arial"/>
                <a:ea typeface="Arial"/>
                <a:cs typeface="Arial"/>
              </a:defRPr>
            </a:pPr>
            <a:r>
              <a:rPr sz="3300" b="1">
                <a:solidFill>
                  <a:srgbClr val="172520"/>
                </a:solidFill>
                <a:latin typeface="Arial"/>
                <a:ea typeface="Arial"/>
                <a:cs typeface="Arial"/>
              </a:rPr>
              <a:t>Quatro agentes e uma camada de regras</a:t>
            </a:r>
          </a:p>
        </p:txBody>
      </p:sp>
      <p:graphicFrame>
        <p:nvGraphicFramePr>
          <p:cNvPr id="8" name=""/>
          <p:cNvGraphicFramePr/>
          <p:nvPr/>
        </p:nvGraphicFramePr>
        <p:xfrm>
          <a:off xmlns:a="http://schemas.openxmlformats.org/drawingml/2006/main" x="609600" y="1685925"/>
          <a:ext xmlns:a="http://schemas.openxmlformats.org/drawingml/2006/main" cx="10972800" cy="4057650"/>
        </p:xfrm>
        <a:graphic xmlns:a="http://schemas.openxmlformats.org/drawingml/2006/main">
          <a:graphicData uri="http://schemas.openxmlformats.org/drawingml/2006/table">
            <a:tbl>
              <a:tblPr firstRow="1" bandRow="0"/>
              <a:tblGrid>
                <a:gridCol w="3209925"/>
                <a:gridCol w="4057650"/>
                <a:gridCol w="3705225"/>
              </a:tblGrid>
              <a:tr h="676275">
                <a:tc>
                  <a:txBody>
                    <a:bodyPr lIns="133350" tIns="76200" rIns="114300" bIns="76200">
                      <a:noAutofit/>
                    </a:bodyPr>
                    <a:lstStyle/>
                    <a:p>
                      <a:pPr algn="l">
                        <a:buNone/>
                      </a:pPr>
                      <a:r>
                        <a:rPr sz="1800" b="1">
                          <a:solidFill>
                            <a:srgbClr val="172520"/>
                          </a:solidFill>
                          <a:latin typeface="Arial"/>
                          <a:ea typeface="Arial"/>
                          <a:cs typeface="Arial"/>
                        </a:rPr>
                        <a:t>Componente</a:t>
                      </a:r>
                    </a:p>
                  </a:txBody>
                  <a:tcPr marL="91440" marR="91440" marT="45720" marB="45720" anchor="ctr">
                    <a:solidFill>
                      <a:srgbClr val="E3E9E1"/>
                    </a:solidFill>
                  </a:tcPr>
                </a:tc>
                <a:tc>
                  <a:txBody>
                    <a:bodyPr lIns="133350" tIns="76200" rIns="114300" bIns="76200">
                      <a:noAutofit/>
                    </a:bodyPr>
                    <a:lstStyle/>
                    <a:p>
                      <a:pPr algn="l">
                        <a:buNone/>
                      </a:pPr>
                      <a:r>
                        <a:rPr sz="1800" b="1">
                          <a:solidFill>
                            <a:srgbClr val="172520"/>
                          </a:solidFill>
                          <a:latin typeface="Arial"/>
                          <a:ea typeface="Arial"/>
                          <a:cs typeface="Arial"/>
                        </a:rPr>
                        <a:t>Responsabilidade</a:t>
                      </a:r>
                    </a:p>
                  </a:txBody>
                  <a:tcPr marL="91440" marR="91440" marT="45720" marB="45720" anchor="ctr">
                    <a:solidFill>
                      <a:srgbClr val="E3E9E1"/>
                    </a:solidFill>
                  </a:tcPr>
                </a:tc>
                <a:tc>
                  <a:txBody>
                    <a:bodyPr lIns="133350" tIns="76200" rIns="114300" bIns="76200">
                      <a:noAutofit/>
                    </a:bodyPr>
                    <a:lstStyle/>
                    <a:p>
                      <a:pPr algn="l">
                        <a:buNone/>
                      </a:pPr>
                      <a:r>
                        <a:rPr sz="1800" b="1">
                          <a:solidFill>
                            <a:srgbClr val="172520"/>
                          </a:solidFill>
                          <a:latin typeface="Arial"/>
                          <a:ea typeface="Arial"/>
                          <a:cs typeface="Arial"/>
                        </a:rPr>
                        <a:t>Entrega</a:t>
                      </a:r>
                    </a:p>
                  </a:txBody>
                  <a:tcPr marL="91440" marR="91440" marT="45720" marB="45720" anchor="ctr">
                    <a:solidFill>
                      <a:srgbClr val="E3E9E1"/>
                    </a:solidFill>
                  </a:tcPr>
                </a:tc>
              </a:tr>
              <a:tr h="676275">
                <a:tc>
                  <a:txBody>
                    <a:bodyPr lIns="133350" tIns="76200" rIns="114300" bIns="76200">
                      <a:noAutofit/>
                    </a:bodyPr>
                    <a:lstStyle/>
                    <a:p>
                      <a:pPr algn="l">
                        <a:buNone/>
                      </a:pPr>
                      <a:r>
                        <a:rPr sz="1800" b="0">
                          <a:solidFill>
                            <a:srgbClr val="172520"/>
                          </a:solidFill>
                          <a:latin typeface="Arial"/>
                          <a:ea typeface="Arial"/>
                          <a:cs typeface="Arial"/>
                        </a:rPr>
                        <a:t>Contexto e relacionamento</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Entende o objetivo e pergunta o que falta</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Contexto confirmado e resposta ao cliente</a:t>
                      </a:r>
                    </a:p>
                  </a:txBody>
                  <a:tcPr marL="91440" marR="91440" marT="45720" marB="45720" anchor="ctr">
                    <a:solidFill>
                      <a:srgbClr val="F6F5EE"/>
                    </a:solidFill>
                  </a:tcPr>
                </a:tc>
              </a:tr>
              <a:tr h="676275">
                <a:tc>
                  <a:txBody>
                    <a:bodyPr lIns="133350" tIns="76200" rIns="114300" bIns="76200">
                      <a:noAutofit/>
                    </a:bodyPr>
                    <a:lstStyle/>
                    <a:p>
                      <a:pPr algn="l">
                        <a:buNone/>
                      </a:pPr>
                      <a:r>
                        <a:rPr sz="1800" b="0">
                          <a:solidFill>
                            <a:srgbClr val="172520"/>
                          </a:solidFill>
                          <a:latin typeface="Arial"/>
                          <a:ea typeface="Arial"/>
                          <a:cs typeface="Arial"/>
                        </a:rPr>
                        <a:t>Conta e liquidez</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Solicita projeções e interpreta o caixa por data</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Disponibilidade e insuficiências</a:t>
                      </a:r>
                    </a:p>
                  </a:txBody>
                  <a:tcPr marL="91440" marR="91440" marT="45720" marB="45720" anchor="ctr">
                    <a:solidFill>
                      <a:srgbClr val="F6F5EE"/>
                    </a:solidFill>
                  </a:tcPr>
                </a:tc>
              </a:tr>
              <a:tr h="676275">
                <a:tc>
                  <a:txBody>
                    <a:bodyPr lIns="133350" tIns="76200" rIns="114300" bIns="76200">
                      <a:noAutofit/>
                    </a:bodyPr>
                    <a:lstStyle/>
                    <a:p>
                      <a:pPr algn="l">
                        <a:buNone/>
                      </a:pPr>
                      <a:r>
                        <a:rPr sz="1800" b="0">
                          <a:solidFill>
                            <a:srgbClr val="172520"/>
                          </a:solidFill>
                          <a:latin typeface="Arial"/>
                          <a:ea typeface="Arial"/>
                          <a:cs typeface="Arial"/>
                        </a:rPr>
                        <a:t>Compromissos e alternativas</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Compara opções com condições conhecidas</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Custos, dívida restante e pendências</a:t>
                      </a:r>
                    </a:p>
                  </a:txBody>
                  <a:tcPr marL="91440" marR="91440" marT="45720" marB="45720" anchor="ctr">
                    <a:solidFill>
                      <a:srgbClr val="F6F5EE"/>
                    </a:solidFill>
                  </a:tcPr>
                </a:tc>
              </a:tr>
              <a:tr h="676275">
                <a:tc>
                  <a:txBody>
                    <a:bodyPr lIns="133350" tIns="76200" rIns="114300" bIns="76200">
                      <a:noAutofit/>
                    </a:bodyPr>
                    <a:lstStyle/>
                    <a:p>
                      <a:pPr algn="l">
                        <a:buNone/>
                      </a:pPr>
                      <a:r>
                        <a:rPr sz="1800" b="0">
                          <a:solidFill>
                            <a:srgbClr val="172520"/>
                          </a:solidFill>
                          <a:latin typeface="Arial"/>
                          <a:ea typeface="Arial"/>
                          <a:cs typeface="Arial"/>
                        </a:rPr>
                        <a:t>Revisão e evidências</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Questiona contradições e premissas incompletas</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Pedidos de correção ou esclarecimento</a:t>
                      </a:r>
                    </a:p>
                  </a:txBody>
                  <a:tcPr marL="91440" marR="91440" marT="45720" marB="45720" anchor="ctr">
                    <a:solidFill>
                      <a:srgbClr val="F6F5EE"/>
                    </a:solidFill>
                  </a:tcPr>
                </a:tc>
              </a:tr>
              <a:tr h="676275">
                <a:tc>
                  <a:txBody>
                    <a:bodyPr lIns="133350" tIns="76200" rIns="114300" bIns="76200">
                      <a:noAutofit/>
                    </a:bodyPr>
                    <a:lstStyle/>
                    <a:p>
                      <a:pPr algn="l">
                        <a:buNone/>
                      </a:pPr>
                      <a:r>
                        <a:rPr sz="1800" b="0">
                          <a:solidFill>
                            <a:srgbClr val="172520"/>
                          </a:solidFill>
                          <a:latin typeface="Arial"/>
                          <a:ea typeface="Arial"/>
                          <a:cs typeface="Arial"/>
                        </a:rPr>
                        <a:t>Regras programadas</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Calculam e verificam as restrições</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Resultados que os agentes devem respeitar</a:t>
                      </a:r>
                    </a:p>
                  </a:txBody>
                  <a:tcPr marL="91440" marR="91440" marT="45720" marB="45720" anchor="ctr">
                    <a:solidFill>
                      <a:srgbClr val="F6F5EE"/>
                    </a:solidFill>
                  </a:tcPr>
                </a:tc>
              </a:tr>
            </a:tbl>
          </a:graphicData>
        </a:graphic>
      </p:graphicFrame>
      <p:sp>
        <p:nvSpPr>
          <p:cNvPr id="3" name="Cada agente recebe ferramentas e acesso compatíveis com sua função. O cliente mantém uma ú">
            <a:extLst xmlns:a="http://schemas.openxmlformats.org/drawingml/2006/main">
              <a:ext uri="{FF2B5EF4-FFF2-40B4-BE49-F238E27FC236}">
                <a16:creationId xmlns:a16="http://schemas.microsoft.com/office/drawing/2014/main" id="{9770F15A-21BF-43CD-8049-F0BD042346A2}"/>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B6862"/>
                </a:solidFill>
                <a:latin typeface="Arial"/>
                <a:ea typeface="Arial"/>
                <a:cs typeface="Arial"/>
              </a:defRPr>
            </a:pPr>
            <a:r>
              <a:rPr sz="1275" b="0">
                <a:solidFill>
                  <a:srgbClr val="5B6862"/>
                </a:solidFill>
                <a:latin typeface="Arial"/>
                <a:ea typeface="Arial"/>
                <a:cs typeface="Arial"/>
              </a:rPr>
              <a:t>O agente PJ sai do MVP. O revisor complementa as validações numéricas e de acesso.</a:t>
            </a:r>
          </a:p>
        </p:txBody>
      </p:sp>
      <p:sp>
        <p:nvSpPr>
          <p:cNvPr id="4" name="04">
            <a:extLst xmlns:a="http://schemas.openxmlformats.org/drawingml/2006/main">
              <a:ext uri="{FF2B5EF4-FFF2-40B4-BE49-F238E27FC236}">
                <a16:creationId xmlns:a16="http://schemas.microsoft.com/office/drawing/2014/main" id="{ABF9B849-84A3-4582-8FDE-D596F91928B4}"/>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B6862"/>
                </a:solidFill>
                <a:latin typeface="Arial"/>
                <a:ea typeface="Arial"/>
                <a:cs typeface="Arial"/>
              </a:defRPr>
            </a:pPr>
            <a:r>
              <a:rPr sz="1275" b="0">
                <a:solidFill>
                  <a:srgbClr val="5B6862"/>
                </a:solidFill>
                <a:latin typeface="Arial"/>
                <a:ea typeface="Arial"/>
                <a:cs typeface="Arial"/>
              </a:rPr>
              <a:t>04</a:t>
            </a:r>
          </a:p>
        </p:txBody>
      </p:sp>
    </p:spTree>
    <p:extLst>
      <p:ext uri="{BB962C8B-B14F-4D97-AF65-F5344CB8AC3E}">
        <p14:creationId xmlns:p14="http://schemas.microsoft.com/office/powerpoint/2010/main" val="1093117488"/>
      </p:ext>
    </p:extLst>
  </p:cSld>
</p:sld>
</file>

<file path=ppt/slides/slide5.xml><?xml version="1.0" encoding="utf-8"?>
<p:sld xmlns:p="http://schemas.openxmlformats.org/presentationml/2006/main">
  <p:cSld>
    <p:bg>
      <p:bgPr>
        <a:solidFill xmlns:a="http://schemas.openxmlformats.org/drawingml/2006/main">
          <a:srgbClr val="14231E"/>
        </a:solidFill>
      </p:bgPr>
    </p:bg>
    <p:spTree>
      <p:nvGrpSpPr>
        <p:cNvPr id="1" name=""/>
        <p:cNvGrpSpPr/>
        <p:nvPr/>
      </p:nvGrpSpPr>
      <p:grpSpPr>
        <a:xfrm xmlns:a="http://schemas.openxmlformats.org/drawingml/2006/main"/>
      </p:grpSpPr>
      <p:sp>
        <p:nvSpPr>
          <p:cNvPr id="18" name="Mesh PF: colaboração entre quatro agentes">
            <a:extLst xmlns:a="http://schemas.openxmlformats.org/drawingml/2006/main">
              <a:ext uri="{FF2B5EF4-FFF2-40B4-BE49-F238E27FC236}">
                <a16:creationId xmlns:a16="http://schemas.microsoft.com/office/drawing/2014/main" id="{4D499191-E0F2-48D4-992A-B88F2ADE08C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Mesh PF: colaboração entre quatro agentes</a:t>
            </a:r>
          </a:p>
        </p:txBody>
      </p:sp>
      <p:sp>
        <p:nvSpPr>
          <p:cNvPr id="2" name="Cliente">
            <a:extLst xmlns:a="http://schemas.openxmlformats.org/drawingml/2006/main">
              <a:ext uri="{FF2B5EF4-FFF2-40B4-BE49-F238E27FC236}">
                <a16:creationId xmlns:a16="http://schemas.microsoft.com/office/drawing/2014/main" id="{9DCE2F0A-F806-46A6-B6D2-1CDF11A05EE8}"/>
              </a:ext>
            </a:extLst>
          </p:cNvPr>
          <p:cNvSpPr>
            <a:spLocks xmlns:a="http://schemas.openxmlformats.org/drawingml/2006/main" noGrp="1"/>
          </p:cNvSpPr>
          <p:nvPr/>
        </p:nvSpPr>
        <p:spPr>
          <a:xfrm xmlns:a="http://schemas.openxmlformats.org/drawingml/2006/main">
            <a:off x="609600" y="1628775"/>
            <a:ext cx="2305050" cy="971550"/>
          </a:xfrm>
          <a:prstGeom xmlns:a="http://schemas.openxmlformats.org/drawingml/2006/main" prst="rect">
            <a:avLst/>
          </a:prstGeom>
          <a:solidFill xmlns:a="http://schemas.openxmlformats.org/drawingml/2006/main">
            <a:srgbClr val="14231E"/>
          </a:solidFill>
          <a:ln xmlns:a="http://schemas.openxmlformats.org/drawingml/2006/main" w="12383">
            <a:solidFill>
              <a:srgbClr val="638676"/>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Cliente</a:t>
            </a:r>
          </a:p>
        </p:txBody>
      </p:sp>
      <p:sp>
        <p:nvSpPr>
          <p:cNvPr id="3" name="Contexto e relacionamento">
            <a:extLst xmlns:a="http://schemas.openxmlformats.org/drawingml/2006/main">
              <a:ext uri="{FF2B5EF4-FFF2-40B4-BE49-F238E27FC236}">
                <a16:creationId xmlns:a16="http://schemas.microsoft.com/office/drawing/2014/main" id="{0F061176-48BB-4F48-B0F6-3AEE14D3921B}"/>
              </a:ext>
            </a:extLst>
          </p:cNvPr>
          <p:cNvSpPr>
            <a:spLocks xmlns:a="http://schemas.openxmlformats.org/drawingml/2006/main" noGrp="1"/>
          </p:cNvSpPr>
          <p:nvPr/>
        </p:nvSpPr>
        <p:spPr>
          <a:xfrm xmlns:a="http://schemas.openxmlformats.org/drawingml/2006/main">
            <a:off x="4210050" y="1628775"/>
            <a:ext cx="3238500" cy="971550"/>
          </a:xfrm>
          <a:prstGeom xmlns:a="http://schemas.openxmlformats.org/drawingml/2006/main" prst="rect">
            <a:avLst/>
          </a:prstGeom>
          <a:solidFill xmlns:a="http://schemas.openxmlformats.org/drawingml/2006/main">
            <a:srgbClr val="ED7417"/>
          </a:solidFill>
          <a:ln xmlns:a="http://schemas.openxmlformats.org/drawingml/2006/main" w="12383">
            <a:solidFill>
              <a:srgbClr val="ED7417"/>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14231E"/>
                </a:solidFill>
                <a:latin typeface="Arial"/>
                <a:ea typeface="Arial"/>
                <a:cs typeface="Arial"/>
              </a:defRPr>
            </a:pPr>
            <a:r>
              <a:rPr sz="2100" b="1">
                <a:solidFill>
                  <a:srgbClr val="14231E"/>
                </a:solidFill>
                <a:latin typeface="Arial"/>
                <a:ea typeface="Arial"/>
                <a:cs typeface="Arial"/>
              </a:rPr>
              <a:t>Contexto e</a:t>
            </a:r>
          </a:p>
          <a:p xmlns:a="http://schemas.openxmlformats.org/drawingml/2006/main">
            <a:pPr algn="ctr">
              <a:defRPr sz="2100" b="1">
                <a:solidFill>
                  <a:srgbClr val="14231E"/>
                </a:solidFill>
                <a:latin typeface="Arial"/>
                <a:ea typeface="Arial"/>
                <a:cs typeface="Arial"/>
              </a:defRPr>
            </a:pPr>
            <a:r>
              <a:rPr sz="2100" b="1">
                <a:solidFill>
                  <a:srgbClr val="14231E"/>
                </a:solidFill>
                <a:latin typeface="Arial"/>
                <a:ea typeface="Arial"/>
                <a:cs typeface="Arial"/>
              </a:rPr>
              <a:t>relacionamento</a:t>
            </a:r>
          </a:p>
        </p:txBody>
      </p:sp>
      <p:sp>
        <p:nvSpPr>
          <p:cNvPr id="4" name="Revisão e evidências">
            <a:extLst xmlns:a="http://schemas.openxmlformats.org/drawingml/2006/main">
              <a:ext uri="{FF2B5EF4-FFF2-40B4-BE49-F238E27FC236}">
                <a16:creationId xmlns:a16="http://schemas.microsoft.com/office/drawing/2014/main" id="{5DEB22AD-4089-42C8-89AF-A22C208F0206}"/>
              </a:ext>
            </a:extLst>
          </p:cNvPr>
          <p:cNvSpPr>
            <a:spLocks xmlns:a="http://schemas.openxmlformats.org/drawingml/2006/main" noGrp="1"/>
          </p:cNvSpPr>
          <p:nvPr/>
        </p:nvSpPr>
        <p:spPr>
          <a:xfrm xmlns:a="http://schemas.openxmlformats.org/drawingml/2006/main">
            <a:off x="8829675" y="1628775"/>
            <a:ext cx="2752725" cy="971550"/>
          </a:xfrm>
          <a:prstGeom xmlns:a="http://schemas.openxmlformats.org/drawingml/2006/main" prst="rect">
            <a:avLst/>
          </a:prstGeom>
          <a:solidFill xmlns:a="http://schemas.openxmlformats.org/drawingml/2006/main">
            <a:srgbClr val="294337"/>
          </a:solidFill>
          <a:ln xmlns:a="http://schemas.openxmlformats.org/drawingml/2006/main" w="12383">
            <a:solidFill>
              <a:srgbClr val="638676"/>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Revisão e</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evidências</a:t>
            </a:r>
          </a:p>
        </p:txBody>
      </p:sp>
      <p:sp>
        <p:nvSpPr>
          <p:cNvPr id="5" name="Conta e liquidez">
            <a:extLst xmlns:a="http://schemas.openxmlformats.org/drawingml/2006/main">
              <a:ext uri="{FF2B5EF4-FFF2-40B4-BE49-F238E27FC236}">
                <a16:creationId xmlns:a16="http://schemas.microsoft.com/office/drawing/2014/main" id="{85101119-DE7C-47F3-A5D4-BFDFB233F0A8}"/>
              </a:ext>
            </a:extLst>
          </p:cNvPr>
          <p:cNvSpPr>
            <a:spLocks xmlns:a="http://schemas.openxmlformats.org/drawingml/2006/main" noGrp="1"/>
          </p:cNvSpPr>
          <p:nvPr/>
        </p:nvSpPr>
        <p:spPr>
          <a:xfrm xmlns:a="http://schemas.openxmlformats.org/drawingml/2006/main">
            <a:off x="4210050" y="3810000"/>
            <a:ext cx="3238500" cy="1028700"/>
          </a:xfrm>
          <a:prstGeom xmlns:a="http://schemas.openxmlformats.org/drawingml/2006/main" prst="rect">
            <a:avLst/>
          </a:prstGeom>
          <a:solidFill xmlns:a="http://schemas.openxmlformats.org/drawingml/2006/main">
            <a:srgbClr val="294337"/>
          </a:solidFill>
          <a:ln xmlns:a="http://schemas.openxmlformats.org/drawingml/2006/main" w="12383">
            <a:solidFill>
              <a:srgbClr val="638676"/>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Conta e liquidez</a:t>
            </a:r>
          </a:p>
        </p:txBody>
      </p:sp>
      <p:sp>
        <p:nvSpPr>
          <p:cNvPr id="6" name="Compromissos e alternativas">
            <a:extLst xmlns:a="http://schemas.openxmlformats.org/drawingml/2006/main">
              <a:ext uri="{FF2B5EF4-FFF2-40B4-BE49-F238E27FC236}">
                <a16:creationId xmlns:a16="http://schemas.microsoft.com/office/drawing/2014/main" id="{3344ADFE-0ABF-467D-A14F-50C4F497FEE5}"/>
              </a:ext>
            </a:extLst>
          </p:cNvPr>
          <p:cNvSpPr>
            <a:spLocks xmlns:a="http://schemas.openxmlformats.org/drawingml/2006/main" noGrp="1"/>
          </p:cNvSpPr>
          <p:nvPr/>
        </p:nvSpPr>
        <p:spPr>
          <a:xfrm xmlns:a="http://schemas.openxmlformats.org/drawingml/2006/main">
            <a:off x="8829675" y="3810000"/>
            <a:ext cx="2752725" cy="1028700"/>
          </a:xfrm>
          <a:prstGeom xmlns:a="http://schemas.openxmlformats.org/drawingml/2006/main" prst="rect">
            <a:avLst/>
          </a:prstGeom>
          <a:solidFill xmlns:a="http://schemas.openxmlformats.org/drawingml/2006/main">
            <a:srgbClr val="294337"/>
          </a:solidFill>
          <a:ln xmlns:a="http://schemas.openxmlformats.org/drawingml/2006/main" w="12383">
            <a:solidFill>
              <a:srgbClr val="638676"/>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Compromissos</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e alternativas</a:t>
            </a:r>
          </a:p>
        </p:txBody>
      </p:sp>
      <p:cxnSp>
        <p:nvCxnSpPr>
          <p:cNvPr id="24" name=""/>
          <p:cNvCxnSpPr>
            <a:stCxn xmlns:a="http://schemas.openxmlformats.org/drawingml/2006/main" id="2" idx="3"/>
            <a:endCxn xmlns:a="http://schemas.openxmlformats.org/drawingml/2006/main" id="3" idx="1"/>
          </p:cNvCxnSpPr>
          <p:nvPr/>
        </p:nvCxnSpPr>
        <p:spPr>
          <a:xfrm xmlns:a="http://schemas.openxmlformats.org/drawingml/2006/main">
            <a:off x="2914650" y="2114550"/>
            <a:ext cx="1295400" cy="0"/>
          </a:xfrm>
          <a:prstGeom xmlns:a="http://schemas.openxmlformats.org/drawingml/2006/main" prst="straightConnector1">
            <a:avLst/>
          </a:prstGeom>
          <a:ln xmlns:a="http://schemas.openxmlformats.org/drawingml/2006/main" w="21908">
            <a:solidFill>
              <a:srgbClr val="CCD7D1"/>
            </a:solidFill>
            <a:headEnd type="triangle" w="sm" len="sm"/>
            <a:tailEnd type="triangle" w="sm" len="sm"/>
          </a:ln>
        </p:spPr>
      </p:cxnSp>
      <p:cxnSp>
        <p:nvCxnSpPr>
          <p:cNvPr id="25" name=""/>
          <p:cNvCxnSpPr>
            <a:stCxn xmlns:a="http://schemas.openxmlformats.org/drawingml/2006/main" id="3" idx="3"/>
            <a:endCxn xmlns:a="http://schemas.openxmlformats.org/drawingml/2006/main" id="4" idx="1"/>
          </p:cNvCxnSpPr>
          <p:nvPr/>
        </p:nvCxnSpPr>
        <p:spPr>
          <a:xfrm xmlns:a="http://schemas.openxmlformats.org/drawingml/2006/main">
            <a:off x="7448550" y="2114550"/>
            <a:ext cx="1381125" cy="0"/>
          </a:xfrm>
          <a:prstGeom xmlns:a="http://schemas.openxmlformats.org/drawingml/2006/main" prst="straightConnector1">
            <a:avLst/>
          </a:prstGeom>
          <a:ln xmlns:a="http://schemas.openxmlformats.org/drawingml/2006/main" w="21908">
            <a:solidFill>
              <a:srgbClr val="CCD7D1"/>
            </a:solidFill>
            <a:headEnd type="triangle" w="sm" len="sm"/>
            <a:tailEnd type="triangle" w="sm" len="sm"/>
          </a:ln>
        </p:spPr>
      </p:cxnSp>
      <p:cxnSp>
        <p:nvCxnSpPr>
          <p:cNvPr id="26" name=""/>
          <p:cNvCxnSpPr>
            <a:stCxn xmlns:a="http://schemas.openxmlformats.org/drawingml/2006/main" id="3" idx="2"/>
            <a:endCxn xmlns:a="http://schemas.openxmlformats.org/drawingml/2006/main" id="5" idx="0"/>
          </p:cNvCxnSpPr>
          <p:nvPr/>
        </p:nvCxnSpPr>
        <p:spPr>
          <a:xfrm xmlns:a="http://schemas.openxmlformats.org/drawingml/2006/main">
            <a:off x="4105275" y="2600325"/>
            <a:ext cx="1724025" cy="1209675"/>
          </a:xfrm>
          <a:prstGeom xmlns:a="http://schemas.openxmlformats.org/drawingml/2006/main" prst="bentConnector4">
            <a:avLst/>
          </a:prstGeom>
          <a:ln xmlns:a="http://schemas.openxmlformats.org/drawingml/2006/main" w="21908">
            <a:solidFill>
              <a:srgbClr val="CCD7D1"/>
            </a:solidFill>
            <a:headEnd type="triangle" w="sm" len="sm"/>
            <a:tailEnd type="triangle" w="sm" len="sm"/>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7448550" y="4324350"/>
            <a:ext cx="1381125" cy="0"/>
          </a:xfrm>
          <a:prstGeom xmlns:a="http://schemas.openxmlformats.org/drawingml/2006/main" prst="straightConnector1">
            <a:avLst/>
          </a:prstGeom>
          <a:ln xmlns:a="http://schemas.openxmlformats.org/drawingml/2006/main" w="21908">
            <a:solidFill>
              <a:srgbClr val="ED7417"/>
            </a:solidFill>
            <a:headEnd type="triangle" w="sm" len="sm"/>
            <a:tailEnd type="triangle" w="sm" len="sm"/>
          </a:ln>
        </p:spPr>
      </p:cxnSp>
      <p:cxnSp>
        <p:nvCxnSpPr>
          <p:cNvPr id="28" name=""/>
          <p:cNvCxnSpPr>
            <a:stCxn xmlns:a="http://schemas.openxmlformats.org/drawingml/2006/main" id="6" idx="0"/>
            <a:endCxn xmlns:a="http://schemas.openxmlformats.org/drawingml/2006/main" id="4" idx="2"/>
          </p:cNvCxnSpPr>
          <p:nvPr/>
        </p:nvCxnSpPr>
        <p:spPr>
          <a:xfrm xmlns:a="http://schemas.openxmlformats.org/drawingml/2006/main" flipV="1">
            <a:off x="10206038" y="2600325"/>
            <a:ext cx="0" cy="1209675"/>
          </a:xfrm>
          <a:prstGeom xmlns:a="http://schemas.openxmlformats.org/drawingml/2006/main" prst="straightConnector1">
            <a:avLst/>
          </a:prstGeom>
          <a:ln xmlns:a="http://schemas.openxmlformats.org/drawingml/2006/main" w="21908">
            <a:solidFill>
              <a:srgbClr val="CCD7D1"/>
            </a:solidFill>
            <a:headEnd type="triangle" w="sm" len="sm"/>
            <a:tailEnd type="triangle" w="sm" len="sm"/>
          </a:ln>
        </p:spPr>
      </p:cxnSp>
      <p:sp>
        <p:nvSpPr>
          <p:cNvPr id="12" name="Uma única conversa">
            <a:extLst xmlns:a="http://schemas.openxmlformats.org/drawingml/2006/main">
              <a:ext uri="{FF2B5EF4-FFF2-40B4-BE49-F238E27FC236}">
                <a16:creationId xmlns:a16="http://schemas.microsoft.com/office/drawing/2014/main" id="{EA97FC4B-C2CF-439C-BC5E-E0C90645457E}"/>
              </a:ext>
            </a:extLst>
          </p:cNvPr>
          <p:cNvSpPr>
            <a:spLocks xmlns:a="http://schemas.openxmlformats.org/drawingml/2006/main" noGrp="1"/>
          </p:cNvSpPr>
          <p:nvPr/>
        </p:nvSpPr>
        <p:spPr>
          <a:xfrm xmlns:a="http://schemas.openxmlformats.org/drawingml/2006/main">
            <a:off x="609600" y="2838450"/>
            <a:ext cx="27527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CD7D1"/>
                </a:solidFill>
                <a:latin typeface="Arial"/>
                <a:ea typeface="Arial"/>
                <a:cs typeface="Arial"/>
              </a:defRPr>
            </a:pPr>
            <a:r>
              <a:rPr sz="1800" b="0">
                <a:solidFill>
                  <a:srgbClr val="CCD7D1"/>
                </a:solidFill>
                <a:latin typeface="Arial"/>
                <a:ea typeface="Arial"/>
                <a:cs typeface="Arial"/>
              </a:rPr>
              <a:t>Uma única conversa</a:t>
            </a:r>
          </a:p>
        </p:txBody>
      </p:sp>
      <p:sp>
        <p:nvSpPr>
          <p:cNvPr id="13" name="“Qual dado falta?”">
            <a:extLst xmlns:a="http://schemas.openxmlformats.org/drawingml/2006/main">
              <a:ext uri="{FF2B5EF4-FFF2-40B4-BE49-F238E27FC236}">
                <a16:creationId xmlns:a16="http://schemas.microsoft.com/office/drawing/2014/main" id="{BD8E3BAF-8720-4BFF-AAFD-329F52A37104}"/>
              </a:ext>
            </a:extLst>
          </p:cNvPr>
          <p:cNvSpPr>
            <a:spLocks xmlns:a="http://schemas.openxmlformats.org/drawingml/2006/main" noGrp="1"/>
          </p:cNvSpPr>
          <p:nvPr/>
        </p:nvSpPr>
        <p:spPr>
          <a:xfrm xmlns:a="http://schemas.openxmlformats.org/drawingml/2006/main">
            <a:off x="4219575" y="2952750"/>
            <a:ext cx="3228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E0C2"/>
                </a:solidFill>
                <a:latin typeface="Arial"/>
                <a:ea typeface="Arial"/>
                <a:cs typeface="Arial"/>
              </a:defRPr>
            </a:pPr>
            <a:r>
              <a:rPr sz="1800" b="0">
                <a:solidFill>
                  <a:srgbClr val="FFE0C2"/>
                </a:solidFill>
                <a:latin typeface="Arial"/>
                <a:ea typeface="Arial"/>
                <a:cs typeface="Arial"/>
              </a:rPr>
              <a:t>“Qual dado falta?”</a:t>
            </a:r>
          </a:p>
        </p:txBody>
      </p:sp>
      <p:sp>
        <p:nvSpPr>
          <p:cNvPr id="14" name="“Essa opção cabe?”">
            <a:extLst xmlns:a="http://schemas.openxmlformats.org/drawingml/2006/main">
              <a:ext uri="{FF2B5EF4-FFF2-40B4-BE49-F238E27FC236}">
                <a16:creationId xmlns:a16="http://schemas.microsoft.com/office/drawing/2014/main" id="{DF51B58C-38BB-4285-A22B-304344C8CC9B}"/>
              </a:ext>
            </a:extLst>
          </p:cNvPr>
          <p:cNvSpPr>
            <a:spLocks xmlns:a="http://schemas.openxmlformats.org/drawingml/2006/main" noGrp="1"/>
          </p:cNvSpPr>
          <p:nvPr/>
        </p:nvSpPr>
        <p:spPr>
          <a:xfrm xmlns:a="http://schemas.openxmlformats.org/drawingml/2006/main">
            <a:off x="5981700" y="5114925"/>
            <a:ext cx="4676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E0C2"/>
                </a:solidFill>
                <a:latin typeface="Arial"/>
                <a:ea typeface="Arial"/>
                <a:cs typeface="Arial"/>
              </a:defRPr>
            </a:pPr>
            <a:r>
              <a:rPr sz="1950" b="0">
                <a:solidFill>
                  <a:srgbClr val="FFE0C2"/>
                </a:solidFill>
                <a:latin typeface="Arial"/>
                <a:ea typeface="Arial"/>
                <a:cs typeface="Arial"/>
              </a:rPr>
              <a:t>“Essa opção cabe?”</a:t>
            </a:r>
          </a:p>
        </p:txBody>
      </p:sp>
      <p:sp>
        <p:nvSpPr>
          <p:cNvPr id="15" name="Nova despesa informada: o contexto muda, as ferramentas recalculam e os especialistas revi">
            <a:extLst xmlns:a="http://schemas.openxmlformats.org/drawingml/2006/main">
              <a:ext uri="{FF2B5EF4-FFF2-40B4-BE49-F238E27FC236}">
                <a16:creationId xmlns:a16="http://schemas.microsoft.com/office/drawing/2014/main" id="{5CFD4437-9D4F-4E95-9FE3-022C6DC95FC7}"/>
              </a:ext>
            </a:extLst>
          </p:cNvPr>
          <p:cNvSpPr>
            <a:spLocks xmlns:a="http://schemas.openxmlformats.org/drawingml/2006/main" noGrp="1"/>
          </p:cNvSpPr>
          <p:nvPr/>
        </p:nvSpPr>
        <p:spPr>
          <a:xfrm xmlns:a="http://schemas.openxmlformats.org/drawingml/2006/main">
            <a:off x="609600" y="5600700"/>
            <a:ext cx="10915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Nova despesa informada: o contexto muda, as ferramentas recalculam</a:t>
            </a:r>
          </a:p>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e os especialistas revisam a orientação.</a:t>
            </a:r>
          </a:p>
        </p:txBody>
      </p:sp>
      <p:sp>
        <p:nvSpPr>
          <p:cNvPr id="16" name="Pedidos e respostas com evidências. Caminhos, permissões e rodadas limitados pela aplicaçã">
            <a:extLst xmlns:a="http://schemas.openxmlformats.org/drawingml/2006/main">
              <a:ext uri="{FF2B5EF4-FFF2-40B4-BE49-F238E27FC236}">
                <a16:creationId xmlns:a16="http://schemas.microsoft.com/office/drawing/2014/main" id="{B9ECC158-6BDD-4ECD-B22D-54BECCFA904E}"/>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CCD7D1"/>
                </a:solidFill>
                <a:latin typeface="Arial"/>
                <a:ea typeface="Arial"/>
                <a:cs typeface="Arial"/>
              </a:defRPr>
            </a:pPr>
            <a:r>
              <a:rPr sz="1275" b="0">
                <a:solidFill>
                  <a:srgbClr val="CCD7D1"/>
                </a:solidFill>
                <a:latin typeface="Arial"/>
                <a:ea typeface="Arial"/>
                <a:cs typeface="Arial"/>
              </a:rPr>
              <a:t>Pedidos e respostas com evidências. Caminhos, permissões e rodadas limitados pela aplicação.</a:t>
            </a:r>
          </a:p>
        </p:txBody>
      </p:sp>
      <p:sp>
        <p:nvSpPr>
          <p:cNvPr id="17" name="05">
            <a:extLst xmlns:a="http://schemas.openxmlformats.org/drawingml/2006/main">
              <a:ext uri="{FF2B5EF4-FFF2-40B4-BE49-F238E27FC236}">
                <a16:creationId xmlns:a16="http://schemas.microsoft.com/office/drawing/2014/main" id="{2309C62F-814D-4708-89AF-8D33DC0160A5}"/>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CCD7D1"/>
                </a:solidFill>
                <a:latin typeface="Arial"/>
                <a:ea typeface="Arial"/>
                <a:cs typeface="Arial"/>
              </a:defRPr>
            </a:pPr>
            <a:r>
              <a:rPr sz="1275" b="0">
                <a:solidFill>
                  <a:srgbClr val="CCD7D1"/>
                </a:solidFill>
                <a:latin typeface="Arial"/>
                <a:ea typeface="Arial"/>
                <a:cs typeface="Arial"/>
              </a:rPr>
              <a:t>05</a:t>
            </a:r>
          </a:p>
        </p:txBody>
      </p:sp>
    </p:spTree>
    <p:extLst>
      <p:ext uri="{BB962C8B-B14F-4D97-AF65-F5344CB8AC3E}">
        <p14:creationId xmlns:p14="http://schemas.microsoft.com/office/powerpoint/2010/main" val="1987648424"/>
      </p:ext>
    </p:extLst>
  </p:cSld>
</p:sld>
</file>

<file path=ppt/slides/slide6.xml><?xml version="1.0" encoding="utf-8"?>
<p:sld xmlns:p="http://schemas.openxmlformats.org/presentationml/2006/main">
  <p:cSld>
    <p:bg>
      <p:bgPr>
        <a:solidFill xmlns:a="http://schemas.openxmlformats.org/drawingml/2006/main">
          <a:srgbClr val="F6F5EE"/>
        </a:solidFill>
      </p:bgPr>
    </p:bg>
    <p:spTree>
      <p:nvGrpSpPr>
        <p:cNvPr id="1" name=""/>
        <p:cNvGrpSpPr/>
        <p:nvPr/>
      </p:nvGrpSpPr>
      <p:grpSpPr>
        <a:xfrm xmlns:a="http://schemas.openxmlformats.org/drawingml/2006/main"/>
      </p:grpSpPr>
      <p:sp>
        <p:nvSpPr>
          <p:cNvPr id="15" name="Arquitetura proposta com ferramentas Google">
            <a:extLst xmlns:a="http://schemas.openxmlformats.org/drawingml/2006/main">
              <a:ext uri="{FF2B5EF4-FFF2-40B4-BE49-F238E27FC236}">
                <a16:creationId xmlns:a16="http://schemas.microsoft.com/office/drawing/2014/main" id="{44C3A4DF-8CF2-4C0F-AEBE-7C5863275C4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72520"/>
                </a:solidFill>
                <a:latin typeface="Arial"/>
                <a:ea typeface="Arial"/>
                <a:cs typeface="Arial"/>
              </a:defRPr>
            </a:pPr>
            <a:r>
              <a:rPr sz="3300" b="1">
                <a:solidFill>
                  <a:srgbClr val="172520"/>
                </a:solidFill>
                <a:latin typeface="Arial"/>
                <a:ea typeface="Arial"/>
                <a:cs typeface="Arial"/>
              </a:rPr>
              <a:t>Arquitetura proposta com ferramentas Google</a:t>
            </a:r>
          </a:p>
        </p:txBody>
      </p:sp>
      <p:sp>
        <p:nvSpPr>
          <p:cNvPr id="2" name="Interface de conversa e escolha do cliente">
            <a:extLst xmlns:a="http://schemas.openxmlformats.org/drawingml/2006/main">
              <a:ext uri="{FF2B5EF4-FFF2-40B4-BE49-F238E27FC236}">
                <a16:creationId xmlns:a16="http://schemas.microsoft.com/office/drawing/2014/main" id="{14916832-CA31-4E17-B4D6-EA540BAE2D24}"/>
              </a:ext>
            </a:extLst>
          </p:cNvPr>
          <p:cNvSpPr>
            <a:spLocks xmlns:a="http://schemas.openxmlformats.org/drawingml/2006/main" noGrp="1"/>
          </p:cNvSpPr>
          <p:nvPr/>
        </p:nvSpPr>
        <p:spPr>
          <a:xfrm xmlns:a="http://schemas.openxmlformats.org/drawingml/2006/main">
            <a:off x="609600" y="1590675"/>
            <a:ext cx="10972800" cy="666750"/>
          </a:xfrm>
          <a:prstGeom xmlns:a="http://schemas.openxmlformats.org/drawingml/2006/main" prst="rect">
            <a:avLst/>
          </a:prstGeom>
          <a:solidFill xmlns:a="http://schemas.openxmlformats.org/drawingml/2006/main">
            <a:srgbClr val="FFE0C2"/>
          </a:solidFill>
          <a:ln xmlns:a="http://schemas.openxmlformats.org/drawingml/2006/main" w="12383">
            <a:solidFill>
              <a:srgbClr val="ED7417"/>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2100" b="1">
                <a:solidFill>
                  <a:srgbClr val="172520"/>
                </a:solidFill>
                <a:latin typeface="Arial"/>
                <a:ea typeface="Arial"/>
                <a:cs typeface="Arial"/>
              </a:defRPr>
            </a:pPr>
            <a:r>
              <a:rPr sz="2100" b="1">
                <a:solidFill>
                  <a:srgbClr val="172520"/>
                </a:solidFill>
                <a:latin typeface="Arial"/>
                <a:ea typeface="Arial"/>
                <a:cs typeface="Arial"/>
              </a:rPr>
              <a:t>Interface de conversa e escolha do cliente</a:t>
            </a:r>
          </a:p>
        </p:txBody>
      </p:sp>
      <p:sp>
        <p:nvSpPr>
          <p:cNvPr id="3" name="Gemini + Google ADK Coordenação dos cinco agentes e encaminhamento de solicitações">
            <a:extLst xmlns:a="http://schemas.openxmlformats.org/drawingml/2006/main">
              <a:ext uri="{FF2B5EF4-FFF2-40B4-BE49-F238E27FC236}">
                <a16:creationId xmlns:a16="http://schemas.microsoft.com/office/drawing/2014/main" id="{540D1687-8DF1-47BB-9699-352F1217280F}"/>
              </a:ext>
            </a:extLst>
          </p:cNvPr>
          <p:cNvSpPr>
            <a:spLocks xmlns:a="http://schemas.openxmlformats.org/drawingml/2006/main" noGrp="1"/>
          </p:cNvSpPr>
          <p:nvPr/>
        </p:nvSpPr>
        <p:spPr>
          <a:xfrm xmlns:a="http://schemas.openxmlformats.org/drawingml/2006/main">
            <a:off x="2876550" y="2581275"/>
            <a:ext cx="8705850" cy="990600"/>
          </a:xfrm>
          <a:prstGeom xmlns:a="http://schemas.openxmlformats.org/drawingml/2006/main" prst="rect">
            <a:avLst/>
          </a:prstGeom>
          <a:solidFill xmlns:a="http://schemas.openxmlformats.org/drawingml/2006/main">
            <a:srgbClr val="E3F0EB"/>
          </a:solidFill>
          <a:ln xmlns:a="http://schemas.openxmlformats.org/drawingml/2006/main" w="12383">
            <a:solidFill>
              <a:srgbClr val="B8C6BF"/>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2025" b="1">
                <a:solidFill>
                  <a:srgbClr val="172520"/>
                </a:solidFill>
                <a:latin typeface="Arial"/>
                <a:ea typeface="Arial"/>
                <a:cs typeface="Arial"/>
              </a:defRPr>
            </a:pPr>
            <a:r>
              <a:rPr sz="2025" b="1">
                <a:solidFill>
                  <a:srgbClr val="172520"/>
                </a:solidFill>
                <a:latin typeface="Arial"/>
                <a:ea typeface="Arial"/>
                <a:cs typeface="Arial"/>
              </a:rPr>
              <a:t>Gemini + Google ADK</a:t>
            </a:r>
          </a:p>
          <a:p xmlns:a="http://schemas.openxmlformats.org/drawingml/2006/main">
            <a:pPr algn="ctr">
              <a:buNone/>
              <a:defRPr sz="2025" b="1">
                <a:solidFill>
                  <a:srgbClr val="172520"/>
                </a:solidFill>
                <a:latin typeface="Arial"/>
                <a:ea typeface="Arial"/>
                <a:cs typeface="Arial"/>
              </a:defRPr>
            </a:pPr>
            <a:r>
              <a:rPr sz="2025" b="1">
                <a:solidFill>
                  <a:srgbClr val="172520"/>
                </a:solidFill>
                <a:latin typeface="Arial"/>
                <a:ea typeface="Arial"/>
                <a:cs typeface="Arial"/>
              </a:rPr>
              <a:t>Coordenação dos quatro agentes e encaminhamento de solicitações</a:t>
            </a:r>
          </a:p>
        </p:txBody>
      </p:sp>
      <p:sp>
        <p:nvSpPr>
          <p:cNvPr id="4" name="Ferramentas em Cloud Run Consultar dados, projetar caixa, simular custos e validar restrições">
            <a:extLst xmlns:a="http://schemas.openxmlformats.org/drawingml/2006/main">
              <a:ext uri="{FF2B5EF4-FFF2-40B4-BE49-F238E27FC236}">
                <a16:creationId xmlns:a16="http://schemas.microsoft.com/office/drawing/2014/main" id="{80212426-61E9-4AF2-90CC-A807CDA8F9A6}"/>
              </a:ext>
            </a:extLst>
          </p:cNvPr>
          <p:cNvSpPr>
            <a:spLocks xmlns:a="http://schemas.openxmlformats.org/drawingml/2006/main" noGrp="1"/>
          </p:cNvSpPr>
          <p:nvPr/>
        </p:nvSpPr>
        <p:spPr>
          <a:xfrm xmlns:a="http://schemas.openxmlformats.org/drawingml/2006/main">
            <a:off x="2876550" y="3933825"/>
            <a:ext cx="8705850" cy="990600"/>
          </a:xfrm>
          <a:prstGeom xmlns:a="http://schemas.openxmlformats.org/drawingml/2006/main" prst="rect">
            <a:avLst/>
          </a:prstGeom>
          <a:solidFill xmlns:a="http://schemas.openxmlformats.org/drawingml/2006/main">
            <a:srgbClr val="E3F0EB"/>
          </a:solidFill>
          <a:ln xmlns:a="http://schemas.openxmlformats.org/drawingml/2006/main" w="12383">
            <a:solidFill>
              <a:srgbClr val="B8C6BF"/>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1950" b="1">
                <a:solidFill>
                  <a:srgbClr val="172520"/>
                </a:solidFill>
                <a:latin typeface="Arial"/>
                <a:ea typeface="Arial"/>
                <a:cs typeface="Arial"/>
              </a:defRPr>
            </a:pPr>
            <a:r>
              <a:rPr sz="1950" b="1">
                <a:solidFill>
                  <a:srgbClr val="172520"/>
                </a:solidFill>
                <a:latin typeface="Arial"/>
                <a:ea typeface="Arial"/>
                <a:cs typeface="Arial"/>
              </a:rPr>
              <a:t>Ferramentas em Cloud Run</a:t>
            </a:r>
          </a:p>
          <a:p xmlns:a="http://schemas.openxmlformats.org/drawingml/2006/main">
            <a:pPr algn="ctr">
              <a:buNone/>
              <a:defRPr sz="1950" b="1">
                <a:solidFill>
                  <a:srgbClr val="172520"/>
                </a:solidFill>
                <a:latin typeface="Arial"/>
                <a:ea typeface="Arial"/>
                <a:cs typeface="Arial"/>
              </a:defRPr>
            </a:pPr>
            <a:r>
              <a:rPr sz="1950" b="1">
                <a:solidFill>
                  <a:srgbClr val="172520"/>
                </a:solidFill>
                <a:latin typeface="Arial"/>
                <a:ea typeface="Arial"/>
                <a:cs typeface="Arial"/>
              </a:rPr>
              <a:t>Consultar dados, projetar caixa, simular custos e validar restrições</a:t>
            </a:r>
          </a:p>
        </p:txBody>
      </p:sp>
      <p:sp>
        <p:nvSpPr>
          <p:cNvPr id="5" name="BigQuery Base PF, cenários PJ separados e histórico com origem dos dados">
            <a:extLst xmlns:a="http://schemas.openxmlformats.org/drawingml/2006/main">
              <a:ext uri="{FF2B5EF4-FFF2-40B4-BE49-F238E27FC236}">
                <a16:creationId xmlns:a16="http://schemas.microsoft.com/office/drawing/2014/main" id="{A8650613-D9CA-421D-BCBE-16729419FC80}"/>
              </a:ext>
            </a:extLst>
          </p:cNvPr>
          <p:cNvSpPr>
            <a:spLocks xmlns:a="http://schemas.openxmlformats.org/drawingml/2006/main" noGrp="1"/>
          </p:cNvSpPr>
          <p:nvPr/>
        </p:nvSpPr>
        <p:spPr>
          <a:xfrm xmlns:a="http://schemas.openxmlformats.org/drawingml/2006/main">
            <a:off x="2876550" y="5286375"/>
            <a:ext cx="8705850" cy="790575"/>
          </a:xfrm>
          <a:prstGeom xmlns:a="http://schemas.openxmlformats.org/drawingml/2006/main" prst="rect">
            <a:avLst/>
          </a:prstGeom>
          <a:solidFill xmlns:a="http://schemas.openxmlformats.org/drawingml/2006/main">
            <a:srgbClr val="E3E9E1"/>
          </a:solidFill>
          <a:ln xmlns:a="http://schemas.openxmlformats.org/drawingml/2006/main" w="12383">
            <a:solidFill>
              <a:srgbClr val="B8C6BF"/>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1875" b="1">
                <a:solidFill>
                  <a:srgbClr val="172520"/>
                </a:solidFill>
                <a:latin typeface="Arial"/>
                <a:ea typeface="Arial"/>
                <a:cs typeface="Arial"/>
              </a:defRPr>
            </a:pPr>
            <a:r>
              <a:rPr sz="1875" b="1">
                <a:solidFill>
                  <a:srgbClr val="172520"/>
                </a:solidFill>
                <a:latin typeface="Arial"/>
                <a:ea typeface="Arial"/>
                <a:cs typeface="Arial"/>
              </a:rPr>
              <a:t>BigQuery</a:t>
            </a:r>
          </a:p>
          <a:p xmlns:a="http://schemas.openxmlformats.org/drawingml/2006/main">
            <a:pPr algn="ctr">
              <a:buNone/>
              <a:defRPr sz="1875" b="1">
                <a:solidFill>
                  <a:srgbClr val="172520"/>
                </a:solidFill>
                <a:latin typeface="Arial"/>
                <a:ea typeface="Arial"/>
                <a:cs typeface="Arial"/>
              </a:defRPr>
            </a:pPr>
            <a:r>
              <a:rPr sz="1875" b="1">
                <a:solidFill>
                  <a:srgbClr val="172520"/>
                </a:solidFill>
                <a:latin typeface="Arial"/>
                <a:ea typeface="Arial"/>
                <a:cs typeface="Arial"/>
              </a:rPr>
              <a:t>Base PF e cenários de teste com origem e corte temporal dos dados</a:t>
            </a:r>
          </a:p>
        </p:txBody>
      </p:sp>
      <p:cxnSp>
        <p:nvCxnSpPr>
          <p:cNvPr id="28" name=""/>
          <p:cNvCxnSpPr>
            <a:stCxn xmlns:a="http://schemas.openxmlformats.org/drawingml/2006/main" id="2" idx="2"/>
            <a:endCxn xmlns:a="http://schemas.openxmlformats.org/drawingml/2006/main" id="3" idx="0"/>
          </p:cNvCxnSpPr>
          <p:nvPr/>
        </p:nvCxnSpPr>
        <p:spPr>
          <a:xfrm xmlns:a="http://schemas.openxmlformats.org/drawingml/2006/main">
            <a:off x="6096000" y="2257425"/>
            <a:ext cx="1133475" cy="323850"/>
          </a:xfrm>
          <a:prstGeom xmlns:a="http://schemas.openxmlformats.org/drawingml/2006/main" prst="bentConnector4">
            <a:avLst>
              <a:gd name="adj1" fmla="val 0"/>
              <a:gd name="adj2" fmla="val 50000"/>
            </a:avLst>
          </a:prstGeom>
          <a:ln xmlns:a="http://schemas.openxmlformats.org/drawingml/2006/main" w="21908">
            <a:solidFill>
              <a:srgbClr val="086F68"/>
            </a:solidFill>
            <a:prstDash val="solid"/>
            <a:headEnd type="triangle" w="sm" len="sm"/>
            <a:tailEnd type="triangle" w="sm" len="sm"/>
          </a:ln>
        </p:spPr>
      </p:cxnSp>
      <p:cxnSp>
        <p:nvCxnSpPr>
          <p:cNvPr id="29" name=""/>
          <p:cNvCxnSpPr>
            <a:stCxn xmlns:a="http://schemas.openxmlformats.org/drawingml/2006/main" id="3" idx="2"/>
            <a:endCxn xmlns:a="http://schemas.openxmlformats.org/drawingml/2006/main" id="4" idx="0"/>
          </p:cNvCxnSpPr>
          <p:nvPr/>
        </p:nvCxnSpPr>
        <p:spPr>
          <a:xfrm xmlns:a="http://schemas.openxmlformats.org/drawingml/2006/main">
            <a:off x="7229475" y="3571875"/>
            <a:ext cx="0" cy="361950"/>
          </a:xfrm>
          <a:prstGeom xmlns:a="http://schemas.openxmlformats.org/drawingml/2006/main" prst="straightConnector1">
            <a:avLst/>
          </a:prstGeom>
          <a:ln xmlns:a="http://schemas.openxmlformats.org/drawingml/2006/main" w="21908">
            <a:solidFill>
              <a:srgbClr val="086F68"/>
            </a:solidFill>
            <a:prstDash val="solid"/>
            <a:headEnd type="triangle" w="sm" len="sm"/>
            <a:tailEnd type="triangle" w="sm" len="sm"/>
          </a:ln>
        </p:spPr>
      </p:cxnSp>
      <p:cxnSp>
        <p:nvCxnSpPr>
          <p:cNvPr id="30" name=""/>
          <p:cNvCxnSpPr>
            <a:stCxn xmlns:a="http://schemas.openxmlformats.org/drawingml/2006/main" id="4" idx="2"/>
            <a:endCxn xmlns:a="http://schemas.openxmlformats.org/drawingml/2006/main" id="5" idx="0"/>
          </p:cNvCxnSpPr>
          <p:nvPr/>
        </p:nvCxnSpPr>
        <p:spPr>
          <a:xfrm xmlns:a="http://schemas.openxmlformats.org/drawingml/2006/main">
            <a:off x="7229475" y="4924425"/>
            <a:ext cx="0" cy="361950"/>
          </a:xfrm>
          <a:prstGeom xmlns:a="http://schemas.openxmlformats.org/drawingml/2006/main" prst="straightConnector1">
            <a:avLst/>
          </a:prstGeom>
          <a:ln xmlns:a="http://schemas.openxmlformats.org/drawingml/2006/main" w="21908">
            <a:solidFill>
              <a:srgbClr val="086F68"/>
            </a:solidFill>
            <a:prstDash val="solid"/>
            <a:headEnd type="triangle" w="sm" len="sm"/>
            <a:tailEnd type="triangle" w="sm" len="sm"/>
          </a:ln>
        </p:spPr>
      </p:cxnSp>
      <p:sp>
        <p:nvSpPr>
          <p:cNvPr id="9" name="Estado e eventos">
            <a:extLst xmlns:a="http://schemas.openxmlformats.org/drawingml/2006/main">
              <a:ext uri="{FF2B5EF4-FFF2-40B4-BE49-F238E27FC236}">
                <a16:creationId xmlns:a16="http://schemas.microsoft.com/office/drawing/2014/main" id="{80408503-BA3A-4623-9D14-3607127DF299}"/>
              </a:ext>
            </a:extLst>
          </p:cNvPr>
          <p:cNvSpPr>
            <a:spLocks xmlns:a="http://schemas.openxmlformats.org/drawingml/2006/main" noGrp="1"/>
          </p:cNvSpPr>
          <p:nvPr/>
        </p:nvSpPr>
        <p:spPr>
          <a:xfrm xmlns:a="http://schemas.openxmlformats.org/drawingml/2006/main">
            <a:off x="628650" y="2657475"/>
            <a:ext cx="2019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086F68"/>
                </a:solidFill>
                <a:latin typeface="Arial"/>
                <a:ea typeface="Arial"/>
                <a:cs typeface="Arial"/>
              </a:defRPr>
            </a:pPr>
            <a:r>
              <a:rPr sz="2025" b="1">
                <a:solidFill>
                  <a:srgbClr val="086F68"/>
                </a:solidFill>
                <a:latin typeface="Arial"/>
                <a:ea typeface="Arial"/>
                <a:cs typeface="Arial"/>
              </a:rPr>
              <a:t>Estado e eventos</a:t>
            </a:r>
          </a:p>
        </p:txBody>
      </p:sp>
      <p:sp>
        <p:nvSpPr>
          <p:cNvPr id="10" name="Contexto da sessão, versão e pendências.">
            <a:extLst xmlns:a="http://schemas.openxmlformats.org/drawingml/2006/main">
              <a:ext uri="{FF2B5EF4-FFF2-40B4-BE49-F238E27FC236}">
                <a16:creationId xmlns:a16="http://schemas.microsoft.com/office/drawing/2014/main" id="{27B4231D-2042-450C-9734-6716C9A9C120}"/>
              </a:ext>
            </a:extLst>
          </p:cNvPr>
          <p:cNvSpPr>
            <a:spLocks xmlns:a="http://schemas.openxmlformats.org/drawingml/2006/main" noGrp="1"/>
          </p:cNvSpPr>
          <p:nvPr/>
        </p:nvSpPr>
        <p:spPr>
          <a:xfrm xmlns:a="http://schemas.openxmlformats.org/drawingml/2006/main">
            <a:off x="628650" y="3324225"/>
            <a:ext cx="2019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172520"/>
                </a:solidFill>
                <a:latin typeface="Arial"/>
                <a:ea typeface="Arial"/>
                <a:cs typeface="Arial"/>
              </a:defRPr>
            </a:pPr>
            <a:r>
              <a:rPr sz="1725" b="0">
                <a:solidFill>
                  <a:srgbClr val="172520"/>
                </a:solidFill>
                <a:latin typeface="Arial"/>
                <a:ea typeface="Arial"/>
                <a:cs typeface="Arial"/>
              </a:rPr>
              <a:t>Contexto da sessão,</a:t>
            </a:r>
          </a:p>
          <a:p xmlns:a="http://schemas.openxmlformats.org/drawingml/2006/main">
            <a:pPr algn="l">
              <a:buNone/>
              <a:defRPr sz="1725" b="0">
                <a:solidFill>
                  <a:srgbClr val="172520"/>
                </a:solidFill>
                <a:latin typeface="Arial"/>
                <a:ea typeface="Arial"/>
                <a:cs typeface="Arial"/>
              </a:defRPr>
            </a:pPr>
            <a:r>
              <a:rPr sz="1725" b="0">
                <a:solidFill>
                  <a:srgbClr val="172520"/>
                </a:solidFill>
                <a:latin typeface="Arial"/>
                <a:ea typeface="Arial"/>
                <a:cs typeface="Arial"/>
              </a:rPr>
              <a:t>versão e pendências.</a:t>
            </a:r>
          </a:p>
        </p:txBody>
      </p:sp>
      <p:sp>
        <p:nvSpPr>
          <p:cNvPr id="11" name="Logs e avaliação">
            <a:extLst xmlns:a="http://schemas.openxmlformats.org/drawingml/2006/main">
              <a:ext uri="{FF2B5EF4-FFF2-40B4-BE49-F238E27FC236}">
                <a16:creationId xmlns:a16="http://schemas.microsoft.com/office/drawing/2014/main" id="{943D98B7-BD53-4450-8761-EF99E99C01D2}"/>
              </a:ext>
            </a:extLst>
          </p:cNvPr>
          <p:cNvSpPr>
            <a:spLocks xmlns:a="http://schemas.openxmlformats.org/drawingml/2006/main" noGrp="1"/>
          </p:cNvSpPr>
          <p:nvPr/>
        </p:nvSpPr>
        <p:spPr>
          <a:xfrm xmlns:a="http://schemas.openxmlformats.org/drawingml/2006/main">
            <a:off x="628650" y="4486275"/>
            <a:ext cx="20193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086F68"/>
                </a:solidFill>
                <a:latin typeface="Arial"/>
                <a:ea typeface="Arial"/>
                <a:cs typeface="Arial"/>
              </a:defRPr>
            </a:pPr>
            <a:r>
              <a:rPr sz="2025" b="1">
                <a:solidFill>
                  <a:srgbClr val="086F68"/>
                </a:solidFill>
                <a:latin typeface="Arial"/>
                <a:ea typeface="Arial"/>
                <a:cs typeface="Arial"/>
              </a:rPr>
              <a:t>Logs e avaliação</a:t>
            </a:r>
          </a:p>
        </p:txBody>
      </p:sp>
      <p:sp>
        <p:nvSpPr>
          <p:cNvPr id="12" name="Chamadas, resultados e casos de teste.">
            <a:extLst xmlns:a="http://schemas.openxmlformats.org/drawingml/2006/main">
              <a:ext uri="{FF2B5EF4-FFF2-40B4-BE49-F238E27FC236}">
                <a16:creationId xmlns:a16="http://schemas.microsoft.com/office/drawing/2014/main" id="{469A029E-9DF9-47B3-A69B-01D18D2842F2}"/>
              </a:ext>
            </a:extLst>
          </p:cNvPr>
          <p:cNvSpPr>
            <a:spLocks xmlns:a="http://schemas.openxmlformats.org/drawingml/2006/main" noGrp="1"/>
          </p:cNvSpPr>
          <p:nvPr/>
        </p:nvSpPr>
        <p:spPr>
          <a:xfrm xmlns:a="http://schemas.openxmlformats.org/drawingml/2006/main">
            <a:off x="628650" y="5219700"/>
            <a:ext cx="2019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172520"/>
                </a:solidFill>
                <a:latin typeface="Arial"/>
                <a:ea typeface="Arial"/>
                <a:cs typeface="Arial"/>
              </a:defRPr>
            </a:pPr>
            <a:r>
              <a:rPr sz="1725" b="0">
                <a:solidFill>
                  <a:srgbClr val="172520"/>
                </a:solidFill>
                <a:latin typeface="Arial"/>
                <a:ea typeface="Arial"/>
                <a:cs typeface="Arial"/>
              </a:rPr>
              <a:t>Chamadas, resultados</a:t>
            </a:r>
          </a:p>
          <a:p xmlns:a="http://schemas.openxmlformats.org/drawingml/2006/main">
            <a:pPr algn="l">
              <a:buNone/>
              <a:defRPr sz="1725" b="0">
                <a:solidFill>
                  <a:srgbClr val="172520"/>
                </a:solidFill>
                <a:latin typeface="Arial"/>
                <a:ea typeface="Arial"/>
                <a:cs typeface="Arial"/>
              </a:defRPr>
            </a:pPr>
            <a:r>
              <a:rPr sz="1725" b="0">
                <a:solidFill>
                  <a:srgbClr val="172520"/>
                </a:solidFill>
                <a:latin typeface="Arial"/>
                <a:ea typeface="Arial"/>
                <a:cs typeface="Arial"/>
              </a:rPr>
              <a:t>e casos de teste.</a:t>
            </a:r>
          </a:p>
        </p:txBody>
      </p:sp>
      <p:sp>
        <p:nvSpPr>
          <p:cNvPr id="13" name="Desenho proposto. Conexões bancárias na demo usam dados de teste identificados. Nenhum pag">
            <a:extLst xmlns:a="http://schemas.openxmlformats.org/drawingml/2006/main">
              <a:ext uri="{FF2B5EF4-FFF2-40B4-BE49-F238E27FC236}">
                <a16:creationId xmlns:a16="http://schemas.microsoft.com/office/drawing/2014/main" id="{9A9A68FE-93F6-45AF-A03E-2187373A9B8C}"/>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B6862"/>
                </a:solidFill>
                <a:latin typeface="Arial"/>
                <a:ea typeface="Arial"/>
                <a:cs typeface="Arial"/>
              </a:defRPr>
            </a:pPr>
            <a:r>
              <a:rPr sz="1275" b="0">
                <a:solidFill>
                  <a:srgbClr val="5B6862"/>
                </a:solidFill>
                <a:latin typeface="Arial"/>
                <a:ea typeface="Arial"/>
                <a:cs typeface="Arial"/>
              </a:rPr>
              <a:t>Arquitetura proposta. Identificar o que está integrado, simulado ou planejado. Nenhum pagamento é executado.</a:t>
            </a:r>
          </a:p>
        </p:txBody>
      </p:sp>
      <p:sp>
        <p:nvSpPr>
          <p:cNvPr id="14" name="06">
            <a:extLst xmlns:a="http://schemas.openxmlformats.org/drawingml/2006/main">
              <a:ext uri="{FF2B5EF4-FFF2-40B4-BE49-F238E27FC236}">
                <a16:creationId xmlns:a16="http://schemas.microsoft.com/office/drawing/2014/main" id="{36C0FB6F-436F-41F1-9DAC-7E2ACEF21FF1}"/>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B6862"/>
                </a:solidFill>
                <a:latin typeface="Arial"/>
                <a:ea typeface="Arial"/>
                <a:cs typeface="Arial"/>
              </a:defRPr>
            </a:pPr>
            <a:r>
              <a:rPr sz="1275" b="0">
                <a:solidFill>
                  <a:srgbClr val="5B6862"/>
                </a:solidFill>
                <a:latin typeface="Arial"/>
                <a:ea typeface="Arial"/>
                <a:cs typeface="Arial"/>
              </a:rPr>
              <a:t>06</a:t>
            </a:r>
          </a:p>
        </p:txBody>
      </p:sp>
    </p:spTree>
    <p:extLst>
      <p:ext uri="{BB962C8B-B14F-4D97-AF65-F5344CB8AC3E}">
        <p14:creationId xmlns:p14="http://schemas.microsoft.com/office/powerpoint/2010/main" val="434946397"/>
      </p:ext>
    </p:extLst>
  </p:cSld>
</p:sld>
</file>

<file path=ppt/slides/slide7.xml><?xml version="1.0" encoding="utf-8"?>
<p:sld xmlns:p="http://schemas.openxmlformats.org/presentationml/2006/main">
  <p:cSld>
    <p:bg>
      <p:bgPr>
        <a:solidFill xmlns:a="http://schemas.openxmlformats.org/drawingml/2006/main">
          <a:srgbClr val="F6F5EE"/>
        </a:solidFill>
      </p:bgPr>
    </p:bg>
    <p:spTree>
      <p:nvGrpSpPr>
        <p:cNvPr id="1" name=""/>
        <p:cNvGrpSpPr/>
        <p:nvPr/>
      </p:nvGrpSpPr>
      <p:grpSpPr>
        <a:xfrm xmlns:a="http://schemas.openxmlformats.org/drawingml/2006/main"/>
      </p:grpSpPr>
      <p:sp>
        <p:nvSpPr>
          <p:cNvPr id="19" name="Fluxo de decisão baseado na estrutura do mentor">
            <a:extLst xmlns:a="http://schemas.openxmlformats.org/drawingml/2006/main">
              <a:ext uri="{FF2B5EF4-FFF2-40B4-BE49-F238E27FC236}">
                <a16:creationId xmlns:a16="http://schemas.microsoft.com/office/drawing/2014/main" id="{53D6A016-011C-42B2-B7BA-415AEA4433D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72520"/>
                </a:solidFill>
                <a:latin typeface="Arial"/>
                <a:ea typeface="Arial"/>
                <a:cs typeface="Arial"/>
              </a:defRPr>
            </a:pPr>
            <a:r>
              <a:rPr sz="3300" b="1">
                <a:solidFill>
                  <a:srgbClr val="172520"/>
                </a:solidFill>
                <a:latin typeface="Arial"/>
                <a:ea typeface="Arial"/>
                <a:cs typeface="Arial"/>
              </a:rPr>
              <a:t>Fluxo de decisão baseado na estrutura do mentor</a:t>
            </a:r>
          </a:p>
        </p:txBody>
      </p:sp>
      <p:sp>
        <p:nvSpPr>
          <p:cNvPr id="2" name="Entender o objetivo">
            <a:extLst xmlns:a="http://schemas.openxmlformats.org/drawingml/2006/main">
              <a:ext uri="{FF2B5EF4-FFF2-40B4-BE49-F238E27FC236}">
                <a16:creationId xmlns:a16="http://schemas.microsoft.com/office/drawing/2014/main" id="{B944E4A0-3FE5-4688-9956-393800545615}"/>
              </a:ext>
            </a:extLst>
          </p:cNvPr>
          <p:cNvSpPr>
            <a:spLocks xmlns:a="http://schemas.openxmlformats.org/drawingml/2006/main" noGrp="1"/>
          </p:cNvSpPr>
          <p:nvPr/>
        </p:nvSpPr>
        <p:spPr>
          <a:xfrm xmlns:a="http://schemas.openxmlformats.org/drawingml/2006/main">
            <a:off x="609600" y="1866900"/>
            <a:ext cx="2257425" cy="1009650"/>
          </a:xfrm>
          <a:prstGeom xmlns:a="http://schemas.openxmlformats.org/drawingml/2006/main" prst="rect">
            <a:avLst/>
          </a:prstGeom>
          <a:solidFill xmlns:a="http://schemas.openxmlformats.org/drawingml/2006/main">
            <a:srgbClr val="E3F0EB"/>
          </a:solidFill>
          <a:ln xmlns:a="http://schemas.openxmlformats.org/drawingml/2006/main" w="12383">
            <a:solidFill>
              <a:srgbClr val="B8C6BF"/>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2100" b="1">
                <a:solidFill>
                  <a:srgbClr val="172520"/>
                </a:solidFill>
                <a:latin typeface="Arial"/>
                <a:ea typeface="Arial"/>
                <a:cs typeface="Arial"/>
              </a:defRPr>
            </a:pPr>
            <a:r>
              <a:rPr sz="2100" b="1">
                <a:solidFill>
                  <a:srgbClr val="172520"/>
                </a:solidFill>
                <a:latin typeface="Arial"/>
                <a:ea typeface="Arial"/>
                <a:cs typeface="Arial"/>
              </a:rPr>
              <a:t>Entender</a:t>
            </a:r>
          </a:p>
          <a:p xmlns:a="http://schemas.openxmlformats.org/drawingml/2006/main">
            <a:pPr algn="ctr">
              <a:buNone/>
              <a:defRPr sz="2100" b="1">
                <a:solidFill>
                  <a:srgbClr val="172520"/>
                </a:solidFill>
                <a:latin typeface="Arial"/>
                <a:ea typeface="Arial"/>
                <a:cs typeface="Arial"/>
              </a:defRPr>
            </a:pPr>
            <a:r>
              <a:rPr sz="2100" b="1">
                <a:solidFill>
                  <a:srgbClr val="172520"/>
                </a:solidFill>
                <a:latin typeface="Arial"/>
                <a:ea typeface="Arial"/>
                <a:cs typeface="Arial"/>
              </a:rPr>
              <a:t>o objetivo</a:t>
            </a:r>
          </a:p>
        </p:txBody>
      </p:sp>
      <p:sp>
        <p:nvSpPr>
          <p:cNvPr id="3" name="Verificar dados necessários">
            <a:extLst xmlns:a="http://schemas.openxmlformats.org/drawingml/2006/main">
              <a:ext uri="{FF2B5EF4-FFF2-40B4-BE49-F238E27FC236}">
                <a16:creationId xmlns:a16="http://schemas.microsoft.com/office/drawing/2014/main" id="{AAE179B1-1512-4830-9006-E254C32107C4}"/>
              </a:ext>
            </a:extLst>
          </p:cNvPr>
          <p:cNvSpPr>
            <a:spLocks xmlns:a="http://schemas.openxmlformats.org/drawingml/2006/main" noGrp="1"/>
          </p:cNvSpPr>
          <p:nvPr/>
        </p:nvSpPr>
        <p:spPr>
          <a:xfrm xmlns:a="http://schemas.openxmlformats.org/drawingml/2006/main">
            <a:off x="3524250" y="1866900"/>
            <a:ext cx="2276475" cy="1009650"/>
          </a:xfrm>
          <a:prstGeom xmlns:a="http://schemas.openxmlformats.org/drawingml/2006/main" prst="rect">
            <a:avLst/>
          </a:prstGeom>
          <a:solidFill xmlns:a="http://schemas.openxmlformats.org/drawingml/2006/main">
            <a:srgbClr val="E3F0EB"/>
          </a:solidFill>
          <a:ln xmlns:a="http://schemas.openxmlformats.org/drawingml/2006/main" w="12383">
            <a:solidFill>
              <a:srgbClr val="B8C6BF"/>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2100" b="1">
                <a:solidFill>
                  <a:srgbClr val="172520"/>
                </a:solidFill>
                <a:latin typeface="Arial"/>
                <a:ea typeface="Arial"/>
                <a:cs typeface="Arial"/>
              </a:defRPr>
            </a:pPr>
            <a:r>
              <a:rPr sz="2100" b="1">
                <a:solidFill>
                  <a:srgbClr val="172520"/>
                </a:solidFill>
                <a:latin typeface="Arial"/>
                <a:ea typeface="Arial"/>
                <a:cs typeface="Arial"/>
              </a:rPr>
              <a:t>Verificar dados</a:t>
            </a:r>
          </a:p>
          <a:p xmlns:a="http://schemas.openxmlformats.org/drawingml/2006/main">
            <a:pPr algn="ctr">
              <a:buNone/>
              <a:defRPr sz="2100" b="1">
                <a:solidFill>
                  <a:srgbClr val="172520"/>
                </a:solidFill>
                <a:latin typeface="Arial"/>
                <a:ea typeface="Arial"/>
                <a:cs typeface="Arial"/>
              </a:defRPr>
            </a:pPr>
            <a:r>
              <a:rPr sz="2100" b="1">
                <a:solidFill>
                  <a:srgbClr val="172520"/>
                </a:solidFill>
                <a:latin typeface="Arial"/>
                <a:ea typeface="Arial"/>
                <a:cs typeface="Arial"/>
              </a:rPr>
              <a:t>necessários</a:t>
            </a:r>
          </a:p>
        </p:txBody>
      </p:sp>
      <p:sp>
        <p:nvSpPr>
          <p:cNvPr id="4" name="Acionar especialistas">
            <a:extLst xmlns:a="http://schemas.openxmlformats.org/drawingml/2006/main">
              <a:ext uri="{FF2B5EF4-FFF2-40B4-BE49-F238E27FC236}">
                <a16:creationId xmlns:a16="http://schemas.microsoft.com/office/drawing/2014/main" id="{F851CE65-FC34-4C79-A95D-CCA6BA0AD5B1}"/>
              </a:ext>
            </a:extLst>
          </p:cNvPr>
          <p:cNvSpPr>
            <a:spLocks xmlns:a="http://schemas.openxmlformats.org/drawingml/2006/main" noGrp="1"/>
          </p:cNvSpPr>
          <p:nvPr/>
        </p:nvSpPr>
        <p:spPr>
          <a:xfrm xmlns:a="http://schemas.openxmlformats.org/drawingml/2006/main">
            <a:off x="6477000" y="1866900"/>
            <a:ext cx="2276475" cy="1009650"/>
          </a:xfrm>
          <a:prstGeom xmlns:a="http://schemas.openxmlformats.org/drawingml/2006/main" prst="rect">
            <a:avLst/>
          </a:prstGeom>
          <a:solidFill xmlns:a="http://schemas.openxmlformats.org/drawingml/2006/main">
            <a:srgbClr val="E3F0EB"/>
          </a:solidFill>
          <a:ln xmlns:a="http://schemas.openxmlformats.org/drawingml/2006/main" w="12383">
            <a:solidFill>
              <a:srgbClr val="B8C6BF"/>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2100" b="1">
                <a:solidFill>
                  <a:srgbClr val="172520"/>
                </a:solidFill>
                <a:latin typeface="Arial"/>
                <a:ea typeface="Arial"/>
                <a:cs typeface="Arial"/>
              </a:defRPr>
            </a:pPr>
            <a:r>
              <a:rPr sz="2100" b="1">
                <a:solidFill>
                  <a:srgbClr val="172520"/>
                </a:solidFill>
                <a:latin typeface="Arial"/>
                <a:ea typeface="Arial"/>
                <a:cs typeface="Arial"/>
              </a:rPr>
              <a:t>Acionar</a:t>
            </a:r>
          </a:p>
          <a:p xmlns:a="http://schemas.openxmlformats.org/drawingml/2006/main">
            <a:pPr algn="ctr">
              <a:buNone/>
              <a:defRPr sz="2100" b="1">
                <a:solidFill>
                  <a:srgbClr val="172520"/>
                </a:solidFill>
                <a:latin typeface="Arial"/>
                <a:ea typeface="Arial"/>
                <a:cs typeface="Arial"/>
              </a:defRPr>
            </a:pPr>
            <a:r>
              <a:rPr sz="2100" b="1">
                <a:solidFill>
                  <a:srgbClr val="172520"/>
                </a:solidFill>
                <a:latin typeface="Arial"/>
                <a:ea typeface="Arial"/>
                <a:cs typeface="Arial"/>
              </a:rPr>
              <a:t>especialistas</a:t>
            </a:r>
          </a:p>
        </p:txBody>
      </p:sp>
      <p:sp>
        <p:nvSpPr>
          <p:cNvPr id="5" name="Validar resultados">
            <a:extLst xmlns:a="http://schemas.openxmlformats.org/drawingml/2006/main">
              <a:ext uri="{FF2B5EF4-FFF2-40B4-BE49-F238E27FC236}">
                <a16:creationId xmlns:a16="http://schemas.microsoft.com/office/drawing/2014/main" id="{8D61EAD7-429E-46E8-9E2F-BC0F566F5817}"/>
              </a:ext>
            </a:extLst>
          </p:cNvPr>
          <p:cNvSpPr>
            <a:spLocks xmlns:a="http://schemas.openxmlformats.org/drawingml/2006/main" noGrp="1"/>
          </p:cNvSpPr>
          <p:nvPr/>
        </p:nvSpPr>
        <p:spPr>
          <a:xfrm xmlns:a="http://schemas.openxmlformats.org/drawingml/2006/main">
            <a:off x="9410700" y="1866900"/>
            <a:ext cx="2171700" cy="1009650"/>
          </a:xfrm>
          <a:prstGeom xmlns:a="http://schemas.openxmlformats.org/drawingml/2006/main" prst="rect">
            <a:avLst/>
          </a:prstGeom>
          <a:solidFill xmlns:a="http://schemas.openxmlformats.org/drawingml/2006/main">
            <a:srgbClr val="E3F0EB"/>
          </a:solidFill>
          <a:ln xmlns:a="http://schemas.openxmlformats.org/drawingml/2006/main" w="12383">
            <a:solidFill>
              <a:srgbClr val="B8C6BF"/>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2100" b="1">
                <a:solidFill>
                  <a:srgbClr val="172520"/>
                </a:solidFill>
                <a:latin typeface="Arial"/>
                <a:ea typeface="Arial"/>
                <a:cs typeface="Arial"/>
              </a:defRPr>
            </a:pPr>
            <a:r>
              <a:rPr sz="2100" b="1">
                <a:solidFill>
                  <a:srgbClr val="172520"/>
                </a:solidFill>
                <a:latin typeface="Arial"/>
                <a:ea typeface="Arial"/>
                <a:cs typeface="Arial"/>
              </a:rPr>
              <a:t>Validar</a:t>
            </a:r>
          </a:p>
          <a:p xmlns:a="http://schemas.openxmlformats.org/drawingml/2006/main">
            <a:pPr algn="ctr">
              <a:buNone/>
              <a:defRPr sz="2100" b="1">
                <a:solidFill>
                  <a:srgbClr val="172520"/>
                </a:solidFill>
                <a:latin typeface="Arial"/>
                <a:ea typeface="Arial"/>
                <a:cs typeface="Arial"/>
              </a:defRPr>
            </a:pPr>
            <a:r>
              <a:rPr sz="2100" b="1">
                <a:solidFill>
                  <a:srgbClr val="172520"/>
                </a:solidFill>
                <a:latin typeface="Arial"/>
                <a:ea typeface="Arial"/>
                <a:cs typeface="Arial"/>
              </a:rPr>
              <a:t>resultados</a:t>
            </a:r>
          </a:p>
        </p:txBody>
      </p:sp>
      <p:cxnSp>
        <p:nvCxnSpPr>
          <p:cNvPr id="37" name=""/>
          <p:cNvCxnSpPr>
            <a:stCxn xmlns:a="http://schemas.openxmlformats.org/drawingml/2006/main" id="2" idx="3"/>
            <a:endCxn xmlns:a="http://schemas.openxmlformats.org/drawingml/2006/main" id="3" idx="1"/>
          </p:cNvCxnSpPr>
          <p:nvPr/>
        </p:nvCxnSpPr>
        <p:spPr>
          <a:xfrm xmlns:a="http://schemas.openxmlformats.org/drawingml/2006/main">
            <a:off x="2867025" y="2371725"/>
            <a:ext cx="657225" cy="0"/>
          </a:xfrm>
          <a:prstGeom xmlns:a="http://schemas.openxmlformats.org/drawingml/2006/main" prst="straightConnector1">
            <a:avLst/>
          </a:prstGeom>
          <a:ln xmlns:a="http://schemas.openxmlformats.org/drawingml/2006/main" w="21908">
            <a:solidFill>
              <a:srgbClr val="086F68"/>
            </a:solidFill>
            <a:prstDash val="solid"/>
            <a:headEnd type="none" w="sm" len="sm"/>
            <a:tailEnd type="triangle" w="sm" len="sm"/>
          </a:ln>
        </p:spPr>
      </p:cxnSp>
      <p:cxnSp>
        <p:nvCxnSpPr>
          <p:cNvPr id="38" name=""/>
          <p:cNvCxnSpPr>
            <a:stCxn xmlns:a="http://schemas.openxmlformats.org/drawingml/2006/main" id="3" idx="3"/>
            <a:endCxn xmlns:a="http://schemas.openxmlformats.org/drawingml/2006/main" id="4" idx="1"/>
          </p:cNvCxnSpPr>
          <p:nvPr/>
        </p:nvCxnSpPr>
        <p:spPr>
          <a:xfrm xmlns:a="http://schemas.openxmlformats.org/drawingml/2006/main">
            <a:off x="5800725" y="2371725"/>
            <a:ext cx="676275" cy="0"/>
          </a:xfrm>
          <a:prstGeom xmlns:a="http://schemas.openxmlformats.org/drawingml/2006/main" prst="straightConnector1">
            <a:avLst/>
          </a:prstGeom>
          <a:ln xmlns:a="http://schemas.openxmlformats.org/drawingml/2006/main" w="21908">
            <a:solidFill>
              <a:srgbClr val="086F68"/>
            </a:solidFill>
            <a:prstDash val="solid"/>
            <a:headEnd type="none" w="sm" len="sm"/>
            <a:tailEnd type="triangle" w="sm" len="sm"/>
          </a:ln>
        </p:spPr>
      </p:cxnSp>
      <p:cxnSp>
        <p:nvCxnSpPr>
          <p:cNvPr id="39" name=""/>
          <p:cNvCxnSpPr>
            <a:stCxn xmlns:a="http://schemas.openxmlformats.org/drawingml/2006/main" id="4" idx="3"/>
            <a:endCxn xmlns:a="http://schemas.openxmlformats.org/drawingml/2006/main" id="5" idx="1"/>
          </p:cNvCxnSpPr>
          <p:nvPr/>
        </p:nvCxnSpPr>
        <p:spPr>
          <a:xfrm xmlns:a="http://schemas.openxmlformats.org/drawingml/2006/main">
            <a:off x="8753475" y="2371725"/>
            <a:ext cx="657225" cy="0"/>
          </a:xfrm>
          <a:prstGeom xmlns:a="http://schemas.openxmlformats.org/drawingml/2006/main" prst="straightConnector1">
            <a:avLst/>
          </a:prstGeom>
          <a:ln xmlns:a="http://schemas.openxmlformats.org/drawingml/2006/main" w="21908">
            <a:solidFill>
              <a:srgbClr val="086F68"/>
            </a:solidFill>
            <a:prstDash val="solid"/>
            <a:headEnd type="none" w="sm" len="sm"/>
            <a:tailEnd type="triangle" w="sm" len="sm"/>
          </a:ln>
        </p:spPr>
      </p:cxnSp>
      <p:sp>
        <p:nvSpPr>
          <p:cNvPr id="9" name="Consultar ou perguntar Atualizar o contexto">
            <a:extLst xmlns:a="http://schemas.openxmlformats.org/drawingml/2006/main">
              <a:ext uri="{FF2B5EF4-FFF2-40B4-BE49-F238E27FC236}">
                <a16:creationId xmlns:a16="http://schemas.microsoft.com/office/drawing/2014/main" id="{6C51D0D5-0E85-425C-9F53-2627BB303AEE}"/>
              </a:ext>
            </a:extLst>
          </p:cNvPr>
          <p:cNvSpPr>
            <a:spLocks xmlns:a="http://schemas.openxmlformats.org/drawingml/2006/main" noGrp="1"/>
          </p:cNvSpPr>
          <p:nvPr/>
        </p:nvSpPr>
        <p:spPr>
          <a:xfrm xmlns:a="http://schemas.openxmlformats.org/drawingml/2006/main">
            <a:off x="2933700" y="4057650"/>
            <a:ext cx="3457575" cy="1019175"/>
          </a:xfrm>
          <a:prstGeom xmlns:a="http://schemas.openxmlformats.org/drawingml/2006/main" prst="rect">
            <a:avLst/>
          </a:prstGeom>
          <a:solidFill xmlns:a="http://schemas.openxmlformats.org/drawingml/2006/main">
            <a:srgbClr val="FFE0C2"/>
          </a:solidFill>
          <a:ln xmlns:a="http://schemas.openxmlformats.org/drawingml/2006/main" w="12383">
            <a:solidFill>
              <a:srgbClr val="ED7417"/>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2025" b="1">
                <a:solidFill>
                  <a:srgbClr val="172520"/>
                </a:solidFill>
                <a:latin typeface="Arial"/>
                <a:ea typeface="Arial"/>
                <a:cs typeface="Arial"/>
              </a:defRPr>
            </a:pPr>
            <a:r>
              <a:rPr sz="2025" b="1">
                <a:solidFill>
                  <a:srgbClr val="172520"/>
                </a:solidFill>
                <a:latin typeface="Arial"/>
                <a:ea typeface="Arial"/>
                <a:cs typeface="Arial"/>
              </a:rPr>
              <a:t>Consultar ou perguntar</a:t>
            </a:r>
          </a:p>
          <a:p xmlns:a="http://schemas.openxmlformats.org/drawingml/2006/main">
            <a:pPr algn="ctr">
              <a:buNone/>
              <a:defRPr sz="2025" b="1">
                <a:solidFill>
                  <a:srgbClr val="172520"/>
                </a:solidFill>
                <a:latin typeface="Arial"/>
                <a:ea typeface="Arial"/>
                <a:cs typeface="Arial"/>
              </a:defRPr>
            </a:pPr>
            <a:r>
              <a:rPr sz="2025" b="1">
                <a:solidFill>
                  <a:srgbClr val="172520"/>
                </a:solidFill>
                <a:latin typeface="Arial"/>
                <a:ea typeface="Arial"/>
                <a:cs typeface="Arial"/>
              </a:rPr>
              <a:t>Atualizar o contexto</a:t>
            </a:r>
          </a:p>
        </p:txBody>
      </p:sp>
      <p:sp>
        <p:nvSpPr>
          <p:cNvPr id="10" name="Explicar alternativas ou reconhecer insuficiência">
            <a:extLst xmlns:a="http://schemas.openxmlformats.org/drawingml/2006/main">
              <a:ext uri="{FF2B5EF4-FFF2-40B4-BE49-F238E27FC236}">
                <a16:creationId xmlns:a16="http://schemas.microsoft.com/office/drawing/2014/main" id="{C49DD8C6-1355-4CBB-9E90-99F8A0BBEC9E}"/>
              </a:ext>
            </a:extLst>
          </p:cNvPr>
          <p:cNvSpPr>
            <a:spLocks xmlns:a="http://schemas.openxmlformats.org/drawingml/2006/main" noGrp="1"/>
          </p:cNvSpPr>
          <p:nvPr/>
        </p:nvSpPr>
        <p:spPr>
          <a:xfrm xmlns:a="http://schemas.openxmlformats.org/drawingml/2006/main">
            <a:off x="7324725" y="4057650"/>
            <a:ext cx="4257675" cy="1019175"/>
          </a:xfrm>
          <a:prstGeom xmlns:a="http://schemas.openxmlformats.org/drawingml/2006/main" prst="rect">
            <a:avLst/>
          </a:prstGeom>
          <a:solidFill xmlns:a="http://schemas.openxmlformats.org/drawingml/2006/main">
            <a:srgbClr val="E3F0EB"/>
          </a:solidFill>
          <a:ln xmlns:a="http://schemas.openxmlformats.org/drawingml/2006/main" w="12383">
            <a:solidFill>
              <a:srgbClr val="B8C6BF"/>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2025" b="1">
                <a:solidFill>
                  <a:srgbClr val="172520"/>
                </a:solidFill>
                <a:latin typeface="Arial"/>
                <a:ea typeface="Arial"/>
                <a:cs typeface="Arial"/>
              </a:defRPr>
            </a:pPr>
            <a:r>
              <a:rPr sz="2025" b="1">
                <a:solidFill>
                  <a:srgbClr val="172520"/>
                </a:solidFill>
                <a:latin typeface="Arial"/>
                <a:ea typeface="Arial"/>
                <a:cs typeface="Arial"/>
              </a:rPr>
              <a:t>Explicar alternativas</a:t>
            </a:r>
          </a:p>
          <a:p xmlns:a="http://schemas.openxmlformats.org/drawingml/2006/main">
            <a:pPr algn="ctr">
              <a:buNone/>
              <a:defRPr sz="2025" b="1">
                <a:solidFill>
                  <a:srgbClr val="172520"/>
                </a:solidFill>
                <a:latin typeface="Arial"/>
                <a:ea typeface="Arial"/>
                <a:cs typeface="Arial"/>
              </a:defRPr>
            </a:pPr>
            <a:r>
              <a:rPr sz="2025" b="1">
                <a:solidFill>
                  <a:srgbClr val="172520"/>
                </a:solidFill>
                <a:latin typeface="Arial"/>
                <a:ea typeface="Arial"/>
                <a:cs typeface="Arial"/>
              </a:rPr>
              <a:t>ou reconhecer insuficiência</a:t>
            </a:r>
          </a:p>
        </p:txBody>
      </p:sp>
      <p:cxnSp>
        <p:nvCxnSpPr>
          <p:cNvPr id="42" name=""/>
          <p:cNvCxnSpPr>
            <a:stCxn xmlns:a="http://schemas.openxmlformats.org/drawingml/2006/main" id="3" idx="2"/>
            <a:endCxn xmlns:a="http://schemas.openxmlformats.org/drawingml/2006/main" id="9" idx="0"/>
          </p:cNvCxnSpPr>
          <p:nvPr/>
        </p:nvCxnSpPr>
        <p:spPr>
          <a:xfrm xmlns:a="http://schemas.openxmlformats.org/drawingml/2006/main">
            <a:off x="4662488" y="2876550"/>
            <a:ext cx="0" cy="1181100"/>
          </a:xfrm>
          <a:prstGeom xmlns:a="http://schemas.openxmlformats.org/drawingml/2006/main" prst="straightConnector1">
            <a:avLst/>
          </a:prstGeom>
          <a:ln xmlns:a="http://schemas.openxmlformats.org/drawingml/2006/main" w="21908">
            <a:solidFill>
              <a:srgbClr val="ED7417"/>
            </a:solidFill>
            <a:prstDash val="solid"/>
            <a:headEnd type="none" w="sm" len="sm"/>
            <a:tailEnd type="triangle" w="sm" len="sm"/>
          </a:ln>
        </p:spPr>
      </p:cxnSp>
      <p:cxnSp>
        <p:nvCxnSpPr>
          <p:cNvPr id="43" name=""/>
          <p:cNvCxnSpPr>
            <a:stCxn xmlns:a="http://schemas.openxmlformats.org/drawingml/2006/main" id="9" idx="1"/>
            <a:endCxn xmlns:a="http://schemas.openxmlformats.org/drawingml/2006/main" id="2" idx="2"/>
          </p:cNvCxnSpPr>
          <p:nvPr/>
        </p:nvCxnSpPr>
        <p:spPr>
          <a:xfrm xmlns:a="http://schemas.openxmlformats.org/drawingml/2006/main" flipH="1" flipV="1">
            <a:off x="1738313" y="2876550"/>
            <a:ext cx="1195388" cy="1690688"/>
          </a:xfrm>
          <a:prstGeom xmlns:a="http://schemas.openxmlformats.org/drawingml/2006/main" prst="bentConnector2">
            <a:avLst/>
          </a:prstGeom>
          <a:ln xmlns:a="http://schemas.openxmlformats.org/drawingml/2006/main" w="21908">
            <a:solidFill>
              <a:srgbClr val="ED7417"/>
            </a:solidFill>
            <a:prstDash val="solid"/>
            <a:headEnd type="none" w="sm" len="sm"/>
            <a:tailEnd type="triangle" w="sm" len="sm"/>
          </a:ln>
        </p:spPr>
      </p:cxnSp>
      <p:cxnSp>
        <p:nvCxnSpPr>
          <p:cNvPr id="44" name=""/>
          <p:cNvCxnSpPr>
            <a:stCxn xmlns:a="http://schemas.openxmlformats.org/drawingml/2006/main" id="5" idx="2"/>
            <a:endCxn xmlns:a="http://schemas.openxmlformats.org/drawingml/2006/main" id="10" idx="0"/>
          </p:cNvCxnSpPr>
          <p:nvPr/>
        </p:nvCxnSpPr>
        <p:spPr>
          <a:xfrm xmlns:a="http://schemas.openxmlformats.org/drawingml/2006/main" flipH="1">
            <a:off x="9453563" y="2876550"/>
            <a:ext cx="1042988" cy="1181100"/>
          </a:xfrm>
          <a:prstGeom xmlns:a="http://schemas.openxmlformats.org/drawingml/2006/main" prst="bentConnector4">
            <a:avLst>
              <a:gd name="adj1" fmla="val 0"/>
              <a:gd name="adj2" fmla="val 50000"/>
            </a:avLst>
          </a:prstGeom>
          <a:ln xmlns:a="http://schemas.openxmlformats.org/drawingml/2006/main" w="21908">
            <a:solidFill>
              <a:srgbClr val="086F68"/>
            </a:solidFill>
            <a:prstDash val="solid"/>
            <a:headEnd type="none" w="sm" len="sm"/>
            <a:tailEnd type="triangle" w="sm" len="sm"/>
          </a:ln>
        </p:spPr>
      </p:cxnSp>
      <p:sp>
        <p:nvSpPr>
          <p:cNvPr id="14" name="Informação ausente">
            <a:extLst xmlns:a="http://schemas.openxmlformats.org/drawingml/2006/main">
              <a:ext uri="{FF2B5EF4-FFF2-40B4-BE49-F238E27FC236}">
                <a16:creationId xmlns:a16="http://schemas.microsoft.com/office/drawing/2014/main" id="{309AA80F-4A34-4187-AC64-017FBFDC0ADE}"/>
              </a:ext>
            </a:extLst>
          </p:cNvPr>
          <p:cNvSpPr>
            <a:spLocks xmlns:a="http://schemas.openxmlformats.org/drawingml/2006/main" noGrp="1"/>
          </p:cNvSpPr>
          <p:nvPr/>
        </p:nvSpPr>
        <p:spPr>
          <a:xfrm xmlns:a="http://schemas.openxmlformats.org/drawingml/2006/main">
            <a:off x="3057525" y="3133725"/>
            <a:ext cx="1447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ED7417"/>
                </a:solidFill>
                <a:latin typeface="Arial"/>
                <a:ea typeface="Arial"/>
                <a:cs typeface="Arial"/>
              </a:defRPr>
            </a:pPr>
            <a:r>
              <a:rPr sz="1800" b="1">
                <a:solidFill>
                  <a:srgbClr val="ED7417"/>
                </a:solidFill>
                <a:latin typeface="Arial"/>
                <a:ea typeface="Arial"/>
                <a:cs typeface="Arial"/>
              </a:rPr>
              <a:t>Informação</a:t>
            </a:r>
          </a:p>
          <a:p xmlns:a="http://schemas.openxmlformats.org/drawingml/2006/main">
            <a:pPr algn="l">
              <a:buNone/>
              <a:defRPr sz="1800" b="1">
                <a:solidFill>
                  <a:srgbClr val="ED7417"/>
                </a:solidFill>
                <a:latin typeface="Arial"/>
                <a:ea typeface="Arial"/>
                <a:cs typeface="Arial"/>
              </a:defRPr>
            </a:pPr>
            <a:r>
              <a:rPr sz="1800" b="1">
                <a:solidFill>
                  <a:srgbClr val="ED7417"/>
                </a:solidFill>
                <a:latin typeface="Arial"/>
                <a:ea typeface="Arial"/>
                <a:cs typeface="Arial"/>
              </a:rPr>
              <a:t>ausente</a:t>
            </a:r>
          </a:p>
        </p:txBody>
      </p:sp>
      <p:sp>
        <p:nvSpPr>
          <p:cNvPr id="15" name="Resultados válidos">
            <a:extLst xmlns:a="http://schemas.openxmlformats.org/drawingml/2006/main">
              <a:ext uri="{FF2B5EF4-FFF2-40B4-BE49-F238E27FC236}">
                <a16:creationId xmlns:a16="http://schemas.microsoft.com/office/drawing/2014/main" id="{11129556-E2B2-4AA2-9D7E-3360CB14EE6C}"/>
              </a:ext>
            </a:extLst>
          </p:cNvPr>
          <p:cNvSpPr>
            <a:spLocks xmlns:a="http://schemas.openxmlformats.org/drawingml/2006/main" noGrp="1"/>
          </p:cNvSpPr>
          <p:nvPr/>
        </p:nvSpPr>
        <p:spPr>
          <a:xfrm xmlns:a="http://schemas.openxmlformats.org/drawingml/2006/main">
            <a:off x="7524750" y="3133725"/>
            <a:ext cx="1762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086F68"/>
                </a:solidFill>
                <a:latin typeface="Arial"/>
                <a:ea typeface="Arial"/>
                <a:cs typeface="Arial"/>
              </a:defRPr>
            </a:pPr>
            <a:r>
              <a:rPr sz="1800" b="1">
                <a:solidFill>
                  <a:srgbClr val="086F68"/>
                </a:solidFill>
                <a:latin typeface="Arial"/>
                <a:ea typeface="Arial"/>
                <a:cs typeface="Arial"/>
              </a:rPr>
              <a:t>Resultados</a:t>
            </a:r>
          </a:p>
          <a:p xmlns:a="http://schemas.openxmlformats.org/drawingml/2006/main">
            <a:pPr algn="l">
              <a:buNone/>
              <a:defRPr sz="1800" b="1">
                <a:solidFill>
                  <a:srgbClr val="086F68"/>
                </a:solidFill>
                <a:latin typeface="Arial"/>
                <a:ea typeface="Arial"/>
                <a:cs typeface="Arial"/>
              </a:defRPr>
            </a:pPr>
            <a:r>
              <a:rPr sz="1800" b="1">
                <a:solidFill>
                  <a:srgbClr val="086F68"/>
                </a:solidFill>
                <a:latin typeface="Arial"/>
                <a:ea typeface="Arial"/>
                <a:cs typeface="Arial"/>
              </a:rPr>
              <a:t>válidos</a:t>
            </a:r>
          </a:p>
        </p:txBody>
      </p:sp>
      <p:sp>
        <p:nvSpPr>
          <p:cNvPr id="16" name="Nova informação relevante invalida a orientação anterior e exige recálculo.">
            <a:extLst xmlns:a="http://schemas.openxmlformats.org/drawingml/2006/main">
              <a:ext uri="{FF2B5EF4-FFF2-40B4-BE49-F238E27FC236}">
                <a16:creationId xmlns:a16="http://schemas.microsoft.com/office/drawing/2014/main" id="{980CA7F0-E557-4813-8952-A79F0CF98F7C}"/>
              </a:ext>
            </a:extLst>
          </p:cNvPr>
          <p:cNvSpPr>
            <a:spLocks xmlns:a="http://schemas.openxmlformats.org/drawingml/2006/main" noGrp="1"/>
          </p:cNvSpPr>
          <p:nvPr/>
        </p:nvSpPr>
        <p:spPr>
          <a:xfrm xmlns:a="http://schemas.openxmlformats.org/drawingml/2006/main">
            <a:off x="619125" y="5572125"/>
            <a:ext cx="109632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72520"/>
                </a:solidFill>
                <a:latin typeface="Arial"/>
                <a:ea typeface="Arial"/>
                <a:cs typeface="Arial"/>
              </a:defRPr>
            </a:pPr>
            <a:r>
              <a:rPr sz="2250" b="1">
                <a:solidFill>
                  <a:srgbClr val="172520"/>
                </a:solidFill>
                <a:latin typeface="Arial"/>
                <a:ea typeface="Arial"/>
                <a:cs typeface="Arial"/>
              </a:rPr>
              <a:t>Nova informação relevante invalida a orientação anterior e exige recálculo.</a:t>
            </a:r>
          </a:p>
        </p:txBody>
      </p:sp>
      <p:sp>
        <p:nvSpPr>
          <p:cNvPr id="17" name="Erro de ferramenta exige recuperação. “Nenhuma alternativa viável” exige cálculos válidos ">
            <a:extLst xmlns:a="http://schemas.openxmlformats.org/drawingml/2006/main">
              <a:ext uri="{FF2B5EF4-FFF2-40B4-BE49-F238E27FC236}">
                <a16:creationId xmlns:a16="http://schemas.microsoft.com/office/drawing/2014/main" id="{89B44004-85FE-4127-8DC3-260DDADA50C6}"/>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B6862"/>
                </a:solidFill>
                <a:latin typeface="Arial"/>
                <a:ea typeface="Arial"/>
                <a:cs typeface="Arial"/>
              </a:defRPr>
            </a:pPr>
            <a:r>
              <a:rPr sz="1275" b="0">
                <a:solidFill>
                  <a:srgbClr val="5B6862"/>
                </a:solidFill>
                <a:latin typeface="Arial"/>
                <a:ea typeface="Arial"/>
                <a:cs typeface="Arial"/>
              </a:rPr>
              <a:t>Erro de ferramenta exige recuperação. “Nenhuma alternativa viável” exige cálculos válidos e condições suficientes.</a:t>
            </a:r>
          </a:p>
        </p:txBody>
      </p:sp>
      <p:sp>
        <p:nvSpPr>
          <p:cNvPr id="18" name="07">
            <a:extLst xmlns:a="http://schemas.openxmlformats.org/drawingml/2006/main">
              <a:ext uri="{FF2B5EF4-FFF2-40B4-BE49-F238E27FC236}">
                <a16:creationId xmlns:a16="http://schemas.microsoft.com/office/drawing/2014/main" id="{7ACEBFA5-9D0F-42D9-B2AA-C2865A2DA72E}"/>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B6862"/>
                </a:solidFill>
                <a:latin typeface="Arial"/>
                <a:ea typeface="Arial"/>
                <a:cs typeface="Arial"/>
              </a:defRPr>
            </a:pPr>
            <a:r>
              <a:rPr sz="1275" b="0">
                <a:solidFill>
                  <a:srgbClr val="5B6862"/>
                </a:solidFill>
                <a:latin typeface="Arial"/>
                <a:ea typeface="Arial"/>
                <a:cs typeface="Arial"/>
              </a:rPr>
              <a:t>07</a:t>
            </a:r>
          </a:p>
        </p:txBody>
      </p:sp>
    </p:spTree>
    <p:extLst>
      <p:ext uri="{BB962C8B-B14F-4D97-AF65-F5344CB8AC3E}">
        <p14:creationId xmlns:p14="http://schemas.microsoft.com/office/powerpoint/2010/main" val="83528406"/>
      </p:ext>
    </p:extLst>
  </p:cSld>
</p:sld>
</file>

<file path=ppt/slides/slide8.xml><?xml version="1.0" encoding="utf-8"?>
<p:sld xmlns:p="http://schemas.openxmlformats.org/presentationml/2006/main">
  <p:cSld>
    <p:bg>
      <p:bgPr>
        <a:solidFill xmlns:a="http://schemas.openxmlformats.org/drawingml/2006/main">
          <a:srgbClr val="F6F5EE"/>
        </a:solidFill>
      </p:bgPr>
    </p:bg>
    <p:spTree>
      <p:nvGrpSpPr>
        <p:cNvPr id="1" name=""/>
        <p:cNvGrpSpPr/>
        <p:nvPr/>
      </p:nvGrpSpPr>
      <p:grpSpPr>
        <a:xfrm xmlns:a="http://schemas.openxmlformats.org/drawingml/2006/main"/>
      </p:grpSpPr>
      <p:sp>
        <p:nvSpPr>
          <p:cNvPr id="7" name="Jornada PJ: compromissos dos próximos 15 dias">
            <a:extLst xmlns:a="http://schemas.openxmlformats.org/drawingml/2006/main">
              <a:ext uri="{FF2B5EF4-FFF2-40B4-BE49-F238E27FC236}">
                <a16:creationId xmlns:a16="http://schemas.microsoft.com/office/drawing/2014/main" id="{7EC0219E-0623-4F26-BA64-726D706805B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72520"/>
                </a:solidFill>
                <a:latin typeface="Arial"/>
                <a:ea typeface="Arial"/>
                <a:cs typeface="Arial"/>
              </a:defRPr>
            </a:pPr>
            <a:r>
              <a:rPr sz="3300" b="1">
                <a:solidFill>
                  <a:srgbClr val="172520"/>
                </a:solidFill>
                <a:latin typeface="Arial"/>
                <a:ea typeface="Arial"/>
                <a:cs typeface="Arial"/>
              </a:rPr>
              <a:t>Bruno: uma nova despesa altera o valor disponível</a:t>
            </a:r>
          </a:p>
        </p:txBody>
      </p:sp>
      <p:sp>
        <p:nvSpPr>
          <p:cNvPr id="2" name="Saldo inicial: R$ 20 mil">
            <a:extLst xmlns:a="http://schemas.openxmlformats.org/drawingml/2006/main">
              <a:ext uri="{FF2B5EF4-FFF2-40B4-BE49-F238E27FC236}">
                <a16:creationId xmlns:a16="http://schemas.microsoft.com/office/drawing/2014/main" id="{89772F08-E5C3-4A5E-B3A0-2D5C8051CB17}"/>
              </a:ext>
            </a:extLst>
          </p:cNvPr>
          <p:cNvSpPr>
            <a:spLocks xmlns:a="http://schemas.openxmlformats.org/drawingml/2006/main" noGrp="1"/>
          </p:cNvSpPr>
          <p:nvPr/>
        </p:nvSpPr>
        <p:spPr>
          <a:xfrm xmlns:a="http://schemas.openxmlformats.org/drawingml/2006/main">
            <a:off x="619125" y="1504950"/>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75" b="1">
                <a:solidFill>
                  <a:srgbClr val="086F68"/>
                </a:solidFill>
                <a:latin typeface="Arial"/>
                <a:ea typeface="Arial"/>
                <a:cs typeface="Arial"/>
              </a:defRPr>
            </a:pPr>
            <a:r>
              <a:rPr sz="3075" b="1">
                <a:solidFill>
                  <a:srgbClr val="086F68"/>
                </a:solidFill>
                <a:latin typeface="Arial"/>
                <a:ea typeface="Arial"/>
                <a:cs typeface="Arial"/>
              </a:rPr>
              <a:t>Fatura do cenário: R$ 3.900</a:t>
            </a:r>
          </a:p>
        </p:txBody>
      </p:sp>
      <p:graphicFrame>
        <p:nvGraphicFramePr>
          <p:cNvPr id="11" name=""/>
          <p:cNvGraphicFramePr/>
          <p:nvPr/>
        </p:nvGraphicFramePr>
        <p:xfrm>
          <a:off xmlns:a="http://schemas.openxmlformats.org/drawingml/2006/main" x="609600" y="2352675"/>
          <a:ext xmlns:a="http://schemas.openxmlformats.org/drawingml/2006/main" cx="10972800" cy="3009900"/>
        </p:xfrm>
        <a:graphic xmlns:a="http://schemas.openxmlformats.org/drawingml/2006/main">
          <a:graphicData uri="http://schemas.openxmlformats.org/drawingml/2006/table">
            <a:tbl>
              <a:tblPr firstRow="1" bandRow="0"/>
              <a:tblGrid>
                <a:gridCol w="2066925"/>
                <a:gridCol w="5848350"/>
                <a:gridCol w="3057525"/>
              </a:tblGrid>
              <a:tr h="601980">
                <a:tc>
                  <a:txBody>
                    <a:bodyPr lIns="133350" tIns="76200" rIns="114300" bIns="76200">
                      <a:noAutofit/>
                    </a:bodyPr>
                    <a:lstStyle/>
                    <a:p>
                      <a:pPr algn="l">
                        <a:buNone/>
                      </a:pPr>
                      <a:r>
                        <a:rPr sz="1875" b="1">
                          <a:solidFill>
                            <a:srgbClr val="172520"/>
                          </a:solidFill>
                          <a:latin typeface="Arial"/>
                          <a:ea typeface="Arial"/>
                          <a:cs typeface="Arial"/>
                        </a:rPr>
                        <a:t>Informação</a:t>
                      </a:r>
                    </a:p>
                  </a:txBody>
                  <a:tcPr marL="91440" marR="91440" marT="45720" marB="45720" anchor="ctr">
                    <a:solidFill>
                      <a:srgbClr val="E3E9E1"/>
                    </a:solidFill>
                  </a:tcPr>
                </a:tc>
                <a:tc>
                  <a:txBody>
                    <a:bodyPr lIns="133350" tIns="76200" rIns="114300" bIns="76200">
                      <a:noAutofit/>
                    </a:bodyPr>
                    <a:lstStyle/>
                    <a:p>
                      <a:pPr algn="l">
                        <a:buNone/>
                      </a:pPr>
                      <a:r>
                        <a:rPr sz="1875" b="1">
                          <a:solidFill>
                            <a:srgbClr val="172520"/>
                          </a:solidFill>
                          <a:latin typeface="Arial"/>
                          <a:ea typeface="Arial"/>
                          <a:cs typeface="Arial"/>
                        </a:rPr>
                        <a:t>Antes da nova despesa</a:t>
                      </a:r>
                    </a:p>
                  </a:txBody>
                  <a:tcPr marL="91440" marR="91440" marT="45720" marB="45720" anchor="ctr">
                    <a:solidFill>
                      <a:srgbClr val="E3E9E1"/>
                    </a:solidFill>
                  </a:tcPr>
                </a:tc>
                <a:tc>
                  <a:txBody>
                    <a:bodyPr lIns="133350" tIns="76200" rIns="114300" bIns="76200">
                      <a:noAutofit/>
                    </a:bodyPr>
                    <a:lstStyle/>
                    <a:p>
                      <a:pPr algn="l">
                        <a:buNone/>
                      </a:pPr>
                      <a:r>
                        <a:rPr sz="1875" b="1">
                          <a:solidFill>
                            <a:srgbClr val="172520"/>
                          </a:solidFill>
                          <a:latin typeface="Arial"/>
                          <a:ea typeface="Arial"/>
                          <a:cs typeface="Arial"/>
                        </a:rPr>
                        <a:t>Depois de acrescentar R$ 500</a:t>
                      </a:r>
                    </a:p>
                  </a:txBody>
                  <a:tcPr marL="91440" marR="91440" marT="45720" marB="45720" anchor="ctr">
                    <a:solidFill>
                      <a:srgbClr val="E3E9E1"/>
                    </a:solidFill>
                  </a:tcPr>
                </a:tc>
              </a:tr>
              <a:tr h="601980">
                <a:tc>
                  <a:txBody>
                    <a:bodyPr lIns="133350" tIns="76200" rIns="114300" bIns="76200">
                      <a:noAutofit/>
                    </a:bodyPr>
                    <a:lstStyle/>
                    <a:p>
                      <a:pPr algn="l">
                        <a:buNone/>
                      </a:pPr>
                      <a:r>
                        <a:rPr sz="1875" b="0">
                          <a:solidFill>
                            <a:srgbClr val="172520"/>
                          </a:solidFill>
                          <a:latin typeface="Arial"/>
                          <a:ea typeface="Arial"/>
                          <a:cs typeface="Arial"/>
                        </a:rPr>
                        <a:t>Saldo</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R$ 7.100</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R$ 7.100</a:t>
                      </a:r>
                    </a:p>
                  </a:txBody>
                  <a:tcPr marL="91440" marR="91440" marT="45720" marB="45720" anchor="ctr">
                    <a:solidFill>
                      <a:srgbClr val="F6F5EE"/>
                    </a:solidFill>
                  </a:tcPr>
                </a:tc>
              </a:tr>
              <a:tr h="601980">
                <a:tc>
                  <a:txBody>
                    <a:bodyPr lIns="133350" tIns="76200" rIns="114300" bIns="76200">
                      <a:noAutofit/>
                    </a:bodyPr>
                    <a:lstStyle/>
                    <a:p>
                      <a:pPr algn="l">
                        <a:buNone/>
                      </a:pPr>
                      <a:r>
                        <a:rPr sz="1875" b="0">
                          <a:solidFill>
                            <a:srgbClr val="172520"/>
                          </a:solidFill>
                          <a:latin typeface="Arial"/>
                          <a:ea typeface="Arial"/>
                          <a:cs typeface="Arial"/>
                        </a:rPr>
                        <a:t>Essenciais</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R$ 3.600</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R$ 4.100</a:t>
                      </a:r>
                    </a:p>
                  </a:txBody>
                  <a:tcPr marL="91440" marR="91440" marT="45720" marB="45720" anchor="ctr">
                    <a:solidFill>
                      <a:srgbClr val="F6F5EE"/>
                    </a:solidFill>
                  </a:tcPr>
                </a:tc>
              </a:tr>
              <a:tr h="601980">
                <a:tc>
                  <a:txBody>
                    <a:bodyPr lIns="133350" tIns="76200" rIns="114300" bIns="76200">
                      <a:noAutofit/>
                    </a:bodyPr>
                    <a:lstStyle/>
                    <a:p>
                      <a:pPr algn="l">
                        <a:buNone/>
                      </a:pPr>
                      <a:r>
                        <a:rPr sz="1875" b="0">
                          <a:solidFill>
                            <a:srgbClr val="172520"/>
                          </a:solidFill>
                          <a:latin typeface="Arial"/>
                          <a:ea typeface="Arial"/>
                          <a:cs typeface="Arial"/>
                        </a:rPr>
                        <a:t>Piso didático</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R$ 100</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R$ 100</a:t>
                      </a:r>
                    </a:p>
                  </a:txBody>
                  <a:tcPr marL="91440" marR="91440" marT="45720" marB="45720" anchor="ctr">
                    <a:solidFill>
                      <a:srgbClr val="F6F5EE"/>
                    </a:solidFill>
                  </a:tcPr>
                </a:tc>
              </a:tr>
              <a:tr h="601980">
                <a:tc>
                  <a:txBody>
                    <a:bodyPr lIns="133350" tIns="76200" rIns="114300" bIns="76200">
                      <a:noAutofit/>
                    </a:bodyPr>
                    <a:lstStyle/>
                    <a:p>
                      <a:pPr algn="l">
                        <a:buNone/>
                      </a:pPr>
                      <a:r>
                        <a:rPr sz="1875" b="0">
                          <a:solidFill>
                            <a:srgbClr val="172520"/>
                          </a:solidFill>
                          <a:latin typeface="Arial"/>
                          <a:ea typeface="Arial"/>
                          <a:cs typeface="Arial"/>
                        </a:rPr>
                        <a:t>Capacidade de caixa</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R$ 3.400</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R$ 2.900</a:t>
                      </a:r>
                    </a:p>
                  </a:txBody>
                  <a:tcPr marL="91440" marR="91440" marT="45720" marB="45720" anchor="ctr">
                    <a:solidFill>
                      <a:srgbClr val="F6F5EE"/>
                    </a:solidFill>
                  </a:tcPr>
                </a:tc>
              </a:tr>
            </a:tbl>
          </a:graphicData>
        </a:graphic>
      </p:graphicFrame>
      <p:sp>
        <p:nvSpPr>
          <p:cNvPr id="4" name="Piso operacional informado: R$ 2 mil em todas as datas.">
            <a:extLst xmlns:a="http://schemas.openxmlformats.org/drawingml/2006/main">
              <a:ext uri="{FF2B5EF4-FFF2-40B4-BE49-F238E27FC236}">
                <a16:creationId xmlns:a16="http://schemas.microsoft.com/office/drawing/2014/main" id="{336BF4E1-B90C-4CA1-A36C-DB5E8E4DFD0E}"/>
              </a:ext>
            </a:extLst>
          </p:cNvPr>
          <p:cNvSpPr>
            <a:spLocks xmlns:a="http://schemas.openxmlformats.org/drawingml/2006/main" noGrp="1"/>
          </p:cNvSpPr>
          <p:nvPr/>
        </p:nvSpPr>
        <p:spPr>
          <a:xfrm xmlns:a="http://schemas.openxmlformats.org/drawingml/2006/main">
            <a:off x="619125" y="5667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72520"/>
                </a:solidFill>
                <a:latin typeface="Arial"/>
                <a:ea typeface="Arial"/>
                <a:cs typeface="Arial"/>
              </a:defRPr>
            </a:pPr>
            <a:r>
              <a:rPr sz="2100" b="1">
                <a:solidFill>
                  <a:srgbClr val="172520"/>
                </a:solidFill>
                <a:latin typeface="Arial"/>
                <a:ea typeface="Arial"/>
                <a:cs typeface="Arial"/>
              </a:rPr>
              <a:t>Capacidade de caixa não equivale a pagamento recomendado.</a:t>
            </a:r>
          </a:p>
        </p:txBody>
      </p:sp>
      <p:sp>
        <p:nvSpPr>
          <p:cNvPr id="5" name="Cenário inteiramente sintético. Recebimentos previstos continuam sujeitos a confirmação e ">
            <a:extLst xmlns:a="http://schemas.openxmlformats.org/drawingml/2006/main">
              <a:ext uri="{FF2B5EF4-FFF2-40B4-BE49-F238E27FC236}">
                <a16:creationId xmlns:a16="http://schemas.microsoft.com/office/drawing/2014/main" id="{DB4202C1-CC0C-494C-B89A-8939F2624C46}"/>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B6862"/>
                </a:solidFill>
                <a:latin typeface="Arial"/>
                <a:ea typeface="Arial"/>
                <a:cs typeface="Arial"/>
              </a:defRPr>
            </a:pPr>
            <a:r>
              <a:rPr sz="1275" b="0">
                <a:solidFill>
                  <a:srgbClr val="5B6862"/>
                </a:solidFill>
                <a:latin typeface="Arial"/>
                <a:ea typeface="Arial"/>
                <a:cs typeface="Arial"/>
              </a:rPr>
              <a:t>Cenário sintético simplificado. Datas e condições do cartão devem sustentar a comparação final.</a:t>
            </a:r>
          </a:p>
        </p:txBody>
      </p:sp>
      <p:sp>
        <p:nvSpPr>
          <p:cNvPr id="6" name="08">
            <a:extLst xmlns:a="http://schemas.openxmlformats.org/drawingml/2006/main">
              <a:ext uri="{FF2B5EF4-FFF2-40B4-BE49-F238E27FC236}">
                <a16:creationId xmlns:a16="http://schemas.microsoft.com/office/drawing/2014/main" id="{CF3BCA14-17CA-44BC-BA77-45944E2D912B}"/>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B6862"/>
                </a:solidFill>
                <a:latin typeface="Arial"/>
                <a:ea typeface="Arial"/>
                <a:cs typeface="Arial"/>
              </a:defRPr>
            </a:pPr>
            <a:r>
              <a:rPr sz="1275" b="0">
                <a:solidFill>
                  <a:srgbClr val="5B6862"/>
                </a:solidFill>
                <a:latin typeface="Arial"/>
                <a:ea typeface="Arial"/>
                <a:cs typeface="Arial"/>
              </a:rPr>
              <a:t>08</a:t>
            </a:r>
          </a:p>
        </p:txBody>
      </p:sp>
    </p:spTree>
    <p:extLst>
      <p:ext uri="{BB962C8B-B14F-4D97-AF65-F5344CB8AC3E}">
        <p14:creationId xmlns:p14="http://schemas.microsoft.com/office/powerpoint/2010/main" val="1219490986"/>
      </p:ext>
    </p:extLst>
  </p:cSld>
</p:sld>
</file>

<file path=ppt/slides/slide9.xml><?xml version="1.0" encoding="utf-8"?>
<p:sld xmlns:p="http://schemas.openxmlformats.org/presentationml/2006/main">
  <p:cSld>
    <p:bg>
      <p:bgPr>
        <a:solidFill xmlns:a="http://schemas.openxmlformats.org/drawingml/2006/main">
          <a:srgbClr val="14231E"/>
        </a:solidFill>
      </p:bgPr>
    </p:bg>
    <p:spTree>
      <p:nvGrpSpPr>
        <p:cNvPr id="1" name=""/>
        <p:cNvGrpSpPr/>
        <p:nvPr/>
      </p:nvGrpSpPr>
      <p:grpSpPr>
        <a:xfrm xmlns:a="http://schemas.openxmlformats.org/drawingml/2006/main"/>
      </p:grpSpPr>
      <p:sp>
        <p:nvSpPr>
          <p:cNvPr id="10" name="Mesmo saldo final, caixa insuficiente antes da entrada">
            <a:extLst xmlns:a="http://schemas.openxmlformats.org/drawingml/2006/main">
              <a:ext uri="{FF2B5EF4-FFF2-40B4-BE49-F238E27FC236}">
                <a16:creationId xmlns:a16="http://schemas.microsoft.com/office/drawing/2014/main" id="{B07DB5CC-3C12-4C85-AE3F-88575AB5684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Carla: reconhecer quando uma opção viola as condições</a:t>
            </a:r>
          </a:p>
        </p:txBody>
      </p:sp>
      <p:sp>
        <p:nvSpPr>
          <p:cNvPr id="2" name="O recebível de R$ 12 mil passa de D+5 para D+12.">
            <a:extLst xmlns:a="http://schemas.openxmlformats.org/drawingml/2006/main">
              <a:ext uri="{FF2B5EF4-FFF2-40B4-BE49-F238E27FC236}">
                <a16:creationId xmlns:a16="http://schemas.microsoft.com/office/drawing/2014/main" id="{3B111128-677F-44C9-974E-EB74C368F190}"/>
              </a:ext>
            </a:extLst>
          </p:cNvPr>
          <p:cNvSpPr>
            <a:spLocks xmlns:a="http://schemas.openxmlformats.org/drawingml/2006/main" noGrp="1"/>
          </p:cNvSpPr>
          <p:nvPr/>
        </p:nvSpPr>
        <p:spPr>
          <a:xfrm xmlns:a="http://schemas.openxmlformats.org/drawingml/2006/main">
            <a:off x="619125" y="1552575"/>
            <a:ext cx="10925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FFE0C2"/>
                </a:solidFill>
                <a:latin typeface="Arial"/>
                <a:ea typeface="Arial"/>
                <a:cs typeface="Arial"/>
              </a:defRPr>
            </a:pPr>
            <a:r>
              <a:rPr sz="2400" b="0">
                <a:solidFill>
                  <a:srgbClr val="FFE0C2"/>
                </a:solidFill>
                <a:latin typeface="Arial"/>
                <a:ea typeface="Arial"/>
                <a:cs typeface="Arial"/>
              </a:rPr>
              <a:t>Após uma nova despesa, o pagamento mínimo deixa déficit.</a:t>
            </a:r>
          </a:p>
        </p:txBody>
      </p:sp>
      <p:graphicFrame>
        <p:nvGraphicFramePr>
          <p:cNvPr id="14" name=""/>
          <p:cNvGraphicFramePr/>
          <p:nvPr/>
        </p:nvGraphicFramePr>
        <p:xfrm>
          <a:off xmlns:a="http://schemas.openxmlformats.org/drawingml/2006/main" x="609600" y="2305050"/>
          <a:ext xmlns:a="http://schemas.openxmlformats.org/drawingml/2006/main" cx="10972800" cy="2771775"/>
        </p:xfrm>
        <a:graphic xmlns:a="http://schemas.openxmlformats.org/drawingml/2006/main">
          <a:graphicData uri="http://schemas.openxmlformats.org/drawingml/2006/table">
            <a:tbl>
              <a:tblPr firstRow="1" bandRow="0"/>
              <a:tblGrid>
                <a:gridCol w="5029200"/>
                <a:gridCol w="2971800"/>
                <a:gridCol w="2971800"/>
              </a:tblGrid>
              <a:tr h="554355">
                <a:tc>
                  <a:txBody>
                    <a:bodyPr lIns="133350" tIns="76200" rIns="114300" bIns="76200">
                      <a:noAutofit/>
                    </a:bodyPr>
                    <a:lstStyle/>
                    <a:p>
                      <a:pPr algn="l">
                        <a:buNone/>
                      </a:pPr>
                      <a:r>
                        <a:rPr sz="1875" b="1">
                          <a:solidFill>
                            <a:srgbClr val="FFFFFF"/>
                          </a:solidFill>
                          <a:latin typeface="Arial"/>
                          <a:ea typeface="Arial"/>
                          <a:cs typeface="Arial"/>
                        </a:rPr>
                        <a:t>Item do cenário</a:t>
                      </a:r>
                    </a:p>
                  </a:txBody>
                  <a:tcPr marL="91440" marR="91440" marT="45720" marB="45720" anchor="ctr">
                    <a:solidFill>
                      <a:srgbClr val="2B4237"/>
                    </a:solidFill>
                  </a:tcPr>
                </a:tc>
                <a:tc>
                  <a:txBody>
                    <a:bodyPr lIns="133350" tIns="76200" rIns="114300" bIns="76200">
                      <a:noAutofit/>
                    </a:bodyPr>
                    <a:lstStyle/>
                    <a:p>
                      <a:pPr algn="l">
                        <a:buNone/>
                      </a:pPr>
                      <a:r>
                        <a:rPr sz="1875" b="1">
                          <a:solidFill>
                            <a:srgbClr val="FFFFFF"/>
                          </a:solidFill>
                          <a:latin typeface="Arial"/>
                          <a:ea typeface="Arial"/>
                          <a:cs typeface="Arial"/>
                        </a:rPr>
                        <a:t>Valor</a:t>
                      </a:r>
                    </a:p>
                  </a:txBody>
                  <a:tcPr marL="91440" marR="91440" marT="45720" marB="45720" anchor="ctr">
                    <a:solidFill>
                      <a:srgbClr val="2B4237"/>
                    </a:solidFill>
                  </a:tcPr>
                </a:tc>
                <a:tc>
                  <a:txBody>
                    <a:bodyPr lIns="133350" tIns="76200" rIns="114300" bIns="76200">
                      <a:noAutofit/>
                    </a:bodyPr>
                    <a:lstStyle/>
                    <a:p>
                      <a:pPr algn="l">
                        <a:buNone/>
                      </a:pPr>
                      <a:r>
                        <a:rPr sz="1875" b="1">
                          <a:solidFill>
                            <a:srgbClr val="FFFFFF"/>
                          </a:solidFill>
                          <a:latin typeface="Arial"/>
                          <a:ea typeface="Arial"/>
                          <a:cs typeface="Arial"/>
                        </a:rPr>
                        <a:t>Significado</a:t>
                      </a:r>
                    </a:p>
                  </a:txBody>
                  <a:tcPr marL="91440" marR="91440" marT="45720" marB="45720" anchor="ctr">
                    <a:solidFill>
                      <a:srgbClr val="2B4237"/>
                    </a:solidFill>
                  </a:tcPr>
                </a:tc>
              </a:tr>
              <a:tr h="554355">
                <a:tc>
                  <a:txBody>
                    <a:bodyPr lIns="133350" tIns="76200" rIns="114300" bIns="76200">
                      <a:noAutofit/>
                    </a:bodyPr>
                    <a:lstStyle/>
                    <a:p>
                      <a:pPr algn="l">
                        <a:buNone/>
                      </a:pPr>
                      <a:r>
                        <a:rPr sz="1875" b="0">
                          <a:solidFill>
                            <a:srgbClr val="FFFFFF"/>
                          </a:solidFill>
                          <a:latin typeface="Arial"/>
                          <a:ea typeface="Arial"/>
                          <a:cs typeface="Arial"/>
                        </a:rPr>
                        <a:t>Saldo disponível</a:t>
                      </a:r>
                    </a:p>
                  </a:txBody>
                  <a:tcPr marL="91440" marR="91440" marT="45720" marB="45720" anchor="ctr">
                    <a:solidFill>
                      <a:srgbClr val="14231E"/>
                    </a:solidFill>
                  </a:tcPr>
                </a:tc>
                <a:tc>
                  <a:txBody>
                    <a:bodyPr lIns="133350" tIns="76200" rIns="114300" bIns="76200">
                      <a:noAutofit/>
                    </a:bodyPr>
                    <a:lstStyle/>
                    <a:p>
                      <a:pPr algn="l">
                        <a:buNone/>
                      </a:pPr>
                      <a:r>
                        <a:rPr sz="1875" b="0">
                          <a:solidFill>
                            <a:srgbClr val="FFFFFF"/>
                          </a:solidFill>
                          <a:latin typeface="Arial"/>
                          <a:ea typeface="Arial"/>
                          <a:cs typeface="Arial"/>
                        </a:rPr>
                        <a:t>R$ 2.300</a:t>
                      </a:r>
                    </a:p>
                  </a:txBody>
                  <a:tcPr marL="91440" marR="91440" marT="45720" marB="45720" anchor="ctr">
                    <a:solidFill>
                      <a:srgbClr val="14231E"/>
                    </a:solidFill>
                  </a:tcPr>
                </a:tc>
                <a:tc>
                  <a:txBody>
                    <a:bodyPr lIns="133350" tIns="76200" rIns="114300" bIns="76200">
                      <a:noAutofit/>
                    </a:bodyPr>
                    <a:lstStyle/>
                    <a:p>
                      <a:pPr algn="l">
                        <a:buNone/>
                      </a:pPr>
                      <a:r>
                        <a:rPr sz="1875" b="0">
                          <a:solidFill>
                            <a:srgbClr val="FFFFFF"/>
                          </a:solidFill>
                          <a:latin typeface="Arial"/>
                          <a:ea typeface="Arial"/>
                          <a:cs typeface="Arial"/>
                        </a:rPr>
                        <a:t>Recursos informados</a:t>
                      </a:r>
                    </a:p>
                  </a:txBody>
                  <a:tcPr marL="91440" marR="91440" marT="45720" marB="45720" anchor="ctr">
                    <a:solidFill>
                      <a:srgbClr val="14231E"/>
                    </a:solidFill>
                  </a:tcPr>
                </a:tc>
              </a:tr>
              <a:tr h="554355">
                <a:tc>
                  <a:txBody>
                    <a:bodyPr lIns="133350" tIns="76200" rIns="114300" bIns="76200">
                      <a:noAutofit/>
                    </a:bodyPr>
                    <a:lstStyle/>
                    <a:p>
                      <a:pPr algn="l">
                        <a:buNone/>
                      </a:pPr>
                      <a:r>
                        <a:rPr sz="1875" b="0">
                          <a:solidFill>
                            <a:srgbClr val="FFFFFF"/>
                          </a:solidFill>
                          <a:latin typeface="Arial"/>
                          <a:ea typeface="Arial"/>
                          <a:cs typeface="Arial"/>
                        </a:rPr>
                        <a:t>Despesas essenciais</a:t>
                      </a:r>
                    </a:p>
                  </a:txBody>
                  <a:tcPr marL="91440" marR="91440" marT="45720" marB="45720" anchor="ctr">
                    <a:solidFill>
                      <a:srgbClr val="14231E"/>
                    </a:solidFill>
                  </a:tcPr>
                </a:tc>
                <a:tc>
                  <a:txBody>
                    <a:bodyPr lIns="133350" tIns="76200" rIns="114300" bIns="76200">
                      <a:noAutofit/>
                    </a:bodyPr>
                    <a:lstStyle/>
                    <a:p>
                      <a:pPr algn="l">
                        <a:buNone/>
                      </a:pPr>
                      <a:r>
                        <a:rPr sz="1875" b="0">
                          <a:solidFill>
                            <a:srgbClr val="FFFFFF"/>
                          </a:solidFill>
                          <a:latin typeface="Arial"/>
                          <a:ea typeface="Arial"/>
                          <a:cs typeface="Arial"/>
                        </a:rPr>
                        <a:t>R$ 2.100</a:t>
                      </a:r>
                    </a:p>
                  </a:txBody>
                  <a:tcPr marL="91440" marR="91440" marT="45720" marB="45720" anchor="ctr">
                    <a:solidFill>
                      <a:srgbClr val="14231E"/>
                    </a:solidFill>
                  </a:tcPr>
                </a:tc>
                <a:tc>
                  <a:txBody>
                    <a:bodyPr lIns="133350" tIns="76200" rIns="114300" bIns="76200">
                      <a:noAutofit/>
                    </a:bodyPr>
                    <a:lstStyle/>
                    <a:p>
                      <a:pPr algn="l">
                        <a:buNone/>
                      </a:pPr>
                      <a:r>
                        <a:rPr sz="1875" b="0">
                          <a:solidFill>
                            <a:srgbClr val="FFFFFF"/>
                          </a:solidFill>
                          <a:latin typeface="Arial"/>
                          <a:ea typeface="Arial"/>
                          <a:cs typeface="Arial"/>
                        </a:rPr>
                        <a:t>Antes da próxima renda</a:t>
                      </a:r>
                    </a:p>
                  </a:txBody>
                  <a:tcPr marL="91440" marR="91440" marT="45720" marB="45720" anchor="ctr">
                    <a:solidFill>
                      <a:srgbClr val="14231E"/>
                    </a:solidFill>
                  </a:tcPr>
                </a:tc>
              </a:tr>
              <a:tr h="554355">
                <a:tc>
                  <a:txBody>
                    <a:bodyPr lIns="133350" tIns="76200" rIns="114300" bIns="76200">
                      <a:noAutofit/>
                    </a:bodyPr>
                    <a:lstStyle/>
                    <a:p>
                      <a:pPr algn="l">
                        <a:buNone/>
                      </a:pPr>
                      <a:r>
                        <a:rPr sz="1875" b="0">
                          <a:solidFill>
                            <a:srgbClr val="FFFFFF"/>
                          </a:solidFill>
                          <a:latin typeface="Arial"/>
                          <a:ea typeface="Arial"/>
                          <a:cs typeface="Arial"/>
                        </a:rPr>
                        <a:t>Pagamento mínimo simulado</a:t>
                      </a:r>
                    </a:p>
                  </a:txBody>
                  <a:tcPr marL="91440" marR="91440" marT="45720" marB="45720" anchor="ctr">
                    <a:solidFill>
                      <a:srgbClr val="14231E"/>
                    </a:solidFill>
                  </a:tcPr>
                </a:tc>
                <a:tc>
                  <a:txBody>
                    <a:bodyPr lIns="133350" tIns="76200" rIns="114300" bIns="76200">
                      <a:noAutofit/>
                    </a:bodyPr>
                    <a:lstStyle/>
                    <a:p>
                      <a:pPr algn="l">
                        <a:buNone/>
                      </a:pPr>
                      <a:r>
                        <a:rPr sz="1875" b="0">
                          <a:solidFill>
                            <a:srgbClr val="FFFFFF"/>
                          </a:solidFill>
                          <a:latin typeface="Arial"/>
                          <a:ea typeface="Arial"/>
                          <a:cs typeface="Arial"/>
                        </a:rPr>
                        <a:t>R$ 224</a:t>
                      </a:r>
                    </a:p>
                  </a:txBody>
                  <a:tcPr marL="91440" marR="91440" marT="45720" marB="45720" anchor="ctr">
                    <a:solidFill>
                      <a:srgbClr val="14231E"/>
                    </a:solidFill>
                  </a:tcPr>
                </a:tc>
                <a:tc>
                  <a:txBody>
                    <a:bodyPr lIns="133350" tIns="76200" rIns="114300" bIns="76200">
                      <a:noAutofit/>
                    </a:bodyPr>
                    <a:lstStyle/>
                    <a:p>
                      <a:pPr algn="l">
                        <a:buNone/>
                      </a:pPr>
                      <a:r>
                        <a:rPr sz="1875" b="0">
                          <a:solidFill>
                            <a:srgbClr val="FFFFFF"/>
                          </a:solidFill>
                          <a:latin typeface="Arial"/>
                          <a:ea typeface="Arial"/>
                          <a:cs typeface="Arial"/>
                        </a:rPr>
                        <a:t>Alternativa avaliada</a:t>
                      </a:r>
                    </a:p>
                  </a:txBody>
                  <a:tcPr marL="91440" marR="91440" marT="45720" marB="45720" anchor="ctr">
                    <a:solidFill>
                      <a:srgbClr val="14231E"/>
                    </a:solidFill>
                  </a:tcPr>
                </a:tc>
              </a:tr>
              <a:tr h="554355">
                <a:tc>
                  <a:txBody>
                    <a:bodyPr lIns="133350" tIns="76200" rIns="114300" bIns="76200">
                      <a:noAutofit/>
                    </a:bodyPr>
                    <a:lstStyle/>
                    <a:p>
                      <a:pPr algn="l">
                        <a:buNone/>
                      </a:pPr>
                      <a:r>
                        <a:rPr sz="1875" b="0">
                          <a:solidFill>
                            <a:srgbClr val="FFFFFF"/>
                          </a:solidFill>
                          <a:latin typeface="Arial"/>
                          <a:ea typeface="Arial"/>
                          <a:cs typeface="Arial"/>
                        </a:rPr>
                        <a:t>Saldo após compromissos</a:t>
                      </a:r>
                    </a:p>
                  </a:txBody>
                  <a:tcPr marL="91440" marR="91440" marT="45720" marB="45720" anchor="ctr">
                    <a:solidFill>
                      <a:srgbClr val="14231E"/>
                    </a:solidFill>
                  </a:tcPr>
                </a:tc>
                <a:tc>
                  <a:txBody>
                    <a:bodyPr lIns="133350" tIns="76200" rIns="114300" bIns="76200">
                      <a:noAutofit/>
                    </a:bodyPr>
                    <a:lstStyle/>
                    <a:p>
                      <a:pPr algn="l">
                        <a:buNone/>
                      </a:pPr>
                      <a:r>
                        <a:rPr sz="1875" b="0">
                          <a:solidFill>
                            <a:srgbClr val="FFFFFF"/>
                          </a:solidFill>
                          <a:latin typeface="Arial"/>
                          <a:ea typeface="Arial"/>
                          <a:cs typeface="Arial"/>
                        </a:rPr>
                        <a:t>−R$ 24</a:t>
                      </a:r>
                    </a:p>
                  </a:txBody>
                  <a:tcPr marL="91440" marR="91440" marT="45720" marB="45720" anchor="ctr">
                    <a:solidFill>
                      <a:srgbClr val="14231E"/>
                    </a:solidFill>
                  </a:tcPr>
                </a:tc>
                <a:tc>
                  <a:txBody>
                    <a:bodyPr lIns="133350" tIns="76200" rIns="114300" bIns="76200">
                      <a:noAutofit/>
                    </a:bodyPr>
                    <a:lstStyle/>
                    <a:p>
                      <a:pPr algn="l">
                        <a:buNone/>
                      </a:pPr>
                      <a:r>
                        <a:rPr sz="1875" b="0">
                          <a:solidFill>
                            <a:srgbClr val="FFFFFF"/>
                          </a:solidFill>
                          <a:latin typeface="Arial"/>
                          <a:ea typeface="Arial"/>
                          <a:cs typeface="Arial"/>
                        </a:rPr>
                        <a:t>Insuficiência projetada</a:t>
                      </a:r>
                    </a:p>
                  </a:txBody>
                  <a:tcPr marL="91440" marR="91440" marT="45720" marB="45720" anchor="ctr">
                    <a:solidFill>
                      <a:srgbClr val="14231E"/>
                    </a:solidFill>
                  </a:tcPr>
                </a:tc>
              </a:tr>
            </a:tbl>
          </a:graphicData>
        </a:graphic>
      </p:graphicFrame>
      <p:sp>
        <p:nvSpPr>
          <p:cNvPr id="4" name="R$ 4 mil">
            <a:extLst xmlns:a="http://schemas.openxmlformats.org/drawingml/2006/main">
              <a:ext uri="{FF2B5EF4-FFF2-40B4-BE49-F238E27FC236}">
                <a16:creationId xmlns:a16="http://schemas.microsoft.com/office/drawing/2014/main" id="{6F2F487C-9D03-4E8F-ACE0-D66E575F27CD}"/>
              </a:ext>
            </a:extLst>
          </p:cNvPr>
          <p:cNvSpPr>
            <a:spLocks xmlns:a="http://schemas.openxmlformats.org/drawingml/2006/main" noGrp="1"/>
          </p:cNvSpPr>
          <p:nvPr/>
        </p:nvSpPr>
        <p:spPr>
          <a:xfrm xmlns:a="http://schemas.openxmlformats.org/drawingml/2006/main">
            <a:off x="609600" y="5305425"/>
            <a:ext cx="314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ED7417"/>
                </a:solidFill>
                <a:latin typeface="Arial"/>
                <a:ea typeface="Arial"/>
                <a:cs typeface="Arial"/>
              </a:defRPr>
            </a:pPr>
            <a:r>
              <a:rPr sz="3000" b="1">
                <a:solidFill>
                  <a:srgbClr val="ED7417"/>
                </a:solidFill>
                <a:latin typeface="Arial"/>
                <a:ea typeface="Arial"/>
                <a:cs typeface="Arial"/>
              </a:rPr>
              <a:t>R$ 24</a:t>
            </a:r>
          </a:p>
        </p:txBody>
      </p:sp>
      <p:sp>
        <p:nvSpPr>
          <p:cNvPr id="5" name="de insuficiência máxima">
            <a:extLst xmlns:a="http://schemas.openxmlformats.org/drawingml/2006/main">
              <a:ext uri="{FF2B5EF4-FFF2-40B4-BE49-F238E27FC236}">
                <a16:creationId xmlns:a16="http://schemas.microsoft.com/office/drawing/2014/main" id="{5E626F42-A0A6-49CD-BD99-4D3A3639D6C9}"/>
              </a:ext>
            </a:extLst>
          </p:cNvPr>
          <p:cNvSpPr>
            <a:spLocks xmlns:a="http://schemas.openxmlformats.org/drawingml/2006/main" noGrp="1"/>
          </p:cNvSpPr>
          <p:nvPr/>
        </p:nvSpPr>
        <p:spPr>
          <a:xfrm xmlns:a="http://schemas.openxmlformats.org/drawingml/2006/main">
            <a:off x="609600" y="58388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CCD7D1"/>
                </a:solidFill>
                <a:latin typeface="Arial"/>
                <a:ea typeface="Arial"/>
                <a:cs typeface="Arial"/>
              </a:defRPr>
            </a:pPr>
            <a:r>
              <a:rPr sz="1725" b="0">
                <a:solidFill>
                  <a:srgbClr val="CCD7D1"/>
                </a:solidFill>
                <a:latin typeface="Arial"/>
                <a:ea typeface="Arial"/>
                <a:cs typeface="Arial"/>
              </a:rPr>
              <a:t>faltam para cobrir os compromissos</a:t>
            </a:r>
          </a:p>
        </p:txBody>
      </p:sp>
      <p:sp>
        <p:nvSpPr>
          <p:cNvPr id="6" name="R$ 6 mil">
            <a:extLst xmlns:a="http://schemas.openxmlformats.org/drawingml/2006/main">
              <a:ext uri="{FF2B5EF4-FFF2-40B4-BE49-F238E27FC236}">
                <a16:creationId xmlns:a16="http://schemas.microsoft.com/office/drawing/2014/main" id="{3764A2C9-E409-4ECD-8C65-8B092D6F1D71}"/>
              </a:ext>
            </a:extLst>
          </p:cNvPr>
          <p:cNvSpPr>
            <a:spLocks xmlns:a="http://schemas.openxmlformats.org/drawingml/2006/main" noGrp="1"/>
          </p:cNvSpPr>
          <p:nvPr/>
        </p:nvSpPr>
        <p:spPr>
          <a:xfrm xmlns:a="http://schemas.openxmlformats.org/drawingml/2006/main">
            <a:off x="6686550" y="5305425"/>
            <a:ext cx="3619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ED7417"/>
                </a:solidFill>
                <a:latin typeface="Arial"/>
                <a:ea typeface="Arial"/>
                <a:cs typeface="Arial"/>
              </a:defRPr>
            </a:pPr>
            <a:r>
              <a:rPr sz="3000" b="1">
                <a:solidFill>
                  <a:srgbClr val="ED7417"/>
                </a:solidFill>
                <a:latin typeface="Arial"/>
                <a:ea typeface="Arial"/>
                <a:cs typeface="Arial"/>
              </a:rPr>
              <a:t>R$ 124</a:t>
            </a:r>
          </a:p>
        </p:txBody>
      </p:sp>
      <p:sp>
        <p:nvSpPr>
          <p:cNvPr id="7" name="para manter o piso de R$ 2 mil">
            <a:extLst xmlns:a="http://schemas.openxmlformats.org/drawingml/2006/main">
              <a:ext uri="{FF2B5EF4-FFF2-40B4-BE49-F238E27FC236}">
                <a16:creationId xmlns:a16="http://schemas.microsoft.com/office/drawing/2014/main" id="{B9123E22-EC2B-40CA-8234-801971B92E47}"/>
              </a:ext>
            </a:extLst>
          </p:cNvPr>
          <p:cNvSpPr>
            <a:spLocks xmlns:a="http://schemas.openxmlformats.org/drawingml/2006/main" noGrp="1"/>
          </p:cNvSpPr>
          <p:nvPr/>
        </p:nvSpPr>
        <p:spPr>
          <a:xfrm xmlns:a="http://schemas.openxmlformats.org/drawingml/2006/main">
            <a:off x="6686550" y="5838825"/>
            <a:ext cx="4791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CCD7D1"/>
                </a:solidFill>
                <a:latin typeface="Arial"/>
                <a:ea typeface="Arial"/>
                <a:cs typeface="Arial"/>
              </a:defRPr>
            </a:pPr>
            <a:r>
              <a:rPr sz="1725" b="0">
                <a:solidFill>
                  <a:srgbClr val="CCD7D1"/>
                </a:solidFill>
                <a:latin typeface="Arial"/>
                <a:ea typeface="Arial"/>
                <a:cs typeface="Arial"/>
              </a:rPr>
              <a:t>faltam para preservar também R$ 100</a:t>
            </a:r>
          </a:p>
        </p:txBody>
      </p:sp>
      <p:sp>
        <p:nvSpPr>
          <p:cNvPr id="8" name="Valores negativos indicam insuficiência projetada. Não representam limite de crédito dispo">
            <a:extLst xmlns:a="http://schemas.openxmlformats.org/drawingml/2006/main">
              <a:ext uri="{FF2B5EF4-FFF2-40B4-BE49-F238E27FC236}">
                <a16:creationId xmlns:a16="http://schemas.microsoft.com/office/drawing/2014/main" id="{E71A2D00-4475-4B83-BD9C-956AD3CD412D}"/>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CD7D1"/>
                </a:solidFill>
                <a:latin typeface="Arial"/>
                <a:ea typeface="Arial"/>
                <a:cs typeface="Arial"/>
              </a:defRPr>
            </a:pPr>
            <a:r>
              <a:rPr sz="1275" b="0">
                <a:solidFill>
                  <a:srgbClr val="CCD7D1"/>
                </a:solidFill>
                <a:latin typeface="Arial"/>
                <a:ea typeface="Arial"/>
                <a:cs typeface="Arial"/>
              </a:rPr>
              <a:t>A alternativa não pode receber um selo de adequação. Rever dados ou consultar condições disponíveis.</a:t>
            </a:r>
          </a:p>
        </p:txBody>
      </p:sp>
      <p:sp>
        <p:nvSpPr>
          <p:cNvPr id="9" name="09">
            <a:extLst xmlns:a="http://schemas.openxmlformats.org/drawingml/2006/main">
              <a:ext uri="{FF2B5EF4-FFF2-40B4-BE49-F238E27FC236}">
                <a16:creationId xmlns:a16="http://schemas.microsoft.com/office/drawing/2014/main" id="{71620BD5-29D4-4BA4-A08E-1768B96432B0}"/>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CCD7D1"/>
                </a:solidFill>
                <a:latin typeface="Arial"/>
                <a:ea typeface="Arial"/>
                <a:cs typeface="Arial"/>
              </a:defRPr>
            </a:pPr>
            <a:r>
              <a:rPr sz="1275" b="0">
                <a:solidFill>
                  <a:srgbClr val="CCD7D1"/>
                </a:solidFill>
                <a:latin typeface="Arial"/>
                <a:ea typeface="Arial"/>
                <a:cs typeface="Arial"/>
              </a:rPr>
              <a:t>09</a:t>
            </a:r>
          </a:p>
        </p:txBody>
      </p:sp>
    </p:spTree>
    <p:extLst>
      <p:ext uri="{BB962C8B-B14F-4D97-AF65-F5344CB8AC3E}">
        <p14:creationId xmlns:p14="http://schemas.microsoft.com/office/powerpoint/2010/main" val="594313694"/>
      </p:ext>
    </p:extLst>
  </p:cSld>
</p:sld>
</file>

<file path=ppt/slides/slide10.xml><?xml version="1.0" encoding="utf-8"?>
<p:sld xmlns:p="http://schemas.openxmlformats.org/presentationml/2006/main">
  <p:cSld>
    <p:bg>
      <p:bgPr>
        <a:solidFill xmlns:a="http://schemas.openxmlformats.org/drawingml/2006/main">
          <a:srgbClr val="F6F5EE"/>
        </a:solidFill>
      </p:bgPr>
    </p:bg>
    <p:spTree>
      <p:nvGrpSpPr>
        <p:cNvPr id="1" name=""/>
        <p:cNvGrpSpPr/>
        <p:nvPr/>
      </p:nvGrpSpPr>
      <p:grpSpPr>
        <a:xfrm xmlns:a="http://schemas.openxmlformats.org/drawingml/2006/main"/>
      </p:grpSpPr>
      <p:sp>
        <p:nvSpPr>
          <p:cNvPr id="19" name="Colaboração que a equipe pode demonstrar">
            <a:extLst xmlns:a="http://schemas.openxmlformats.org/drawingml/2006/main">
              <a:ext uri="{FF2B5EF4-FFF2-40B4-BE49-F238E27FC236}">
                <a16:creationId xmlns:a16="http://schemas.microsoft.com/office/drawing/2014/main" id="{12DE0504-3C62-40CA-858E-CB781BC1451E}"/>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72520"/>
                </a:solidFill>
                <a:latin typeface="Arial"/>
                <a:ea typeface="Arial"/>
                <a:cs typeface="Arial"/>
              </a:defRPr>
            </a:pPr>
            <a:r>
              <a:rPr sz="3300" b="1">
                <a:solidFill>
                  <a:srgbClr val="172520"/>
                </a:solidFill>
                <a:latin typeface="Arial"/>
                <a:ea typeface="Arial"/>
                <a:cs typeface="Arial"/>
              </a:rPr>
              <a:t>Uma informação nova muda a orientação</a:t>
            </a:r>
          </a:p>
        </p:txBody>
      </p:sp>
      <p:sp>
        <p:nvSpPr>
          <p:cNvPr id="2" name="01">
            <a:extLst xmlns:a="http://schemas.openxmlformats.org/drawingml/2006/main">
              <a:ext uri="{FF2B5EF4-FFF2-40B4-BE49-F238E27FC236}">
                <a16:creationId xmlns:a16="http://schemas.microsoft.com/office/drawing/2014/main" id="{27DE329A-8A50-4B80-B493-D8E78D5DE01A}"/>
              </a:ext>
            </a:extLst>
          </p:cNvPr>
          <p:cNvSpPr>
            <a:spLocks xmlns:a="http://schemas.openxmlformats.org/drawingml/2006/main" noGrp="1"/>
          </p:cNvSpPr>
          <p:nvPr/>
        </p:nvSpPr>
        <p:spPr>
          <a:xfrm xmlns:a="http://schemas.openxmlformats.org/drawingml/2006/main">
            <a:off x="609600" y="167640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ED7417"/>
                </a:solidFill>
                <a:latin typeface="Arial"/>
                <a:ea typeface="Arial"/>
                <a:cs typeface="Arial"/>
              </a:defRPr>
            </a:pPr>
            <a:r>
              <a:rPr sz="2400" b="1">
                <a:solidFill>
                  <a:srgbClr val="ED7417"/>
                </a:solidFill>
                <a:latin typeface="Arial"/>
                <a:ea typeface="Arial"/>
                <a:cs typeface="Arial"/>
              </a:rPr>
              <a:t>01</a:t>
            </a:r>
          </a:p>
        </p:txBody>
      </p:sp>
      <p:sp>
        <p:nvSpPr>
          <p:cNvPr id="3" name="Negócio PJ">
            <a:extLst xmlns:a="http://schemas.openxmlformats.org/drawingml/2006/main">
              <a:ext uri="{FF2B5EF4-FFF2-40B4-BE49-F238E27FC236}">
                <a16:creationId xmlns:a16="http://schemas.microsoft.com/office/drawing/2014/main" id="{57587339-281E-4AC0-BF5D-D8DCA1D2A34E}"/>
              </a:ext>
            </a:extLst>
          </p:cNvPr>
          <p:cNvSpPr>
            <a:spLocks xmlns:a="http://schemas.openxmlformats.org/drawingml/2006/main" noGrp="1"/>
          </p:cNvSpPr>
          <p:nvPr/>
        </p:nvSpPr>
        <p:spPr>
          <a:xfrm xmlns:a="http://schemas.openxmlformats.org/drawingml/2006/main">
            <a:off x="1419225" y="1676400"/>
            <a:ext cx="3600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86F68"/>
                </a:solidFill>
                <a:latin typeface="Arial"/>
                <a:ea typeface="Arial"/>
                <a:cs typeface="Arial"/>
              </a:defRPr>
            </a:pPr>
            <a:r>
              <a:rPr sz="1950" b="1">
                <a:solidFill>
                  <a:srgbClr val="086F68"/>
                </a:solidFill>
                <a:latin typeface="Arial"/>
                <a:ea typeface="Arial"/>
                <a:cs typeface="Arial"/>
              </a:rPr>
              <a:t>Contexto e relacionamento</a:t>
            </a:r>
          </a:p>
        </p:txBody>
      </p:sp>
      <p:sp>
        <p:nvSpPr>
          <p:cNvPr id="4" name="Recebível mudou para D+12. A folha vence antes.">
            <a:extLst xmlns:a="http://schemas.openxmlformats.org/drawingml/2006/main">
              <a:ext uri="{FF2B5EF4-FFF2-40B4-BE49-F238E27FC236}">
                <a16:creationId xmlns:a16="http://schemas.microsoft.com/office/drawing/2014/main" id="{6B83CCC5-DEE2-4A1B-94AF-AF3CD563DF47}"/>
              </a:ext>
            </a:extLst>
          </p:cNvPr>
          <p:cNvSpPr>
            <a:spLocks xmlns:a="http://schemas.openxmlformats.org/drawingml/2006/main" noGrp="1"/>
          </p:cNvSpPr>
          <p:nvPr/>
        </p:nvSpPr>
        <p:spPr>
          <a:xfrm xmlns:a="http://schemas.openxmlformats.org/drawingml/2006/main">
            <a:off x="5334000" y="16764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2520"/>
                </a:solidFill>
                <a:latin typeface="Arial"/>
                <a:ea typeface="Arial"/>
                <a:cs typeface="Arial"/>
              </a:defRPr>
            </a:pPr>
            <a:r>
              <a:rPr sz="1950" b="0">
                <a:solidFill>
                  <a:srgbClr val="172520"/>
                </a:solidFill>
                <a:latin typeface="Arial"/>
                <a:ea typeface="Arial"/>
                <a:cs typeface="Arial"/>
              </a:rPr>
              <a:t>Cliente informa R$ 500 de despesa. O contexto passa à versão 2.</a:t>
            </a:r>
          </a:p>
        </p:txBody>
      </p:sp>
      <p:sp>
        <p:nvSpPr>
          <p:cNvPr id="5" name="02">
            <a:extLst xmlns:a="http://schemas.openxmlformats.org/drawingml/2006/main">
              <a:ext uri="{FF2B5EF4-FFF2-40B4-BE49-F238E27FC236}">
                <a16:creationId xmlns:a16="http://schemas.microsoft.com/office/drawing/2014/main" id="{407DD01B-ACF6-4B14-8177-3A4B9FE2F1A1}"/>
              </a:ext>
            </a:extLst>
          </p:cNvPr>
          <p:cNvSpPr>
            <a:spLocks xmlns:a="http://schemas.openxmlformats.org/drawingml/2006/main" noGrp="1"/>
          </p:cNvSpPr>
          <p:nvPr/>
        </p:nvSpPr>
        <p:spPr>
          <a:xfrm xmlns:a="http://schemas.openxmlformats.org/drawingml/2006/main">
            <a:off x="609600" y="250507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ED7417"/>
                </a:solidFill>
                <a:latin typeface="Arial"/>
                <a:ea typeface="Arial"/>
                <a:cs typeface="Arial"/>
              </a:defRPr>
            </a:pPr>
            <a:r>
              <a:rPr sz="2400" b="1">
                <a:solidFill>
                  <a:srgbClr val="ED7417"/>
                </a:solidFill>
                <a:latin typeface="Arial"/>
                <a:ea typeface="Arial"/>
                <a:cs typeface="Arial"/>
              </a:rPr>
              <a:t>02</a:t>
            </a:r>
          </a:p>
        </p:txBody>
      </p:sp>
      <p:sp>
        <p:nvSpPr>
          <p:cNvPr id="6" name="Conta e liquidez">
            <a:extLst xmlns:a="http://schemas.openxmlformats.org/drawingml/2006/main">
              <a:ext uri="{FF2B5EF4-FFF2-40B4-BE49-F238E27FC236}">
                <a16:creationId xmlns:a16="http://schemas.microsoft.com/office/drawing/2014/main" id="{5906DEF4-893E-4562-916E-0ADC35D2B125}"/>
              </a:ext>
            </a:extLst>
          </p:cNvPr>
          <p:cNvSpPr>
            <a:spLocks xmlns:a="http://schemas.openxmlformats.org/drawingml/2006/main" noGrp="1"/>
          </p:cNvSpPr>
          <p:nvPr/>
        </p:nvSpPr>
        <p:spPr>
          <a:xfrm xmlns:a="http://schemas.openxmlformats.org/drawingml/2006/main">
            <a:off x="1419225" y="2505075"/>
            <a:ext cx="3600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86F68"/>
                </a:solidFill>
                <a:latin typeface="Arial"/>
                <a:ea typeface="Arial"/>
                <a:cs typeface="Arial"/>
              </a:defRPr>
            </a:pPr>
            <a:r>
              <a:rPr sz="1950" b="1">
                <a:solidFill>
                  <a:srgbClr val="086F68"/>
                </a:solidFill>
                <a:latin typeface="Arial"/>
                <a:ea typeface="Arial"/>
                <a:cs typeface="Arial"/>
              </a:rPr>
              <a:t>Conta e liquidez</a:t>
            </a:r>
          </a:p>
        </p:txBody>
      </p:sp>
      <p:sp>
        <p:nvSpPr>
          <p:cNvPr id="7" name="Faltariam R$ 4 mil em D+10 para cobrir os pagamentos.">
            <a:extLst xmlns:a="http://schemas.openxmlformats.org/drawingml/2006/main">
              <a:ext uri="{FF2B5EF4-FFF2-40B4-BE49-F238E27FC236}">
                <a16:creationId xmlns:a16="http://schemas.microsoft.com/office/drawing/2014/main" id="{F239B64D-C078-4D56-B2F0-74F0B35C42CB}"/>
              </a:ext>
            </a:extLst>
          </p:cNvPr>
          <p:cNvSpPr>
            <a:spLocks xmlns:a="http://schemas.openxmlformats.org/drawingml/2006/main" noGrp="1"/>
          </p:cNvSpPr>
          <p:nvPr/>
        </p:nvSpPr>
        <p:spPr>
          <a:xfrm xmlns:a="http://schemas.openxmlformats.org/drawingml/2006/main">
            <a:off x="5334000" y="25050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2520"/>
                </a:solidFill>
                <a:latin typeface="Arial"/>
                <a:ea typeface="Arial"/>
                <a:cs typeface="Arial"/>
              </a:defRPr>
            </a:pPr>
            <a:r>
              <a:rPr sz="1950" b="0">
                <a:solidFill>
                  <a:srgbClr val="172520"/>
                </a:solidFill>
                <a:latin typeface="Arial"/>
                <a:ea typeface="Arial"/>
                <a:cs typeface="Arial"/>
              </a:rPr>
              <a:t>A capacidade calculada cai de R$ 3.400 para R$ 2.900.</a:t>
            </a:r>
          </a:p>
        </p:txBody>
      </p:sp>
      <p:sp>
        <p:nvSpPr>
          <p:cNvPr id="8" name="03">
            <a:extLst xmlns:a="http://schemas.openxmlformats.org/drawingml/2006/main">
              <a:ext uri="{FF2B5EF4-FFF2-40B4-BE49-F238E27FC236}">
                <a16:creationId xmlns:a16="http://schemas.microsoft.com/office/drawing/2014/main" id="{7BC17707-F6C5-4F32-8CCB-7430AFED5F61}"/>
              </a:ext>
            </a:extLst>
          </p:cNvPr>
          <p:cNvSpPr>
            <a:spLocks xmlns:a="http://schemas.openxmlformats.org/drawingml/2006/main" noGrp="1"/>
          </p:cNvSpPr>
          <p:nvPr/>
        </p:nvSpPr>
        <p:spPr>
          <a:xfrm xmlns:a="http://schemas.openxmlformats.org/drawingml/2006/main">
            <a:off x="609600" y="33337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ED7417"/>
                </a:solidFill>
                <a:latin typeface="Arial"/>
                <a:ea typeface="Arial"/>
                <a:cs typeface="Arial"/>
              </a:defRPr>
            </a:pPr>
            <a:r>
              <a:rPr sz="2400" b="1">
                <a:solidFill>
                  <a:srgbClr val="ED7417"/>
                </a:solidFill>
                <a:latin typeface="Arial"/>
                <a:ea typeface="Arial"/>
                <a:cs typeface="Arial"/>
              </a:rPr>
              <a:t>03</a:t>
            </a:r>
          </a:p>
        </p:txBody>
      </p:sp>
      <p:sp>
        <p:nvSpPr>
          <p:cNvPr id="9" name="Compromissos e crédito">
            <a:extLst xmlns:a="http://schemas.openxmlformats.org/drawingml/2006/main">
              <a:ext uri="{FF2B5EF4-FFF2-40B4-BE49-F238E27FC236}">
                <a16:creationId xmlns:a16="http://schemas.microsoft.com/office/drawing/2014/main" id="{529036D4-FB79-4FD5-A496-99312A57A1A7}"/>
              </a:ext>
            </a:extLst>
          </p:cNvPr>
          <p:cNvSpPr>
            <a:spLocks xmlns:a="http://schemas.openxmlformats.org/drawingml/2006/main" noGrp="1"/>
          </p:cNvSpPr>
          <p:nvPr/>
        </p:nvSpPr>
        <p:spPr>
          <a:xfrm xmlns:a="http://schemas.openxmlformats.org/drawingml/2006/main">
            <a:off x="1419225" y="3333750"/>
            <a:ext cx="3600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86F68"/>
                </a:solidFill>
                <a:latin typeface="Arial"/>
                <a:ea typeface="Arial"/>
                <a:cs typeface="Arial"/>
              </a:defRPr>
            </a:pPr>
            <a:r>
              <a:rPr sz="1950" b="1">
                <a:solidFill>
                  <a:srgbClr val="086F68"/>
                </a:solidFill>
                <a:latin typeface="Arial"/>
                <a:ea typeface="Arial"/>
                <a:cs typeface="Arial"/>
              </a:rPr>
              <a:t>Compromissos e alternativas</a:t>
            </a:r>
          </a:p>
        </p:txBody>
      </p:sp>
      <p:sp>
        <p:nvSpPr>
          <p:cNvPr id="10" name="Quais condições estão disponíveis para comparar?">
            <a:extLst xmlns:a="http://schemas.openxmlformats.org/drawingml/2006/main">
              <a:ext uri="{FF2B5EF4-FFF2-40B4-BE49-F238E27FC236}">
                <a16:creationId xmlns:a16="http://schemas.microsoft.com/office/drawing/2014/main" id="{B77312E9-75E6-4955-B1AF-6D7EEAB7EE92}"/>
              </a:ext>
            </a:extLst>
          </p:cNvPr>
          <p:cNvSpPr>
            <a:spLocks xmlns:a="http://schemas.openxmlformats.org/drawingml/2006/main" noGrp="1"/>
          </p:cNvSpPr>
          <p:nvPr/>
        </p:nvSpPr>
        <p:spPr>
          <a:xfrm xmlns:a="http://schemas.openxmlformats.org/drawingml/2006/main">
            <a:off x="5334000" y="333375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2520"/>
                </a:solidFill>
                <a:latin typeface="Arial"/>
                <a:ea typeface="Arial"/>
                <a:cs typeface="Arial"/>
              </a:defRPr>
            </a:pPr>
            <a:r>
              <a:rPr sz="1950" b="0">
                <a:solidFill>
                  <a:srgbClr val="172520"/>
                </a:solidFill>
                <a:latin typeface="Arial"/>
                <a:ea typeface="Arial"/>
                <a:cs typeface="Arial"/>
              </a:rPr>
              <a:t>Reavalia as opções e pede condições ainda desconhecidas.</a:t>
            </a:r>
          </a:p>
        </p:txBody>
      </p:sp>
      <p:sp>
        <p:nvSpPr>
          <p:cNvPr id="11" name="04">
            <a:extLst xmlns:a="http://schemas.openxmlformats.org/drawingml/2006/main">
              <a:ext uri="{FF2B5EF4-FFF2-40B4-BE49-F238E27FC236}">
                <a16:creationId xmlns:a16="http://schemas.microsoft.com/office/drawing/2014/main" id="{122217B1-01CE-4821-9A93-662096D20B07}"/>
              </a:ext>
            </a:extLst>
          </p:cNvPr>
          <p:cNvSpPr>
            <a:spLocks xmlns:a="http://schemas.openxmlformats.org/drawingml/2006/main" noGrp="1"/>
          </p:cNvSpPr>
          <p:nvPr/>
        </p:nvSpPr>
        <p:spPr>
          <a:xfrm xmlns:a="http://schemas.openxmlformats.org/drawingml/2006/main">
            <a:off x="609600" y="416242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ED7417"/>
                </a:solidFill>
                <a:latin typeface="Arial"/>
                <a:ea typeface="Arial"/>
                <a:cs typeface="Arial"/>
              </a:defRPr>
            </a:pPr>
            <a:r>
              <a:rPr sz="2400" b="1">
                <a:solidFill>
                  <a:srgbClr val="ED7417"/>
                </a:solidFill>
                <a:latin typeface="Arial"/>
                <a:ea typeface="Arial"/>
                <a:cs typeface="Arial"/>
              </a:rPr>
              <a:t>04</a:t>
            </a:r>
          </a:p>
        </p:txBody>
      </p:sp>
      <p:sp>
        <p:nvSpPr>
          <p:cNvPr id="12" name="Revisão e evidências">
            <a:extLst xmlns:a="http://schemas.openxmlformats.org/drawingml/2006/main">
              <a:ext uri="{FF2B5EF4-FFF2-40B4-BE49-F238E27FC236}">
                <a16:creationId xmlns:a16="http://schemas.microsoft.com/office/drawing/2014/main" id="{63D3D990-2DFD-4896-9871-4388082AD15D}"/>
              </a:ext>
            </a:extLst>
          </p:cNvPr>
          <p:cNvSpPr>
            <a:spLocks xmlns:a="http://schemas.openxmlformats.org/drawingml/2006/main" noGrp="1"/>
          </p:cNvSpPr>
          <p:nvPr/>
        </p:nvSpPr>
        <p:spPr>
          <a:xfrm xmlns:a="http://schemas.openxmlformats.org/drawingml/2006/main">
            <a:off x="1419225" y="4162425"/>
            <a:ext cx="3600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86F68"/>
                </a:solidFill>
                <a:latin typeface="Arial"/>
                <a:ea typeface="Arial"/>
                <a:cs typeface="Arial"/>
              </a:defRPr>
            </a:pPr>
            <a:r>
              <a:rPr sz="1950" b="1">
                <a:solidFill>
                  <a:srgbClr val="086F68"/>
                </a:solidFill>
                <a:latin typeface="Arial"/>
                <a:ea typeface="Arial"/>
                <a:cs typeface="Arial"/>
              </a:rPr>
              <a:t>Revisão e evidências</a:t>
            </a:r>
          </a:p>
        </p:txBody>
      </p:sp>
      <p:sp>
        <p:nvSpPr>
          <p:cNvPr id="13" name="A orientação anterior usa a data antiga. Revisão necessária.">
            <a:extLst xmlns:a="http://schemas.openxmlformats.org/drawingml/2006/main">
              <a:ext uri="{FF2B5EF4-FFF2-40B4-BE49-F238E27FC236}">
                <a16:creationId xmlns:a16="http://schemas.microsoft.com/office/drawing/2014/main" id="{3FB52799-5897-4C58-8321-A35FBCC55E8D}"/>
              </a:ext>
            </a:extLst>
          </p:cNvPr>
          <p:cNvSpPr>
            <a:spLocks xmlns:a="http://schemas.openxmlformats.org/drawingml/2006/main" noGrp="1"/>
          </p:cNvSpPr>
          <p:nvPr/>
        </p:nvSpPr>
        <p:spPr>
          <a:xfrm xmlns:a="http://schemas.openxmlformats.org/drawingml/2006/main">
            <a:off x="5334000" y="41624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2520"/>
                </a:solidFill>
                <a:latin typeface="Arial"/>
                <a:ea typeface="Arial"/>
                <a:cs typeface="Arial"/>
              </a:defRPr>
            </a:pPr>
            <a:r>
              <a:rPr sz="1950" b="0">
                <a:solidFill>
                  <a:srgbClr val="172520"/>
                </a:solidFill>
                <a:latin typeface="Arial"/>
                <a:ea typeface="Arial"/>
                <a:cs typeface="Arial"/>
              </a:rPr>
              <a:t>A resposta anterior usa a versão 1. A orientação precisa mudar.</a:t>
            </a:r>
          </a:p>
        </p:txBody>
      </p:sp>
      <p:sp>
        <p:nvSpPr>
          <p:cNvPr id="14" name="05">
            <a:extLst xmlns:a="http://schemas.openxmlformats.org/drawingml/2006/main">
              <a:ext uri="{FF2B5EF4-FFF2-40B4-BE49-F238E27FC236}">
                <a16:creationId xmlns:a16="http://schemas.microsoft.com/office/drawing/2014/main" id="{8F73DA9E-BC64-4949-865B-DC8E9CA13519}"/>
              </a:ext>
            </a:extLst>
          </p:cNvPr>
          <p:cNvSpPr>
            <a:spLocks xmlns:a="http://schemas.openxmlformats.org/drawingml/2006/main" noGrp="1"/>
          </p:cNvSpPr>
          <p:nvPr/>
        </p:nvSpPr>
        <p:spPr>
          <a:xfrm xmlns:a="http://schemas.openxmlformats.org/drawingml/2006/main">
            <a:off x="609600" y="499110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ED7417"/>
                </a:solidFill>
                <a:latin typeface="Arial"/>
                <a:ea typeface="Arial"/>
                <a:cs typeface="Arial"/>
              </a:defRPr>
            </a:pPr>
            <a:r>
              <a:rPr sz="2400" b="1">
                <a:solidFill>
                  <a:srgbClr val="ED7417"/>
                </a:solidFill>
                <a:latin typeface="Arial"/>
                <a:ea typeface="Arial"/>
                <a:cs typeface="Arial"/>
              </a:rPr>
              <a:t>05</a:t>
            </a:r>
          </a:p>
        </p:txBody>
      </p:sp>
      <p:sp>
        <p:nvSpPr>
          <p:cNvPr id="15" name="Contexto e relacionamento">
            <a:extLst xmlns:a="http://schemas.openxmlformats.org/drawingml/2006/main">
              <a:ext uri="{FF2B5EF4-FFF2-40B4-BE49-F238E27FC236}">
                <a16:creationId xmlns:a16="http://schemas.microsoft.com/office/drawing/2014/main" id="{E3941B3A-7A76-4664-8F12-2A6B510A84C1}"/>
              </a:ext>
            </a:extLst>
          </p:cNvPr>
          <p:cNvSpPr>
            <a:spLocks xmlns:a="http://schemas.openxmlformats.org/drawingml/2006/main" noGrp="1"/>
          </p:cNvSpPr>
          <p:nvPr/>
        </p:nvSpPr>
        <p:spPr>
          <a:xfrm xmlns:a="http://schemas.openxmlformats.org/drawingml/2006/main">
            <a:off x="1419225" y="4991100"/>
            <a:ext cx="3600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86F68"/>
                </a:solidFill>
                <a:latin typeface="Arial"/>
                <a:ea typeface="Arial"/>
                <a:cs typeface="Arial"/>
              </a:defRPr>
            </a:pPr>
            <a:r>
              <a:rPr sz="1950" b="1">
                <a:solidFill>
                  <a:srgbClr val="086F68"/>
                </a:solidFill>
                <a:latin typeface="Arial"/>
                <a:ea typeface="Arial"/>
                <a:cs typeface="Arial"/>
              </a:rPr>
              <a:t>Contexto e relacionamento</a:t>
            </a:r>
          </a:p>
        </p:txBody>
      </p:sp>
      <p:sp>
        <p:nvSpPr>
          <p:cNvPr id="16" name="Explica a mudança e pergunta sobre os dados pendentes.">
            <a:extLst xmlns:a="http://schemas.openxmlformats.org/drawingml/2006/main">
              <a:ext uri="{FF2B5EF4-FFF2-40B4-BE49-F238E27FC236}">
                <a16:creationId xmlns:a16="http://schemas.microsoft.com/office/drawing/2014/main" id="{F540B00D-8807-4820-B2C9-0E174EFF1F2C}"/>
              </a:ext>
            </a:extLst>
          </p:cNvPr>
          <p:cNvSpPr>
            <a:spLocks xmlns:a="http://schemas.openxmlformats.org/drawingml/2006/main" noGrp="1"/>
          </p:cNvSpPr>
          <p:nvPr/>
        </p:nvSpPr>
        <p:spPr>
          <a:xfrm xmlns:a="http://schemas.openxmlformats.org/drawingml/2006/main">
            <a:off x="5334000" y="49911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2520"/>
                </a:solidFill>
                <a:latin typeface="Arial"/>
                <a:ea typeface="Arial"/>
                <a:cs typeface="Arial"/>
              </a:defRPr>
            </a:pPr>
            <a:r>
              <a:rPr sz="1950" b="0">
                <a:solidFill>
                  <a:srgbClr val="172520"/>
                </a:solidFill>
                <a:latin typeface="Arial"/>
                <a:ea typeface="Arial"/>
                <a:cs typeface="Arial"/>
              </a:rPr>
              <a:t>Explica as consequências e verifica a compreensão.</a:t>
            </a:r>
          </a:p>
        </p:txBody>
      </p:sp>
      <p:sp>
        <p:nvSpPr>
          <p:cNvPr id="17" name="Roteiro proposto. Na demo, o painel deve mostrar eventos e chamadas que realmente ocorrera">
            <a:extLst xmlns:a="http://schemas.openxmlformats.org/drawingml/2006/main">
              <a:ext uri="{FF2B5EF4-FFF2-40B4-BE49-F238E27FC236}">
                <a16:creationId xmlns:a16="http://schemas.microsoft.com/office/drawing/2014/main" id="{7DE0727D-7DC3-466E-9086-E670EC37BADF}"/>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B6862"/>
                </a:solidFill>
                <a:latin typeface="Arial"/>
                <a:ea typeface="Arial"/>
                <a:cs typeface="Arial"/>
              </a:defRPr>
            </a:pPr>
            <a:r>
              <a:rPr sz="1275" b="0">
                <a:solidFill>
                  <a:srgbClr val="5B6862"/>
                </a:solidFill>
                <a:latin typeface="Arial"/>
                <a:ea typeface="Arial"/>
                <a:cs typeface="Arial"/>
              </a:rPr>
              <a:t>Roteiro proposto. Na demo, o painel deve mostrar eventos e chamadas que realmente ocorreram.</a:t>
            </a:r>
          </a:p>
        </p:txBody>
      </p:sp>
      <p:sp>
        <p:nvSpPr>
          <p:cNvPr id="18" name="10">
            <a:extLst xmlns:a="http://schemas.openxmlformats.org/drawingml/2006/main">
              <a:ext uri="{FF2B5EF4-FFF2-40B4-BE49-F238E27FC236}">
                <a16:creationId xmlns:a16="http://schemas.microsoft.com/office/drawing/2014/main" id="{FC0B0E4C-24EB-4308-B87E-042C1F86D40F}"/>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B6862"/>
                </a:solidFill>
                <a:latin typeface="Arial"/>
                <a:ea typeface="Arial"/>
                <a:cs typeface="Arial"/>
              </a:defRPr>
            </a:pPr>
            <a:r>
              <a:rPr sz="1275" b="0">
                <a:solidFill>
                  <a:srgbClr val="5B6862"/>
                </a:solidFill>
                <a:latin typeface="Arial"/>
                <a:ea typeface="Arial"/>
                <a:cs typeface="Arial"/>
              </a:rPr>
              <a:t>10</a:t>
            </a:r>
          </a:p>
        </p:txBody>
      </p:sp>
    </p:spTree>
    <p:extLst>
      <p:ext uri="{BB962C8B-B14F-4D97-AF65-F5344CB8AC3E}">
        <p14:creationId xmlns:p14="http://schemas.microsoft.com/office/powerpoint/2010/main" val="799555464"/>
      </p:ext>
    </p:extLst>
  </p:cSld>
</p:sld>
</file>

<file path=ppt/slides/slide11.xml><?xml version="1.0" encoding="utf-8"?>
<p:sld xmlns:p="http://schemas.openxmlformats.org/presentationml/2006/main">
  <p:cSld>
    <p:bg>
      <p:bgPr>
        <a:solidFill xmlns:a="http://schemas.openxmlformats.org/drawingml/2006/main">
          <a:srgbClr val="F6F5EE"/>
        </a:solidFill>
      </p:bgPr>
    </p:bg>
    <p:spTree>
      <p:nvGrpSpPr>
        <p:cNvPr id="1" name=""/>
        <p:cNvGrpSpPr/>
        <p:nvPr/>
      </p:nvGrpSpPr>
      <p:grpSpPr>
        <a:xfrm xmlns:a="http://schemas.openxmlformats.org/drawingml/2006/main"/>
      </p:grpSpPr>
      <p:sp>
        <p:nvSpPr>
          <p:cNvPr id="9" name="Uma orientação que o cliente consegue conferir">
            <a:extLst xmlns:a="http://schemas.openxmlformats.org/drawingml/2006/main">
              <a:ext uri="{FF2B5EF4-FFF2-40B4-BE49-F238E27FC236}">
                <a16:creationId xmlns:a16="http://schemas.microsoft.com/office/drawing/2014/main" id="{7C9B8C82-A022-48D2-855A-52084B7B3D6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72520"/>
                </a:solidFill>
                <a:latin typeface="Arial"/>
                <a:ea typeface="Arial"/>
                <a:cs typeface="Arial"/>
              </a:defRPr>
            </a:pPr>
            <a:r>
              <a:rPr sz="3300" b="1">
                <a:solidFill>
                  <a:srgbClr val="172520"/>
                </a:solidFill>
                <a:latin typeface="Arial"/>
                <a:ea typeface="Arial"/>
                <a:cs typeface="Arial"/>
              </a:rPr>
              <a:t>A conversa termina em uma decisão compreendida</a:t>
            </a:r>
          </a:p>
        </p:txBody>
      </p:sp>
      <p:sp>
        <p:nvSpPr>
          <p:cNvPr id="2" name="“Com o atraso informado, faltariam R$ 4 mil em D+10 para cobrir os pagamentos previstos. P">
            <a:extLst xmlns:a="http://schemas.openxmlformats.org/drawingml/2006/main">
              <a:ext uri="{FF2B5EF4-FFF2-40B4-BE49-F238E27FC236}">
                <a16:creationId xmlns:a16="http://schemas.microsoft.com/office/drawing/2014/main" id="{77AAB0EC-EA79-4118-8263-622B979D368D}"/>
              </a:ext>
            </a:extLst>
          </p:cNvPr>
          <p:cNvSpPr>
            <a:spLocks xmlns:a="http://schemas.openxmlformats.org/drawingml/2006/main" noGrp="1"/>
          </p:cNvSpPr>
          <p:nvPr/>
        </p:nvSpPr>
        <p:spPr>
          <a:xfrm xmlns:a="http://schemas.openxmlformats.org/drawingml/2006/main">
            <a:off x="628650" y="1685925"/>
            <a:ext cx="10858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172520"/>
                </a:solidFill>
                <a:latin typeface="Arial"/>
                <a:ea typeface="Arial"/>
                <a:cs typeface="Arial"/>
              </a:defRPr>
            </a:pPr>
            <a:r>
              <a:rPr sz="2700" b="1">
                <a:solidFill>
                  <a:srgbClr val="172520"/>
                </a:solidFill>
                <a:latin typeface="Arial"/>
                <a:ea typeface="Arial"/>
                <a:cs typeface="Arial"/>
              </a:rPr>
              <a:t>“Vamos considerar suas despesas até a próxima renda</a:t>
            </a:r>
          </a:p>
          <a:p xmlns:a="http://schemas.openxmlformats.org/drawingml/2006/main">
            <a:pPr algn="l">
              <a:buNone/>
              <a:defRPr sz="2700" b="1">
                <a:solidFill>
                  <a:srgbClr val="172520"/>
                </a:solidFill>
                <a:latin typeface="Arial"/>
                <a:ea typeface="Arial"/>
                <a:cs typeface="Arial"/>
              </a:defRPr>
            </a:pPr>
            <a:r>
              <a:rPr sz="2700" b="1">
                <a:solidFill>
                  <a:srgbClr val="172520"/>
                </a:solidFill>
                <a:latin typeface="Arial"/>
                <a:ea typeface="Arial"/>
                <a:cs typeface="Arial"/>
              </a:rPr>
              <a:t>e comparar quanto sobra, o custo total</a:t>
            </a:r>
          </a:p>
          <a:p xmlns:a="http://schemas.openxmlformats.org/drawingml/2006/main">
            <a:pPr algn="l">
              <a:buNone/>
              <a:defRPr sz="2700" b="1">
                <a:solidFill>
                  <a:srgbClr val="172520"/>
                </a:solidFill>
                <a:latin typeface="Arial"/>
                <a:ea typeface="Arial"/>
                <a:cs typeface="Arial"/>
              </a:defRPr>
            </a:pPr>
            <a:r>
              <a:rPr sz="2700" b="1">
                <a:solidFill>
                  <a:srgbClr val="172520"/>
                </a:solidFill>
                <a:latin typeface="Arial"/>
                <a:ea typeface="Arial"/>
                <a:cs typeface="Arial"/>
              </a:rPr>
              <a:t>e a dívida que permanece em cada alternativa.”</a:t>
            </a:r>
          </a:p>
        </p:txBody>
      </p:sp>
      <p:sp>
        <p:nvSpPr>
          <p:cNvPr id="3" name="Próxima informação necessária">
            <a:extLst xmlns:a="http://schemas.openxmlformats.org/drawingml/2006/main">
              <a:ext uri="{FF2B5EF4-FFF2-40B4-BE49-F238E27FC236}">
                <a16:creationId xmlns:a16="http://schemas.microsoft.com/office/drawing/2014/main" id="{02379235-751B-4A70-B45F-8FB383AA837B}"/>
              </a:ext>
            </a:extLst>
          </p:cNvPr>
          <p:cNvSpPr>
            <a:spLocks xmlns:a="http://schemas.openxmlformats.org/drawingml/2006/main" noGrp="1"/>
          </p:cNvSpPr>
          <p:nvPr/>
        </p:nvSpPr>
        <p:spPr>
          <a:xfrm xmlns:a="http://schemas.openxmlformats.org/drawingml/2006/main">
            <a:off x="628650" y="4086225"/>
            <a:ext cx="5276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ED7417"/>
                </a:solidFill>
                <a:latin typeface="Arial"/>
                <a:ea typeface="Arial"/>
                <a:cs typeface="Arial"/>
              </a:defRPr>
            </a:pPr>
            <a:r>
              <a:rPr sz="2175" b="1">
                <a:solidFill>
                  <a:srgbClr val="ED7417"/>
                </a:solidFill>
                <a:latin typeface="Arial"/>
                <a:ea typeface="Arial"/>
                <a:cs typeface="Arial"/>
              </a:rPr>
              <a:t>Comparação antes da escolha</a:t>
            </a:r>
          </a:p>
        </p:txBody>
      </p:sp>
      <p:sp>
        <p:nvSpPr>
          <p:cNvPr id="4" name="Confirmar datas e condições de alternativas disponíveis para comparar o impacto no caixa e">
            <a:extLst xmlns:a="http://schemas.openxmlformats.org/drawingml/2006/main">
              <a:ext uri="{FF2B5EF4-FFF2-40B4-BE49-F238E27FC236}">
                <a16:creationId xmlns:a16="http://schemas.microsoft.com/office/drawing/2014/main" id="{FE194CF5-B3E1-494C-B10E-DE1F4F4A21AC}"/>
              </a:ext>
            </a:extLst>
          </p:cNvPr>
          <p:cNvSpPr>
            <a:spLocks xmlns:a="http://schemas.openxmlformats.org/drawingml/2006/main" noGrp="1"/>
          </p:cNvSpPr>
          <p:nvPr/>
        </p:nvSpPr>
        <p:spPr>
          <a:xfrm xmlns:a="http://schemas.openxmlformats.org/drawingml/2006/main">
            <a:off x="628650" y="4743450"/>
            <a:ext cx="52387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72520"/>
                </a:solidFill>
                <a:latin typeface="Arial"/>
                <a:ea typeface="Arial"/>
                <a:cs typeface="Arial"/>
              </a:defRPr>
            </a:pPr>
            <a:r>
              <a:rPr sz="2025" b="0">
                <a:solidFill>
                  <a:srgbClr val="172520"/>
                </a:solidFill>
                <a:latin typeface="Arial"/>
                <a:ea typeface="Arial"/>
                <a:cs typeface="Arial"/>
              </a:rPr>
              <a:t>Mostrar opções com condições</a:t>
            </a:r>
          </a:p>
          <a:p xmlns:a="http://schemas.openxmlformats.org/drawingml/2006/main">
            <a:pPr algn="l">
              <a:buNone/>
              <a:defRPr sz="2025" b="0">
                <a:solidFill>
                  <a:srgbClr val="172520"/>
                </a:solidFill>
                <a:latin typeface="Arial"/>
                <a:ea typeface="Arial"/>
                <a:cs typeface="Arial"/>
              </a:defRPr>
            </a:pPr>
            <a:r>
              <a:rPr sz="2025" b="0">
                <a:solidFill>
                  <a:srgbClr val="172520"/>
                </a:solidFill>
                <a:latin typeface="Arial"/>
                <a:ea typeface="Arial"/>
                <a:cs typeface="Arial"/>
              </a:rPr>
              <a:t>confirmadas, datas e consequências.</a:t>
            </a:r>
          </a:p>
          <a:p xmlns:a="http://schemas.openxmlformats.org/drawingml/2006/main">
            <a:pPr algn="l">
              <a:buNone/>
              <a:defRPr sz="2025" b="0">
                <a:solidFill>
                  <a:srgbClr val="172520"/>
                </a:solidFill>
                <a:latin typeface="Arial"/>
                <a:ea typeface="Arial"/>
                <a:cs typeface="Arial"/>
              </a:defRPr>
            </a:pPr>
            <a:r>
              <a:rPr sz="2025" b="0">
                <a:solidFill>
                  <a:srgbClr val="172520"/>
                </a:solidFill>
                <a:latin typeface="Arial"/>
                <a:ea typeface="Arial"/>
                <a:cs typeface="Arial"/>
              </a:rPr>
              <a:t>O cliente escolhe o próximo passo.</a:t>
            </a:r>
          </a:p>
        </p:txBody>
      </p:sp>
      <p:sp>
        <p:nvSpPr>
          <p:cNvPr id="5" name="Verificação de compreensão">
            <a:extLst xmlns:a="http://schemas.openxmlformats.org/drawingml/2006/main">
              <a:ext uri="{FF2B5EF4-FFF2-40B4-BE49-F238E27FC236}">
                <a16:creationId xmlns:a16="http://schemas.microsoft.com/office/drawing/2014/main" id="{CC1C2EB4-268C-4D8D-ACAA-726EEF6589E0}"/>
              </a:ext>
            </a:extLst>
          </p:cNvPr>
          <p:cNvSpPr>
            <a:spLocks xmlns:a="http://schemas.openxmlformats.org/drawingml/2006/main" noGrp="1"/>
          </p:cNvSpPr>
          <p:nvPr/>
        </p:nvSpPr>
        <p:spPr>
          <a:xfrm xmlns:a="http://schemas.openxmlformats.org/drawingml/2006/main">
            <a:off x="6591300" y="4086225"/>
            <a:ext cx="4933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86F68"/>
                </a:solidFill>
                <a:latin typeface="Arial"/>
                <a:ea typeface="Arial"/>
                <a:cs typeface="Arial"/>
              </a:defRPr>
            </a:pPr>
            <a:r>
              <a:rPr sz="2175" b="1">
                <a:solidFill>
                  <a:srgbClr val="086F68"/>
                </a:solidFill>
                <a:latin typeface="Arial"/>
                <a:ea typeface="Arial"/>
                <a:cs typeface="Arial"/>
              </a:rPr>
              <a:t>Verificação de compreensão</a:t>
            </a:r>
          </a:p>
        </p:txBody>
      </p:sp>
      <p:sp>
        <p:nvSpPr>
          <p:cNvPr id="6" name="“O saldo de R$ 8 mil em D+12 garante que a folha de D+7 esteja coberta?” A resposta permit">
            <a:extLst xmlns:a="http://schemas.openxmlformats.org/drawingml/2006/main">
              <a:ext uri="{FF2B5EF4-FFF2-40B4-BE49-F238E27FC236}">
                <a16:creationId xmlns:a16="http://schemas.microsoft.com/office/drawing/2014/main" id="{E93B5F42-C593-496C-946A-394B54C97E6E}"/>
              </a:ext>
            </a:extLst>
          </p:cNvPr>
          <p:cNvSpPr>
            <a:spLocks xmlns:a="http://schemas.openxmlformats.org/drawingml/2006/main" noGrp="1"/>
          </p:cNvSpPr>
          <p:nvPr/>
        </p:nvSpPr>
        <p:spPr>
          <a:xfrm xmlns:a="http://schemas.openxmlformats.org/drawingml/2006/main">
            <a:off x="6591300" y="4743450"/>
            <a:ext cx="49339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2520"/>
                </a:solidFill>
                <a:latin typeface="Arial"/>
                <a:ea typeface="Arial"/>
                <a:cs typeface="Arial"/>
              </a:defRPr>
            </a:pPr>
            <a:r>
              <a:rPr sz="1950" b="0">
                <a:solidFill>
                  <a:srgbClr val="172520"/>
                </a:solidFill>
                <a:latin typeface="Arial"/>
                <a:ea typeface="Arial"/>
                <a:cs typeface="Arial"/>
              </a:rPr>
              <a:t>“Se pagar apenas parte da fatura,</a:t>
            </a:r>
          </a:p>
          <a:p xmlns:a="http://schemas.openxmlformats.org/drawingml/2006/main">
            <a:pPr algn="l">
              <a:buNone/>
              <a:defRPr sz="1950" b="0">
                <a:solidFill>
                  <a:srgbClr val="172520"/>
                </a:solidFill>
                <a:latin typeface="Arial"/>
                <a:ea typeface="Arial"/>
                <a:cs typeface="Arial"/>
              </a:defRPr>
            </a:pPr>
            <a:r>
              <a:rPr sz="1950" b="0">
                <a:solidFill>
                  <a:srgbClr val="172520"/>
                </a:solidFill>
                <a:latin typeface="Arial"/>
                <a:ea typeface="Arial"/>
                <a:cs typeface="Arial"/>
              </a:rPr>
              <a:t>o que continua devido depois?”</a:t>
            </a:r>
          </a:p>
          <a:p xmlns:a="http://schemas.openxmlformats.org/drawingml/2006/main">
            <a:pPr algn="l">
              <a:buNone/>
              <a:defRPr sz="1950" b="0">
                <a:solidFill>
                  <a:srgbClr val="172520"/>
                </a:solidFill>
                <a:latin typeface="Arial"/>
                <a:ea typeface="Arial"/>
                <a:cs typeface="Arial"/>
              </a:defRPr>
            </a:pPr>
            <a:r>
              <a:rPr sz="1950" b="0">
                <a:solidFill>
                  <a:srgbClr val="172520"/>
                </a:solidFill>
                <a:latin typeface="Arial"/>
                <a:ea typeface="Arial"/>
                <a:cs typeface="Arial"/>
              </a:rPr>
              <a:t>A resposta orienta a explicação.</a:t>
            </a:r>
          </a:p>
        </p:txBody>
      </p:sp>
      <p:sp>
        <p:nvSpPr>
          <p:cNvPr id="7" name="Exemplo de resposta. A decisão permanece com o cliente. A demo não contrata produtos nem m">
            <a:extLst xmlns:a="http://schemas.openxmlformats.org/drawingml/2006/main">
              <a:ext uri="{FF2B5EF4-FFF2-40B4-BE49-F238E27FC236}">
                <a16:creationId xmlns:a16="http://schemas.microsoft.com/office/drawing/2014/main" id="{83A8E19D-5597-4059-8EC2-F8BF483D5F8C}"/>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B6862"/>
                </a:solidFill>
                <a:latin typeface="Arial"/>
                <a:ea typeface="Arial"/>
                <a:cs typeface="Arial"/>
              </a:defRPr>
            </a:pPr>
            <a:r>
              <a:rPr sz="1275" b="0">
                <a:solidFill>
                  <a:srgbClr val="5B6862"/>
                </a:solidFill>
                <a:latin typeface="Arial"/>
                <a:ea typeface="Arial"/>
                <a:cs typeface="Arial"/>
              </a:rPr>
              <a:t>Registrar a escolha como intenção. Um clique em “Ficou claro” não comprova compreensão.</a:t>
            </a:r>
          </a:p>
        </p:txBody>
      </p:sp>
      <p:sp>
        <p:nvSpPr>
          <p:cNvPr id="8" name="11">
            <a:extLst xmlns:a="http://schemas.openxmlformats.org/drawingml/2006/main">
              <a:ext uri="{FF2B5EF4-FFF2-40B4-BE49-F238E27FC236}">
                <a16:creationId xmlns:a16="http://schemas.microsoft.com/office/drawing/2014/main" id="{7B6CFB69-3951-4E0D-9086-81FB2B0162FE}"/>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B6862"/>
                </a:solidFill>
                <a:latin typeface="Arial"/>
                <a:ea typeface="Arial"/>
                <a:cs typeface="Arial"/>
              </a:defRPr>
            </a:pPr>
            <a:r>
              <a:rPr sz="1275" b="0">
                <a:solidFill>
                  <a:srgbClr val="5B6862"/>
                </a:solidFill>
                <a:latin typeface="Arial"/>
                <a:ea typeface="Arial"/>
                <a:cs typeface="Arial"/>
              </a:rPr>
              <a:t>11</a:t>
            </a:r>
          </a:p>
        </p:txBody>
      </p:sp>
    </p:spTree>
    <p:extLst>
      <p:ext uri="{BB962C8B-B14F-4D97-AF65-F5344CB8AC3E}">
        <p14:creationId xmlns:p14="http://schemas.microsoft.com/office/powerpoint/2010/main" val="1313969796"/>
      </p:ext>
    </p:extLst>
  </p:cSld>
</p:sld>
</file>

<file path=ppt/slides/slide12.xml><?xml version="1.0" encoding="utf-8"?>
<p:sld xmlns:p="http://schemas.openxmlformats.org/presentationml/2006/main">
  <p:cSld>
    <p:bg>
      <p:bgPr>
        <a:solidFill xmlns:a="http://schemas.openxmlformats.org/drawingml/2006/main">
          <a:srgbClr val="14231E"/>
        </a:solidFill>
      </p:bgPr>
    </p:bg>
    <p:spTree>
      <p:nvGrpSpPr>
        <p:cNvPr id="1" name=""/>
        <p:cNvGrpSpPr/>
        <p:nvPr/>
      </p:nvGrpSpPr>
      <p:grpSpPr>
        <a:xfrm xmlns:a="http://schemas.openxmlformats.org/drawingml/2006/main"/>
      </p:grpSpPr>
      <p:sp>
        <p:nvSpPr>
          <p:cNvPr id="14" name="Contextos separados e dados na mesma versão">
            <a:extLst xmlns:a="http://schemas.openxmlformats.org/drawingml/2006/main">
              <a:ext uri="{FF2B5EF4-FFF2-40B4-BE49-F238E27FC236}">
                <a16:creationId xmlns:a16="http://schemas.microsoft.com/office/drawing/2014/main" id="{E438E6BC-B65F-4FFF-8334-4FE51F7F528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Dados com origem e resultados na mesma versão</a:t>
            </a:r>
          </a:p>
        </p:txBody>
      </p:sp>
      <p:sp>
        <p:nvSpPr>
          <p:cNvPr id="2" name="Pessoa física Renda, essenciais e compromissos">
            <a:extLst xmlns:a="http://schemas.openxmlformats.org/drawingml/2006/main">
              <a:ext uri="{FF2B5EF4-FFF2-40B4-BE49-F238E27FC236}">
                <a16:creationId xmlns:a16="http://schemas.microsoft.com/office/drawing/2014/main" id="{4DD68CF6-4B8D-4EC9-90E1-A7526416F766}"/>
              </a:ext>
            </a:extLst>
          </p:cNvPr>
          <p:cNvSpPr>
            <a:spLocks xmlns:a="http://schemas.openxmlformats.org/drawingml/2006/main" noGrp="1"/>
          </p:cNvSpPr>
          <p:nvPr/>
        </p:nvSpPr>
        <p:spPr>
          <a:xfrm xmlns:a="http://schemas.openxmlformats.org/drawingml/2006/main">
            <a:off x="609600" y="1704975"/>
            <a:ext cx="5048250" cy="1162050"/>
          </a:xfrm>
          <a:prstGeom xmlns:a="http://schemas.openxmlformats.org/drawingml/2006/main" prst="rect">
            <a:avLst/>
          </a:prstGeom>
          <a:solidFill xmlns:a="http://schemas.openxmlformats.org/drawingml/2006/main">
            <a:srgbClr val="294337"/>
          </a:solidFill>
          <a:ln xmlns:a="http://schemas.openxmlformats.org/drawingml/2006/main" w="12383">
            <a:solidFill>
              <a:srgbClr val="638676"/>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rPr sz="2175" b="1">
                <a:solidFill>
                  <a:srgbClr val="FFFFFF"/>
                </a:solidFill>
                <a:latin typeface="Arial"/>
                <a:ea typeface="Arial"/>
                <a:cs typeface="Arial"/>
              </a:rPr>
              <a:t>Histórico disponível</a:t>
            </a:r>
          </a:p>
          <a:p xmlns:a="http://schemas.openxmlformats.org/drawingml/2006/main">
            <a:pPr algn="ctr">
              <a:buNone/>
              <a:defRPr sz="2175" b="1">
                <a:solidFill>
                  <a:srgbClr val="FFFFFF"/>
                </a:solidFill>
                <a:latin typeface="Arial"/>
                <a:ea typeface="Arial"/>
                <a:cs typeface="Arial"/>
              </a:defRPr>
            </a:pPr>
            <a:r>
              <a:rPr sz="2175" b="1">
                <a:solidFill>
                  <a:srgbClr val="FFFFFF"/>
                </a:solidFill>
                <a:latin typeface="Arial"/>
                <a:ea typeface="Arial"/>
                <a:cs typeface="Arial"/>
              </a:rPr>
              <a:t>Transações e saldos da base PF</a:t>
            </a:r>
          </a:p>
        </p:txBody>
      </p:sp>
      <p:sp>
        <p:nvSpPr>
          <p:cNvPr id="3" name="Pessoa jurídica Recebíveis e obrigações da empresa">
            <a:extLst xmlns:a="http://schemas.openxmlformats.org/drawingml/2006/main">
              <a:ext uri="{FF2B5EF4-FFF2-40B4-BE49-F238E27FC236}">
                <a16:creationId xmlns:a16="http://schemas.microsoft.com/office/drawing/2014/main" id="{0ECC15D3-CA6F-4AB4-9F38-7DE9644A184E}"/>
              </a:ext>
            </a:extLst>
          </p:cNvPr>
          <p:cNvSpPr>
            <a:spLocks xmlns:a="http://schemas.openxmlformats.org/drawingml/2006/main" noGrp="1"/>
          </p:cNvSpPr>
          <p:nvPr/>
        </p:nvSpPr>
        <p:spPr>
          <a:xfrm xmlns:a="http://schemas.openxmlformats.org/drawingml/2006/main">
            <a:off x="6534150" y="1704975"/>
            <a:ext cx="5048250" cy="1162050"/>
          </a:xfrm>
          <a:prstGeom xmlns:a="http://schemas.openxmlformats.org/drawingml/2006/main" prst="rect">
            <a:avLst/>
          </a:prstGeom>
          <a:solidFill xmlns:a="http://schemas.openxmlformats.org/drawingml/2006/main">
            <a:srgbClr val="294337"/>
          </a:solidFill>
          <a:ln xmlns:a="http://schemas.openxmlformats.org/drawingml/2006/main" w="12383">
            <a:solidFill>
              <a:srgbClr val="638676"/>
            </a:solidFill>
          </a:ln>
        </p:spPr>
        <p:txBody>
          <a:bodyPr xmlns:a="http://schemas.openxmlformats.org/drawingml/2006/main" wrap="square" lIns="123825" tIns="85725" rIns="123825" bIns="85725" anchor="ctr">
            <a:noAutofit/>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rPr sz="2175" b="1">
                <a:solidFill>
                  <a:srgbClr val="FFFFFF"/>
                </a:solidFill>
                <a:latin typeface="Arial"/>
                <a:ea typeface="Arial"/>
                <a:cs typeface="Arial"/>
              </a:rPr>
              <a:t>Contexto confirmado</a:t>
            </a:r>
          </a:p>
          <a:p xmlns:a="http://schemas.openxmlformats.org/drawingml/2006/main">
            <a:pPr algn="ctr">
              <a:buNone/>
              <a:defRPr sz="2175" b="1">
                <a:solidFill>
                  <a:srgbClr val="FFFFFF"/>
                </a:solidFill>
                <a:latin typeface="Arial"/>
                <a:ea typeface="Arial"/>
                <a:cs typeface="Arial"/>
              </a:defRPr>
            </a:pPr>
            <a:r>
              <a:rPr sz="2175" b="1">
                <a:solidFill>
                  <a:srgbClr val="FFFFFF"/>
                </a:solidFill>
                <a:latin typeface="Arial"/>
                <a:ea typeface="Arial"/>
                <a:cs typeface="Arial"/>
              </a:rPr>
              <a:t>Fatura, datas e despesas externas</a:t>
            </a:r>
          </a:p>
        </p:txBody>
      </p:sp>
      <p:sp>
        <p:nvSpPr>
          <p:cNvPr id="4" name="Acesso e titularidade próprios">
            <a:extLst xmlns:a="http://schemas.openxmlformats.org/drawingml/2006/main">
              <a:ext uri="{FF2B5EF4-FFF2-40B4-BE49-F238E27FC236}">
                <a16:creationId xmlns:a16="http://schemas.microsoft.com/office/drawing/2014/main" id="{E2363763-141E-4909-A4A0-A4A09AC498C5}"/>
              </a:ext>
            </a:extLst>
          </p:cNvPr>
          <p:cNvSpPr>
            <a:spLocks xmlns:a="http://schemas.openxmlformats.org/drawingml/2006/main" noGrp="1"/>
          </p:cNvSpPr>
          <p:nvPr/>
        </p:nvSpPr>
        <p:spPr>
          <a:xfrm xmlns:a="http://schemas.openxmlformats.org/drawingml/2006/main">
            <a:off x="647700" y="3095625"/>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E0C2"/>
                </a:solidFill>
                <a:latin typeface="Arial"/>
                <a:ea typeface="Arial"/>
                <a:cs typeface="Arial"/>
              </a:defRPr>
            </a:pPr>
            <a:r>
              <a:rPr sz="2025" b="1">
                <a:solidFill>
                  <a:srgbClr val="FFE0C2"/>
                </a:solidFill>
                <a:latin typeface="Arial"/>
                <a:ea typeface="Arial"/>
                <a:cs typeface="Arial"/>
              </a:rPr>
              <a:t>Dados observados no período disponível</a:t>
            </a:r>
          </a:p>
        </p:txBody>
      </p:sp>
      <p:sp>
        <p:nvSpPr>
          <p:cNvPr id="5" name="Acesso e representação próprios">
            <a:extLst xmlns:a="http://schemas.openxmlformats.org/drawingml/2006/main">
              <a:ext uri="{FF2B5EF4-FFF2-40B4-BE49-F238E27FC236}">
                <a16:creationId xmlns:a16="http://schemas.microsoft.com/office/drawing/2014/main" id="{1D377D4C-54B8-4164-BB62-5B9723DD58FF}"/>
              </a:ext>
            </a:extLst>
          </p:cNvPr>
          <p:cNvSpPr>
            <a:spLocks xmlns:a="http://schemas.openxmlformats.org/drawingml/2006/main" noGrp="1"/>
          </p:cNvSpPr>
          <p:nvPr/>
        </p:nvSpPr>
        <p:spPr>
          <a:xfrm xmlns:a="http://schemas.openxmlformats.org/drawingml/2006/main">
            <a:off x="6572250" y="3095625"/>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E0C2"/>
                </a:solidFill>
                <a:latin typeface="Arial"/>
                <a:ea typeface="Arial"/>
                <a:cs typeface="Arial"/>
              </a:defRPr>
            </a:pPr>
            <a:r>
              <a:rPr sz="2025" b="1">
                <a:solidFill>
                  <a:srgbClr val="FFE0C2"/>
                </a:solidFill>
                <a:latin typeface="Arial"/>
                <a:ea typeface="Arial"/>
                <a:cs typeface="Arial"/>
              </a:rPr>
              <a:t>Informações confirmadas pelo cliente</a:t>
            </a:r>
          </a:p>
        </p:txBody>
      </p:sp>
      <p:sp>
        <p:nvSpPr>
          <p:cNvPr id="6" name="Origem e data">
            <a:extLst xmlns:a="http://schemas.openxmlformats.org/drawingml/2006/main">
              <a:ext uri="{FF2B5EF4-FFF2-40B4-BE49-F238E27FC236}">
                <a16:creationId xmlns:a16="http://schemas.microsoft.com/office/drawing/2014/main" id="{7515ED53-FCAA-49A6-B1C2-9F6048C66720}"/>
              </a:ext>
            </a:extLst>
          </p:cNvPr>
          <p:cNvSpPr>
            <a:spLocks xmlns:a="http://schemas.openxmlformats.org/drawingml/2006/main" noGrp="1"/>
          </p:cNvSpPr>
          <p:nvPr/>
        </p:nvSpPr>
        <p:spPr>
          <a:xfrm xmlns:a="http://schemas.openxmlformats.org/drawingml/2006/main">
            <a:off x="619125" y="4181475"/>
            <a:ext cx="2867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ED7417"/>
                </a:solidFill>
                <a:latin typeface="Arial"/>
                <a:ea typeface="Arial"/>
                <a:cs typeface="Arial"/>
              </a:defRPr>
            </a:pPr>
            <a:r>
              <a:rPr sz="2325" b="1">
                <a:solidFill>
                  <a:srgbClr val="ED7417"/>
                </a:solidFill>
                <a:latin typeface="Arial"/>
                <a:ea typeface="Arial"/>
                <a:cs typeface="Arial"/>
              </a:rPr>
              <a:t>Origem e data</a:t>
            </a:r>
          </a:p>
        </p:txBody>
      </p:sp>
      <p:sp>
        <p:nvSpPr>
          <p:cNvPr id="7" name="Cada valor distingue histórico, informação do cliente e hipótese de simulação.">
            <a:extLst xmlns:a="http://schemas.openxmlformats.org/drawingml/2006/main">
              <a:ext uri="{FF2B5EF4-FFF2-40B4-BE49-F238E27FC236}">
                <a16:creationId xmlns:a16="http://schemas.microsoft.com/office/drawing/2014/main" id="{A7535401-BAD7-419C-964F-4F1D7E1FF49F}"/>
              </a:ext>
            </a:extLst>
          </p:cNvPr>
          <p:cNvSpPr>
            <a:spLocks xmlns:a="http://schemas.openxmlformats.org/drawingml/2006/main" noGrp="1"/>
          </p:cNvSpPr>
          <p:nvPr/>
        </p:nvSpPr>
        <p:spPr>
          <a:xfrm xmlns:a="http://schemas.openxmlformats.org/drawingml/2006/main">
            <a:off x="619125" y="4838700"/>
            <a:ext cx="3000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CCD7D1"/>
                </a:solidFill>
                <a:latin typeface="Arial"/>
                <a:ea typeface="Arial"/>
                <a:cs typeface="Arial"/>
              </a:defRPr>
            </a:pPr>
            <a:r>
              <a:rPr sz="1950" b="0">
                <a:solidFill>
                  <a:srgbClr val="CCD7D1"/>
                </a:solidFill>
                <a:latin typeface="Arial"/>
                <a:ea typeface="Arial"/>
                <a:cs typeface="Arial"/>
              </a:rPr>
              <a:t>Cada valor distingue histórico,</a:t>
            </a:r>
          </a:p>
          <a:p xmlns:a="http://schemas.openxmlformats.org/drawingml/2006/main">
            <a:pPr algn="l">
              <a:buNone/>
              <a:defRPr sz="1950" b="0">
                <a:solidFill>
                  <a:srgbClr val="CCD7D1"/>
                </a:solidFill>
                <a:latin typeface="Arial"/>
                <a:ea typeface="Arial"/>
                <a:cs typeface="Arial"/>
              </a:defRPr>
            </a:pPr>
            <a:r>
              <a:rPr sz="1950" b="0">
                <a:solidFill>
                  <a:srgbClr val="CCD7D1"/>
                </a:solidFill>
                <a:latin typeface="Arial"/>
                <a:ea typeface="Arial"/>
                <a:cs typeface="Arial"/>
              </a:rPr>
              <a:t>informação do cliente</a:t>
            </a:r>
          </a:p>
          <a:p xmlns:a="http://schemas.openxmlformats.org/drawingml/2006/main">
            <a:pPr algn="l">
              <a:buNone/>
              <a:defRPr sz="1950" b="0">
                <a:solidFill>
                  <a:srgbClr val="CCD7D1"/>
                </a:solidFill>
                <a:latin typeface="Arial"/>
                <a:ea typeface="Arial"/>
                <a:cs typeface="Arial"/>
              </a:defRPr>
            </a:pPr>
            <a:r>
              <a:rPr sz="1950" b="0">
                <a:solidFill>
                  <a:srgbClr val="CCD7D1"/>
                </a:solidFill>
                <a:latin typeface="Arial"/>
                <a:ea typeface="Arial"/>
                <a:cs typeface="Arial"/>
              </a:rPr>
              <a:t>e hipótese de simulação.</a:t>
            </a:r>
          </a:p>
        </p:txBody>
      </p:sp>
      <p:sp>
        <p:nvSpPr>
          <p:cNvPr id="8" name="Versão do contexto">
            <a:extLst xmlns:a="http://schemas.openxmlformats.org/drawingml/2006/main">
              <a:ext uri="{FF2B5EF4-FFF2-40B4-BE49-F238E27FC236}">
                <a16:creationId xmlns:a16="http://schemas.microsoft.com/office/drawing/2014/main" id="{C411C900-52BF-4B5D-90E5-C2E379B14CE2}"/>
              </a:ext>
            </a:extLst>
          </p:cNvPr>
          <p:cNvSpPr>
            <a:spLocks xmlns:a="http://schemas.openxmlformats.org/drawingml/2006/main" noGrp="1"/>
          </p:cNvSpPr>
          <p:nvPr/>
        </p:nvSpPr>
        <p:spPr>
          <a:xfrm xmlns:a="http://schemas.openxmlformats.org/drawingml/2006/main">
            <a:off x="4371975" y="4181475"/>
            <a:ext cx="3448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ED7417"/>
                </a:solidFill>
                <a:latin typeface="Arial"/>
                <a:ea typeface="Arial"/>
                <a:cs typeface="Arial"/>
              </a:defRPr>
            </a:pPr>
            <a:r>
              <a:rPr sz="2325" b="1">
                <a:solidFill>
                  <a:srgbClr val="ED7417"/>
                </a:solidFill>
                <a:latin typeface="Arial"/>
                <a:ea typeface="Arial"/>
                <a:cs typeface="Arial"/>
              </a:rPr>
              <a:t>Versão do contexto</a:t>
            </a:r>
          </a:p>
        </p:txBody>
      </p:sp>
      <p:sp>
        <p:nvSpPr>
          <p:cNvPr id="9" name="Informação nova invalida resultados antigos antes de uma nova orientação.">
            <a:extLst xmlns:a="http://schemas.openxmlformats.org/drawingml/2006/main">
              <a:ext uri="{FF2B5EF4-FFF2-40B4-BE49-F238E27FC236}">
                <a16:creationId xmlns:a16="http://schemas.microsoft.com/office/drawing/2014/main" id="{F0083D8D-875E-459D-A10D-BF853D888F45}"/>
              </a:ext>
            </a:extLst>
          </p:cNvPr>
          <p:cNvSpPr>
            <a:spLocks xmlns:a="http://schemas.openxmlformats.org/drawingml/2006/main" noGrp="1"/>
          </p:cNvSpPr>
          <p:nvPr/>
        </p:nvSpPr>
        <p:spPr>
          <a:xfrm xmlns:a="http://schemas.openxmlformats.org/drawingml/2006/main">
            <a:off x="4371975" y="48387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CCD7D1"/>
                </a:solidFill>
                <a:latin typeface="Arial"/>
                <a:ea typeface="Arial"/>
                <a:cs typeface="Arial"/>
              </a:defRPr>
            </a:pPr>
            <a:r>
              <a:rPr sz="1950" b="0">
                <a:solidFill>
                  <a:srgbClr val="CCD7D1"/>
                </a:solidFill>
                <a:latin typeface="Arial"/>
                <a:ea typeface="Arial"/>
                <a:cs typeface="Arial"/>
              </a:rPr>
              <a:t>Informação nova invalida</a:t>
            </a:r>
          </a:p>
          <a:p xmlns:a="http://schemas.openxmlformats.org/drawingml/2006/main">
            <a:pPr algn="l">
              <a:buNone/>
              <a:defRPr sz="1950" b="0">
                <a:solidFill>
                  <a:srgbClr val="CCD7D1"/>
                </a:solidFill>
                <a:latin typeface="Arial"/>
                <a:ea typeface="Arial"/>
                <a:cs typeface="Arial"/>
              </a:defRPr>
            </a:pPr>
            <a:r>
              <a:rPr sz="1950" b="0">
                <a:solidFill>
                  <a:srgbClr val="CCD7D1"/>
                </a:solidFill>
                <a:latin typeface="Arial"/>
                <a:ea typeface="Arial"/>
                <a:cs typeface="Arial"/>
              </a:rPr>
              <a:t>resultados antigos antes</a:t>
            </a:r>
          </a:p>
          <a:p xmlns:a="http://schemas.openxmlformats.org/drawingml/2006/main">
            <a:pPr algn="l">
              <a:buNone/>
              <a:defRPr sz="1950" b="0">
                <a:solidFill>
                  <a:srgbClr val="CCD7D1"/>
                </a:solidFill>
                <a:latin typeface="Arial"/>
                <a:ea typeface="Arial"/>
                <a:cs typeface="Arial"/>
              </a:defRPr>
            </a:pPr>
            <a:r>
              <a:rPr sz="1950" b="0">
                <a:solidFill>
                  <a:srgbClr val="CCD7D1"/>
                </a:solidFill>
                <a:latin typeface="Arial"/>
                <a:ea typeface="Arial"/>
                <a:cs typeface="Arial"/>
              </a:rPr>
              <a:t>de uma nova orientação.</a:t>
            </a:r>
          </a:p>
        </p:txBody>
      </p:sp>
      <p:sp>
        <p:nvSpPr>
          <p:cNvPr id="10" name="Regras externas">
            <a:extLst xmlns:a="http://schemas.openxmlformats.org/drawingml/2006/main">
              <a:ext uri="{FF2B5EF4-FFF2-40B4-BE49-F238E27FC236}">
                <a16:creationId xmlns:a16="http://schemas.microsoft.com/office/drawing/2014/main" id="{B8F01F7D-C0B5-44A4-8CE4-1E23B01D5A0C}"/>
              </a:ext>
            </a:extLst>
          </p:cNvPr>
          <p:cNvSpPr>
            <a:spLocks xmlns:a="http://schemas.openxmlformats.org/drawingml/2006/main" noGrp="1"/>
          </p:cNvSpPr>
          <p:nvPr/>
        </p:nvSpPr>
        <p:spPr>
          <a:xfrm xmlns:a="http://schemas.openxmlformats.org/drawingml/2006/main">
            <a:off x="8429625" y="4181475"/>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ED7417"/>
                </a:solidFill>
                <a:latin typeface="Arial"/>
                <a:ea typeface="Arial"/>
                <a:cs typeface="Arial"/>
              </a:defRPr>
            </a:pPr>
            <a:r>
              <a:rPr sz="2325" b="1">
                <a:solidFill>
                  <a:srgbClr val="ED7417"/>
                </a:solidFill>
                <a:latin typeface="Arial"/>
                <a:ea typeface="Arial"/>
                <a:cs typeface="Arial"/>
              </a:rPr>
              <a:t>Regras externas</a:t>
            </a:r>
          </a:p>
        </p:txBody>
      </p:sp>
      <p:sp>
        <p:nvSpPr>
          <p:cNvPr id="11" name="Cálculos e permissões limitam o que os agentes podem recomendar ou acessar.">
            <a:extLst xmlns:a="http://schemas.openxmlformats.org/drawingml/2006/main">
              <a:ext uri="{FF2B5EF4-FFF2-40B4-BE49-F238E27FC236}">
                <a16:creationId xmlns:a16="http://schemas.microsoft.com/office/drawing/2014/main" id="{F1B87A51-3FEB-47A6-A3C5-A10045723D1E}"/>
              </a:ext>
            </a:extLst>
          </p:cNvPr>
          <p:cNvSpPr>
            <a:spLocks xmlns:a="http://schemas.openxmlformats.org/drawingml/2006/main" noGrp="1"/>
          </p:cNvSpPr>
          <p:nvPr/>
        </p:nvSpPr>
        <p:spPr>
          <a:xfrm xmlns:a="http://schemas.openxmlformats.org/drawingml/2006/main">
            <a:off x="8429625" y="4838700"/>
            <a:ext cx="31527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CCD7D1"/>
                </a:solidFill>
                <a:latin typeface="Arial"/>
                <a:ea typeface="Arial"/>
                <a:cs typeface="Arial"/>
              </a:defRPr>
            </a:pPr>
            <a:r>
              <a:rPr sz="1950" b="0">
                <a:solidFill>
                  <a:srgbClr val="CCD7D1"/>
                </a:solidFill>
                <a:latin typeface="Arial"/>
                <a:ea typeface="Arial"/>
                <a:cs typeface="Arial"/>
              </a:rPr>
              <a:t>Cálculos e permissões</a:t>
            </a:r>
          </a:p>
          <a:p xmlns:a="http://schemas.openxmlformats.org/drawingml/2006/main">
            <a:pPr algn="l">
              <a:buNone/>
              <a:defRPr sz="1950" b="0">
                <a:solidFill>
                  <a:srgbClr val="CCD7D1"/>
                </a:solidFill>
                <a:latin typeface="Arial"/>
                <a:ea typeface="Arial"/>
                <a:cs typeface="Arial"/>
              </a:defRPr>
            </a:pPr>
            <a:r>
              <a:rPr sz="1950" b="0">
                <a:solidFill>
                  <a:srgbClr val="CCD7D1"/>
                </a:solidFill>
                <a:latin typeface="Arial"/>
                <a:ea typeface="Arial"/>
                <a:cs typeface="Arial"/>
              </a:rPr>
              <a:t>limitam o que os agentes</a:t>
            </a:r>
          </a:p>
          <a:p xmlns:a="http://schemas.openxmlformats.org/drawingml/2006/main">
            <a:pPr algn="l">
              <a:buNone/>
              <a:defRPr sz="1950" b="0">
                <a:solidFill>
                  <a:srgbClr val="CCD7D1"/>
                </a:solidFill>
                <a:latin typeface="Arial"/>
                <a:ea typeface="Arial"/>
                <a:cs typeface="Arial"/>
              </a:defRPr>
            </a:pPr>
            <a:r>
              <a:rPr sz="1950" b="0">
                <a:solidFill>
                  <a:srgbClr val="CCD7D1"/>
                </a:solidFill>
                <a:latin typeface="Arial"/>
                <a:ea typeface="Arial"/>
                <a:cs typeface="Arial"/>
              </a:rPr>
              <a:t>podem recomendar ou acessar.</a:t>
            </a:r>
          </a:p>
        </p:txBody>
      </p:sp>
      <p:sp>
        <p:nvSpPr>
          <p:cNvPr id="12" name="O caixa empresarial não se torna saldo pessoal. Qualquer conexão entre contextos exige inf">
            <a:extLst xmlns:a="http://schemas.openxmlformats.org/drawingml/2006/main">
              <a:ext uri="{FF2B5EF4-FFF2-40B4-BE49-F238E27FC236}">
                <a16:creationId xmlns:a16="http://schemas.microsoft.com/office/drawing/2014/main" id="{42972DC3-140B-46D1-80E1-D00E91D85300}"/>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CD7D1"/>
                </a:solidFill>
                <a:latin typeface="Arial"/>
                <a:ea typeface="Arial"/>
                <a:cs typeface="Arial"/>
              </a:defRPr>
            </a:pPr>
            <a:r>
              <a:rPr sz="1275" b="0">
                <a:solidFill>
                  <a:srgbClr val="CCD7D1"/>
                </a:solidFill>
                <a:latin typeface="Arial"/>
                <a:ea typeface="Arial"/>
                <a:cs typeface="Arial"/>
              </a:rPr>
              <a:t>Hipóteses permanecem identificadas. Acesso a dados depende da identidade validada fora do modelo.</a:t>
            </a:r>
          </a:p>
        </p:txBody>
      </p:sp>
      <p:sp>
        <p:nvSpPr>
          <p:cNvPr id="13" name="12">
            <a:extLst xmlns:a="http://schemas.openxmlformats.org/drawingml/2006/main">
              <a:ext uri="{FF2B5EF4-FFF2-40B4-BE49-F238E27FC236}">
                <a16:creationId xmlns:a16="http://schemas.microsoft.com/office/drawing/2014/main" id="{BB14F454-C7E6-429D-B2F2-8870F8E6CA75}"/>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CCD7D1"/>
                </a:solidFill>
                <a:latin typeface="Arial"/>
                <a:ea typeface="Arial"/>
                <a:cs typeface="Arial"/>
              </a:defRPr>
            </a:pPr>
            <a:r>
              <a:rPr sz="1275" b="0">
                <a:solidFill>
                  <a:srgbClr val="CCD7D1"/>
                </a:solidFill>
                <a:latin typeface="Arial"/>
                <a:ea typeface="Arial"/>
                <a:cs typeface="Arial"/>
              </a:rPr>
              <a:t>12</a:t>
            </a:r>
          </a:p>
        </p:txBody>
      </p:sp>
    </p:spTree>
    <p:extLst>
      <p:ext uri="{BB962C8B-B14F-4D97-AF65-F5344CB8AC3E}">
        <p14:creationId xmlns:p14="http://schemas.microsoft.com/office/powerpoint/2010/main" val="2067128884"/>
      </p:ext>
    </p:extLst>
  </p:cSld>
</p:sld>
</file>

<file path=ppt/slides/slide13.xml><?xml version="1.0" encoding="utf-8"?>
<p:sld xmlns:p="http://schemas.openxmlformats.org/presentationml/2006/main">
  <p:cSld>
    <p:bg>
      <p:bgPr>
        <a:solidFill xmlns:a="http://schemas.openxmlformats.org/drawingml/2006/main">
          <a:srgbClr val="F6F5EE"/>
        </a:solidFill>
      </p:bgPr>
    </p:bg>
    <p:spTree>
      <p:nvGrpSpPr>
        <p:cNvPr id="1" name=""/>
        <p:cNvGrpSpPr/>
        <p:nvPr/>
      </p:nvGrpSpPr>
      <p:grpSpPr>
        <a:xfrm xmlns:a="http://schemas.openxmlformats.org/drawingml/2006/main"/>
      </p:grpSpPr>
      <p:sp>
        <p:nvSpPr>
          <p:cNvPr id="7" name="Entrega do hackathon e expansão posterior">
            <a:extLst xmlns:a="http://schemas.openxmlformats.org/drawingml/2006/main">
              <a:ext uri="{FF2B5EF4-FFF2-40B4-BE49-F238E27FC236}">
                <a16:creationId xmlns:a16="http://schemas.microsoft.com/office/drawing/2014/main" id="{C09A37A3-792C-4557-B9E9-4DFA9F0F6C9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72520"/>
                </a:solidFill>
                <a:latin typeface="Arial"/>
                <a:ea typeface="Arial"/>
                <a:cs typeface="Arial"/>
              </a:defRPr>
            </a:pPr>
            <a:r>
              <a:rPr sz="3300" b="1">
                <a:solidFill>
                  <a:srgbClr val="172520"/>
                </a:solidFill>
                <a:latin typeface="Arial"/>
                <a:ea typeface="Arial"/>
                <a:cs typeface="Arial"/>
              </a:rPr>
              <a:t>PF no MVP, PJ na expansão</a:t>
            </a:r>
          </a:p>
        </p:txBody>
      </p:sp>
      <p:graphicFrame>
        <p:nvGraphicFramePr>
          <p:cNvPr id="10" name=""/>
          <p:cNvGraphicFramePr/>
          <p:nvPr/>
        </p:nvGraphicFramePr>
        <p:xfrm>
          <a:off xmlns:a="http://schemas.openxmlformats.org/drawingml/2006/main" x="609600" y="1695450"/>
          <a:ext xmlns:a="http://schemas.openxmlformats.org/drawingml/2006/main" cx="10972800" cy="3476625"/>
        </p:xfrm>
        <a:graphic xmlns:a="http://schemas.openxmlformats.org/drawingml/2006/main">
          <a:graphicData uri="http://schemas.openxmlformats.org/drawingml/2006/table">
            <a:tbl>
              <a:tblPr firstRow="1" bandRow="0"/>
              <a:tblGrid>
                <a:gridCol w="2333625"/>
                <a:gridCol w="4819650"/>
                <a:gridCol w="3819525"/>
              </a:tblGrid>
              <a:tr h="695325">
                <a:tc>
                  <a:txBody>
                    <a:bodyPr lIns="133350" tIns="76200" rIns="114300" bIns="76200">
                      <a:noAutofit/>
                    </a:bodyPr>
                    <a:lstStyle/>
                    <a:p>
                      <a:pPr algn="l">
                        <a:buNone/>
                      </a:pPr>
                      <a:r>
                        <a:rPr sz="1875" b="1">
                          <a:solidFill>
                            <a:srgbClr val="172520"/>
                          </a:solidFill>
                          <a:latin typeface="Arial"/>
                          <a:ea typeface="Arial"/>
                          <a:cs typeface="Arial"/>
                        </a:rPr>
                        <a:t>Frente</a:t>
                      </a:r>
                    </a:p>
                  </a:txBody>
                  <a:tcPr marL="91440" marR="91440" marT="45720" marB="45720" anchor="ctr">
                    <a:solidFill>
                      <a:srgbClr val="E3E9E1"/>
                    </a:solidFill>
                  </a:tcPr>
                </a:tc>
                <a:tc>
                  <a:txBody>
                    <a:bodyPr lIns="133350" tIns="76200" rIns="114300" bIns="76200">
                      <a:noAutofit/>
                    </a:bodyPr>
                    <a:lstStyle/>
                    <a:p>
                      <a:pPr algn="l">
                        <a:buNone/>
                      </a:pPr>
                      <a:r>
                        <a:rPr sz="1875" b="1">
                          <a:solidFill>
                            <a:srgbClr val="172520"/>
                          </a:solidFill>
                          <a:latin typeface="Arial"/>
                          <a:ea typeface="Arial"/>
                          <a:cs typeface="Arial"/>
                        </a:rPr>
                        <a:t>Entrega inicial</a:t>
                      </a:r>
                    </a:p>
                  </a:txBody>
                  <a:tcPr marL="91440" marR="91440" marT="45720" marB="45720" anchor="ctr">
                    <a:solidFill>
                      <a:srgbClr val="E3E9E1"/>
                    </a:solidFill>
                  </a:tcPr>
                </a:tc>
                <a:tc>
                  <a:txBody>
                    <a:bodyPr lIns="133350" tIns="76200" rIns="114300" bIns="76200">
                      <a:noAutofit/>
                    </a:bodyPr>
                    <a:lstStyle/>
                    <a:p>
                      <a:pPr algn="l">
                        <a:buNone/>
                      </a:pPr>
                      <a:r>
                        <a:rPr sz="1875" b="1">
                          <a:solidFill>
                            <a:srgbClr val="172520"/>
                          </a:solidFill>
                          <a:latin typeface="Arial"/>
                          <a:ea typeface="Arial"/>
                          <a:cs typeface="Arial"/>
                        </a:rPr>
                        <a:t>Expansão após validação</a:t>
                      </a:r>
                    </a:p>
                  </a:txBody>
                  <a:tcPr marL="91440" marR="91440" marT="45720" marB="45720" anchor="ctr">
                    <a:solidFill>
                      <a:srgbClr val="E3E9E1"/>
                    </a:solidFill>
                  </a:tcPr>
                </a:tc>
              </a:tr>
              <a:tr h="695325">
                <a:tc>
                  <a:txBody>
                    <a:bodyPr lIns="133350" tIns="76200" rIns="114300" bIns="76200">
                      <a:noAutofit/>
                    </a:bodyPr>
                    <a:lstStyle/>
                    <a:p>
                      <a:pPr algn="l">
                        <a:buNone/>
                      </a:pPr>
                      <a:r>
                        <a:rPr sz="1875" b="0">
                          <a:solidFill>
                            <a:srgbClr val="172520"/>
                          </a:solidFill>
                          <a:latin typeface="Arial"/>
                          <a:ea typeface="Arial"/>
                          <a:cs typeface="Arial"/>
                        </a:rPr>
                        <a:t>Jornada</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Conta, fatura e essenciais até a próxima renda</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Outros compromissos e acontecimentos</a:t>
                      </a:r>
                    </a:p>
                  </a:txBody>
                  <a:tcPr marL="91440" marR="91440" marT="45720" marB="45720" anchor="ctr">
                    <a:solidFill>
                      <a:srgbClr val="F6F5EE"/>
                    </a:solidFill>
                  </a:tcPr>
                </a:tc>
              </a:tr>
              <a:tr h="695325">
                <a:tc>
                  <a:txBody>
                    <a:bodyPr lIns="133350" tIns="76200" rIns="114300" bIns="76200">
                      <a:noAutofit/>
                    </a:bodyPr>
                    <a:lstStyle/>
                    <a:p>
                      <a:pPr algn="l">
                        <a:buNone/>
                      </a:pPr>
                      <a:r>
                        <a:rPr sz="1875" b="0">
                          <a:solidFill>
                            <a:srgbClr val="172520"/>
                          </a:solidFill>
                          <a:latin typeface="Arial"/>
                          <a:ea typeface="Arial"/>
                          <a:cs typeface="Arial"/>
                        </a:rPr>
                        <a:t>Agentes</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Quatro especialistas com colaboração real</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Especialista PJ e regras empresariais</a:t>
                      </a:r>
                    </a:p>
                  </a:txBody>
                  <a:tcPr marL="91440" marR="91440" marT="45720" marB="45720" anchor="ctr">
                    <a:solidFill>
                      <a:srgbClr val="F6F5EE"/>
                    </a:solidFill>
                  </a:tcPr>
                </a:tc>
              </a:tr>
              <a:tr h="695325">
                <a:tc>
                  <a:txBody>
                    <a:bodyPr lIns="133350" tIns="76200" rIns="114300" bIns="76200">
                      <a:noAutofit/>
                    </a:bodyPr>
                    <a:lstStyle/>
                    <a:p>
                      <a:pPr algn="l">
                        <a:buNone/>
                      </a:pPr>
                      <a:r>
                        <a:rPr sz="1875" b="0">
                          <a:solidFill>
                            <a:srgbClr val="172520"/>
                          </a:solidFill>
                          <a:latin typeface="Arial"/>
                          <a:ea typeface="Arial"/>
                          <a:cs typeface="Arial"/>
                        </a:rPr>
                        <a:t>Dados</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Base PF e cenários de teste identificados</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Fontes autorizadas e dados próprios de PJ</a:t>
                      </a:r>
                    </a:p>
                  </a:txBody>
                  <a:tcPr marL="91440" marR="91440" marT="45720" marB="45720" anchor="ctr">
                    <a:solidFill>
                      <a:srgbClr val="F6F5EE"/>
                    </a:solidFill>
                  </a:tcPr>
                </a:tc>
              </a:tr>
              <a:tr h="695325">
                <a:tc>
                  <a:txBody>
                    <a:bodyPr lIns="133350" tIns="76200" rIns="114300" bIns="76200">
                      <a:noAutofit/>
                    </a:bodyPr>
                    <a:lstStyle/>
                    <a:p>
                      <a:pPr algn="l">
                        <a:buNone/>
                      </a:pPr>
                      <a:r>
                        <a:rPr sz="1875" b="0">
                          <a:solidFill>
                            <a:srgbClr val="172520"/>
                          </a:solidFill>
                          <a:latin typeface="Arial"/>
                          <a:ea typeface="Arial"/>
                          <a:cs typeface="Arial"/>
                        </a:rPr>
                        <a:t>Alternativas</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Opções com condições conhecidas no cenário</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Reservas e outros produtos pertinentes</a:t>
                      </a:r>
                    </a:p>
                  </a:txBody>
                  <a:tcPr marL="91440" marR="91440" marT="45720" marB="45720" anchor="ctr">
                    <a:solidFill>
                      <a:srgbClr val="F6F5EE"/>
                    </a:solidFill>
                  </a:tcPr>
                </a:tc>
              </a:tr>
            </a:tbl>
          </a:graphicData>
        </a:graphic>
      </p:graphicFrame>
      <p:sp>
        <p:nvSpPr>
          <p:cNvPr id="3" name="Cada componente recebe um status verificável:">
            <a:extLst xmlns:a="http://schemas.openxmlformats.org/drawingml/2006/main">
              <a:ext uri="{FF2B5EF4-FFF2-40B4-BE49-F238E27FC236}">
                <a16:creationId xmlns:a16="http://schemas.microsoft.com/office/drawing/2014/main" id="{99CF7CBD-96AD-4B4E-89DE-9AE38A06F39A}"/>
              </a:ext>
            </a:extLst>
          </p:cNvPr>
          <p:cNvSpPr>
            <a:spLocks xmlns:a="http://schemas.openxmlformats.org/drawingml/2006/main" noGrp="1"/>
          </p:cNvSpPr>
          <p:nvPr/>
        </p:nvSpPr>
        <p:spPr>
          <a:xfrm xmlns:a="http://schemas.openxmlformats.org/drawingml/2006/main">
            <a:off x="628650" y="5505450"/>
            <a:ext cx="10915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72520"/>
                </a:solidFill>
                <a:latin typeface="Arial"/>
                <a:ea typeface="Arial"/>
                <a:cs typeface="Arial"/>
              </a:defRPr>
            </a:pPr>
            <a:r>
              <a:rPr sz="2250" b="1">
                <a:solidFill>
                  <a:srgbClr val="172520"/>
                </a:solidFill>
                <a:latin typeface="Arial"/>
                <a:ea typeface="Arial"/>
                <a:cs typeface="Arial"/>
              </a:rPr>
              <a:t>Primeiro marco: uma jornada PF completa e verificável.</a:t>
            </a:r>
          </a:p>
        </p:txBody>
      </p:sp>
      <p:sp>
        <p:nvSpPr>
          <p:cNvPr id="4" name="em execução, simulado ou planejado.">
            <a:extLst xmlns:a="http://schemas.openxmlformats.org/drawingml/2006/main">
              <a:ext uri="{FF2B5EF4-FFF2-40B4-BE49-F238E27FC236}">
                <a16:creationId xmlns:a16="http://schemas.microsoft.com/office/drawing/2014/main" id="{C523CA6B-EA6C-4843-BB1F-71C6975FFC43}"/>
              </a:ext>
            </a:extLst>
          </p:cNvPr>
          <p:cNvSpPr>
            <a:spLocks xmlns:a="http://schemas.openxmlformats.org/drawingml/2006/main" noGrp="1"/>
          </p:cNvSpPr>
          <p:nvPr/>
        </p:nvSpPr>
        <p:spPr>
          <a:xfrm xmlns:a="http://schemas.openxmlformats.org/drawingml/2006/main">
            <a:off x="628650" y="5934075"/>
            <a:ext cx="10915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086F68"/>
                </a:solidFill>
                <a:latin typeface="Arial"/>
                <a:ea typeface="Arial"/>
                <a:cs typeface="Arial"/>
              </a:defRPr>
            </a:pPr>
            <a:r>
              <a:rPr sz="2100" b="0">
                <a:solidFill>
                  <a:srgbClr val="086F68"/>
                </a:solidFill>
                <a:latin typeface="Arial"/>
                <a:ea typeface="Arial"/>
                <a:cs typeface="Arial"/>
              </a:rPr>
              <a:t>Integração real, simulação e plano futuro ficam identificados.</a:t>
            </a:r>
          </a:p>
        </p:txBody>
      </p:sp>
      <p:sp>
        <p:nvSpPr>
          <p:cNvPr id="5" name="A base de mil pessoas não comprova dados PJ, taxas contratuais ou condições de ofertas.">
            <a:extLst xmlns:a="http://schemas.openxmlformats.org/drawingml/2006/main">
              <a:ext uri="{FF2B5EF4-FFF2-40B4-BE49-F238E27FC236}">
                <a16:creationId xmlns:a16="http://schemas.microsoft.com/office/drawing/2014/main" id="{C4C571BB-90E6-4B73-87DF-CFCD73406E80}"/>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B6862"/>
                </a:solidFill>
                <a:latin typeface="Arial"/>
                <a:ea typeface="Arial"/>
                <a:cs typeface="Arial"/>
              </a:defRPr>
            </a:pPr>
            <a:r>
              <a:rPr sz="1275" b="0">
                <a:solidFill>
                  <a:srgbClr val="5B6862"/>
                </a:solidFill>
                <a:latin typeface="Arial"/>
                <a:ea typeface="Arial"/>
                <a:cs typeface="Arial"/>
              </a:rPr>
              <a:t>A expansão para PJ exige dados, permissões e regras próprias, além de manter o caixa pessoal separado do empresarial.</a:t>
            </a:r>
          </a:p>
        </p:txBody>
      </p:sp>
      <p:sp>
        <p:nvSpPr>
          <p:cNvPr id="6" name="13">
            <a:extLst xmlns:a="http://schemas.openxmlformats.org/drawingml/2006/main">
              <a:ext uri="{FF2B5EF4-FFF2-40B4-BE49-F238E27FC236}">
                <a16:creationId xmlns:a16="http://schemas.microsoft.com/office/drawing/2014/main" id="{5BB2904D-B790-4DE1-BB22-63719366CC2B}"/>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B6862"/>
                </a:solidFill>
                <a:latin typeface="Arial"/>
                <a:ea typeface="Arial"/>
                <a:cs typeface="Arial"/>
              </a:defRPr>
            </a:pPr>
            <a:r>
              <a:rPr sz="1275" b="0">
                <a:solidFill>
                  <a:srgbClr val="5B6862"/>
                </a:solidFill>
                <a:latin typeface="Arial"/>
                <a:ea typeface="Arial"/>
                <a:cs typeface="Arial"/>
              </a:rPr>
              <a:t>13</a:t>
            </a:r>
          </a:p>
        </p:txBody>
      </p:sp>
    </p:spTree>
    <p:extLst>
      <p:ext uri="{BB962C8B-B14F-4D97-AF65-F5344CB8AC3E}">
        <p14:creationId xmlns:p14="http://schemas.microsoft.com/office/powerpoint/2010/main" val="662757413"/>
      </p:ext>
    </p:extLst>
  </p:cSld>
</p:sld>
</file>

<file path=ppt/slides/slide14.xml><?xml version="1.0" encoding="utf-8"?>
<p:sld xmlns:p="http://schemas.openxmlformats.org/presentationml/2006/main">
  <p:cSld>
    <p:bg>
      <p:bgPr>
        <a:solidFill xmlns:a="http://schemas.openxmlformats.org/drawingml/2006/main">
          <a:srgbClr val="F6F5EE"/>
        </a:solidFill>
      </p:bgPr>
    </p:bg>
    <p:spTree>
      <p:nvGrpSpPr>
        <p:cNvPr id="1" name=""/>
        <p:cNvGrpSpPr/>
        <p:nvPr/>
      </p:nvGrpSpPr>
      <p:grpSpPr>
        <a:xfrm xmlns:a="http://schemas.openxmlformats.org/drawingml/2006/main"/>
      </p:grpSpPr>
      <p:sp>
        <p:nvSpPr>
          <p:cNvPr id="5" name="Casos que a arquitetura precisa resolver">
            <a:extLst xmlns:a="http://schemas.openxmlformats.org/drawingml/2006/main">
              <a:ext uri="{FF2B5EF4-FFF2-40B4-BE49-F238E27FC236}">
                <a16:creationId xmlns:a16="http://schemas.microsoft.com/office/drawing/2014/main" id="{E1890776-B497-4DD3-9073-02081B3C6AF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72520"/>
                </a:solidFill>
                <a:latin typeface="Arial"/>
                <a:ea typeface="Arial"/>
                <a:cs typeface="Arial"/>
              </a:defRPr>
            </a:pPr>
            <a:r>
              <a:rPr sz="3300" b="1">
                <a:solidFill>
                  <a:srgbClr val="172520"/>
                </a:solidFill>
                <a:latin typeface="Arial"/>
                <a:ea typeface="Arial"/>
                <a:cs typeface="Arial"/>
              </a:rPr>
              <a:t>Casos de teste da jornada PF</a:t>
            </a:r>
          </a:p>
        </p:txBody>
      </p:sp>
      <p:graphicFrame>
        <p:nvGraphicFramePr>
          <p:cNvPr id="8" name=""/>
          <p:cNvGraphicFramePr/>
          <p:nvPr/>
        </p:nvGraphicFramePr>
        <p:xfrm>
          <a:off xmlns:a="http://schemas.openxmlformats.org/drawingml/2006/main" x="609600" y="1676400"/>
          <a:ext xmlns:a="http://schemas.openxmlformats.org/drawingml/2006/main" cx="10972800" cy="4257675"/>
        </p:xfrm>
        <a:graphic xmlns:a="http://schemas.openxmlformats.org/drawingml/2006/main">
          <a:graphicData uri="http://schemas.openxmlformats.org/drawingml/2006/table">
            <a:tbl>
              <a:tblPr firstRow="1" bandRow="0"/>
              <a:tblGrid>
                <a:gridCol w="4324350"/>
                <a:gridCol w="6648450"/>
              </a:tblGrid>
              <a:tr h="608239">
                <a:tc>
                  <a:txBody>
                    <a:bodyPr lIns="133350" tIns="76200" rIns="114300" bIns="76200">
                      <a:noAutofit/>
                    </a:bodyPr>
                    <a:lstStyle/>
                    <a:p>
                      <a:pPr algn="l">
                        <a:buNone/>
                      </a:pPr>
                      <a:r>
                        <a:rPr sz="1875" b="1">
                          <a:solidFill>
                            <a:srgbClr val="172520"/>
                          </a:solidFill>
                          <a:latin typeface="Arial"/>
                          <a:ea typeface="Arial"/>
                          <a:cs typeface="Arial"/>
                        </a:rPr>
                        <a:t>Caso de teste</a:t>
                      </a:r>
                    </a:p>
                  </a:txBody>
                  <a:tcPr marL="91440" marR="91440" marT="45720" marB="45720" anchor="ctr">
                    <a:solidFill>
                      <a:srgbClr val="E3E9E1"/>
                    </a:solidFill>
                  </a:tcPr>
                </a:tc>
                <a:tc>
                  <a:txBody>
                    <a:bodyPr lIns="133350" tIns="76200" rIns="114300" bIns="76200">
                      <a:noAutofit/>
                    </a:bodyPr>
                    <a:lstStyle/>
                    <a:p>
                      <a:pPr algn="l">
                        <a:buNone/>
                      </a:pPr>
                      <a:r>
                        <a:rPr sz="1875" b="1">
                          <a:solidFill>
                            <a:srgbClr val="172520"/>
                          </a:solidFill>
                          <a:latin typeface="Arial"/>
                          <a:ea typeface="Arial"/>
                          <a:cs typeface="Arial"/>
                        </a:rPr>
                        <a:t>Comportamento esperado</a:t>
                      </a:r>
                    </a:p>
                  </a:txBody>
                  <a:tcPr marL="91440" marR="91440" marT="45720" marB="45720" anchor="ctr">
                    <a:solidFill>
                      <a:srgbClr val="E3E9E1"/>
                    </a:solidFill>
                  </a:tcPr>
                </a:tc>
              </a:tr>
              <a:tr h="608239">
                <a:tc>
                  <a:txBody>
                    <a:bodyPr lIns="133350" tIns="76200" rIns="114300" bIns="76200">
                      <a:noAutofit/>
                    </a:bodyPr>
                    <a:lstStyle/>
                    <a:p>
                      <a:pPr algn="l">
                        <a:buNone/>
                      </a:pPr>
                      <a:r>
                        <a:rPr sz="1875" b="0">
                          <a:solidFill>
                            <a:srgbClr val="172520"/>
                          </a:solidFill>
                          <a:latin typeface="Arial"/>
                          <a:ea typeface="Arial"/>
                          <a:cs typeface="Arial"/>
                        </a:rPr>
                        <a:t>Nova despesa essencial</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Invalidar o resultado e recalcular com o novo dado.</a:t>
                      </a:r>
                    </a:p>
                  </a:txBody>
                  <a:tcPr marL="91440" marR="91440" marT="45720" marB="45720" anchor="ctr">
                    <a:solidFill>
                      <a:srgbClr val="F6F5EE"/>
                    </a:solidFill>
                  </a:tcPr>
                </a:tc>
              </a:tr>
              <a:tr h="608239">
                <a:tc>
                  <a:txBody>
                    <a:bodyPr lIns="133350" tIns="76200" rIns="114300" bIns="76200">
                      <a:noAutofit/>
                    </a:bodyPr>
                    <a:lstStyle/>
                    <a:p>
                      <a:pPr algn="l">
                        <a:buNone/>
                      </a:pPr>
                      <a:r>
                        <a:rPr sz="1875" b="0">
                          <a:solidFill>
                            <a:srgbClr val="172520"/>
                          </a:solidFill>
                          <a:latin typeface="Arial"/>
                          <a:ea typeface="Arial"/>
                          <a:cs typeface="Arial"/>
                        </a:rPr>
                        <a:t>Data ou condição ausente</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Perguntar antes de concluir.</a:t>
                      </a:r>
                    </a:p>
                  </a:txBody>
                  <a:tcPr marL="91440" marR="91440" marT="45720" marB="45720" anchor="ctr">
                    <a:solidFill>
                      <a:srgbClr val="F6F5EE"/>
                    </a:solidFill>
                  </a:tcPr>
                </a:tc>
              </a:tr>
              <a:tr h="608239">
                <a:tc>
                  <a:txBody>
                    <a:bodyPr lIns="133350" tIns="76200" rIns="114300" bIns="76200">
                      <a:noAutofit/>
                    </a:bodyPr>
                    <a:lstStyle/>
                    <a:p>
                      <a:pPr algn="l">
                        <a:buNone/>
                      </a:pPr>
                      <a:r>
                        <a:rPr sz="1875" b="0">
                          <a:solidFill>
                            <a:srgbClr val="172520"/>
                          </a:solidFill>
                          <a:latin typeface="Arial"/>
                          <a:ea typeface="Arial"/>
                          <a:cs typeface="Arial"/>
                        </a:rPr>
                        <a:t>Opções avaliadas insuficientes</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Reconhecer o déficit e explicar as consequências.</a:t>
                      </a:r>
                    </a:p>
                  </a:txBody>
                  <a:tcPr marL="91440" marR="91440" marT="45720" marB="45720" anchor="ctr">
                    <a:solidFill>
                      <a:srgbClr val="F6F5EE"/>
                    </a:solidFill>
                  </a:tcPr>
                </a:tc>
              </a:tr>
              <a:tr h="608239">
                <a:tc>
                  <a:txBody>
                    <a:bodyPr lIns="133350" tIns="76200" rIns="114300" bIns="76200">
                      <a:noAutofit/>
                    </a:bodyPr>
                    <a:lstStyle/>
                    <a:p>
                      <a:pPr algn="l">
                        <a:buNone/>
                      </a:pPr>
                      <a:r>
                        <a:rPr sz="1875" b="0">
                          <a:solidFill>
                            <a:srgbClr val="172520"/>
                          </a:solidFill>
                          <a:latin typeface="Arial"/>
                          <a:ea typeface="Arial"/>
                          <a:cs typeface="Arial"/>
                        </a:rPr>
                        <a:t>Ferramenta indisponível</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Informar a falha sem inventar valores.</a:t>
                      </a:r>
                    </a:p>
                  </a:txBody>
                  <a:tcPr marL="91440" marR="91440" marT="45720" marB="45720" anchor="ctr">
                    <a:solidFill>
                      <a:srgbClr val="F6F5EE"/>
                    </a:solidFill>
                  </a:tcPr>
                </a:tc>
              </a:tr>
              <a:tr h="608239">
                <a:tc>
                  <a:txBody>
                    <a:bodyPr lIns="133350" tIns="76200" rIns="114300" bIns="76200">
                      <a:noAutofit/>
                    </a:bodyPr>
                    <a:lstStyle/>
                    <a:p>
                      <a:pPr algn="l">
                        <a:buNone/>
                      </a:pPr>
                      <a:r>
                        <a:rPr sz="1875" b="0">
                          <a:solidFill>
                            <a:srgbClr val="172520"/>
                          </a:solidFill>
                          <a:latin typeface="Arial"/>
                          <a:ea typeface="Arial"/>
                          <a:cs typeface="Arial"/>
                        </a:rPr>
                        <a:t>Resultado desatualizado</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Impedir seu uso na orientação atual.</a:t>
                      </a:r>
                    </a:p>
                  </a:txBody>
                  <a:tcPr marL="91440" marR="91440" marT="45720" marB="45720" anchor="ctr">
                    <a:solidFill>
                      <a:srgbClr val="F6F5EE"/>
                    </a:solidFill>
                  </a:tcPr>
                </a:tc>
              </a:tr>
              <a:tr h="608239">
                <a:tc>
                  <a:txBody>
                    <a:bodyPr lIns="133350" tIns="76200" rIns="114300" bIns="76200">
                      <a:noAutofit/>
                    </a:bodyPr>
                    <a:lstStyle/>
                    <a:p>
                      <a:pPr algn="l">
                        <a:buNone/>
                      </a:pPr>
                      <a:r>
                        <a:rPr sz="1875" b="0">
                          <a:solidFill>
                            <a:srgbClr val="172520"/>
                          </a:solidFill>
                          <a:latin typeface="Arial"/>
                          <a:ea typeface="Arial"/>
                          <a:cs typeface="Arial"/>
                        </a:rPr>
                        <a:t>Dados de outro cliente</a:t>
                      </a:r>
                    </a:p>
                  </a:txBody>
                  <a:tcPr marL="91440" marR="91440" marT="45720" marB="45720" anchor="ctr">
                    <a:solidFill>
                      <a:srgbClr val="F6F5EE"/>
                    </a:solidFill>
                  </a:tcPr>
                </a:tc>
                <a:tc>
                  <a:txBody>
                    <a:bodyPr lIns="133350" tIns="76200" rIns="114300" bIns="76200">
                      <a:noAutofit/>
                    </a:bodyPr>
                    <a:lstStyle/>
                    <a:p>
                      <a:pPr algn="l">
                        <a:buNone/>
                      </a:pPr>
                      <a:r>
                        <a:rPr sz="1875" b="0">
                          <a:solidFill>
                            <a:srgbClr val="172520"/>
                          </a:solidFill>
                          <a:latin typeface="Arial"/>
                          <a:ea typeface="Arial"/>
                          <a:cs typeface="Arial"/>
                        </a:rPr>
                        <a:t>Bloquear fora do modelo e registrar o evento.</a:t>
                      </a:r>
                    </a:p>
                  </a:txBody>
                  <a:tcPr marL="91440" marR="91440" marT="45720" marB="45720" anchor="ctr">
                    <a:solidFill>
                      <a:srgbClr val="F6F5EE"/>
                    </a:solidFill>
                  </a:tcPr>
                </a:tc>
              </a:tr>
            </a:tbl>
          </a:graphicData>
        </a:graphic>
      </p:graphicFrame>
      <p:sp>
        <p:nvSpPr>
          <p:cNvPr id="3" name="Cálculos e limites têm referência objetiva. A revisão por modelo complementa a avaliação d">
            <a:extLst xmlns:a="http://schemas.openxmlformats.org/drawingml/2006/main">
              <a:ext uri="{FF2B5EF4-FFF2-40B4-BE49-F238E27FC236}">
                <a16:creationId xmlns:a16="http://schemas.microsoft.com/office/drawing/2014/main" id="{C62D2FAD-AD8D-468F-A767-23A50E2F250E}"/>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B6862"/>
                </a:solidFill>
                <a:latin typeface="Arial"/>
                <a:ea typeface="Arial"/>
                <a:cs typeface="Arial"/>
              </a:defRPr>
            </a:pPr>
            <a:r>
              <a:rPr sz="1275" b="0">
                <a:solidFill>
                  <a:srgbClr val="5B6862"/>
                </a:solidFill>
                <a:latin typeface="Arial"/>
                <a:ea typeface="Arial"/>
                <a:cs typeface="Arial"/>
              </a:rPr>
              <a:t>Cálculos e limites têm referência objetiva. A revisão por modelo complementa a avaliação da explicação.</a:t>
            </a:r>
          </a:p>
        </p:txBody>
      </p:sp>
      <p:sp>
        <p:nvSpPr>
          <p:cNvPr id="4" name="14">
            <a:extLst xmlns:a="http://schemas.openxmlformats.org/drawingml/2006/main">
              <a:ext uri="{FF2B5EF4-FFF2-40B4-BE49-F238E27FC236}">
                <a16:creationId xmlns:a16="http://schemas.microsoft.com/office/drawing/2014/main" id="{71B47C62-B060-4F0A-9F7F-DA5C1CE4F8BC}"/>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B6862"/>
                </a:solidFill>
                <a:latin typeface="Arial"/>
                <a:ea typeface="Arial"/>
                <a:cs typeface="Arial"/>
              </a:defRPr>
            </a:pPr>
            <a:r>
              <a:rPr sz="1275" b="0">
                <a:solidFill>
                  <a:srgbClr val="5B6862"/>
                </a:solidFill>
                <a:latin typeface="Arial"/>
                <a:ea typeface="Arial"/>
                <a:cs typeface="Arial"/>
              </a:rPr>
              <a:t>14</a:t>
            </a:r>
          </a:p>
        </p:txBody>
      </p:sp>
    </p:spTree>
    <p:extLst>
      <p:ext uri="{BB962C8B-B14F-4D97-AF65-F5344CB8AC3E}">
        <p14:creationId xmlns:p14="http://schemas.microsoft.com/office/powerpoint/2010/main" val="1826264416"/>
      </p:ext>
    </p:extLst>
  </p:cSld>
</p:sld>
</file>

<file path=ppt/slides/slide15.xml><?xml version="1.0" encoding="utf-8"?>
<p:sld xmlns:p="http://schemas.openxmlformats.org/presentationml/2006/main">
  <p:cSld>
    <p:bg>
      <p:bgPr>
        <a:solidFill xmlns:a="http://schemas.openxmlformats.org/drawingml/2006/main">
          <a:srgbClr val="F6F5EE"/>
        </a:solidFill>
      </p:bgPr>
    </p:bg>
    <p:spTree>
      <p:nvGrpSpPr>
        <p:cNvPr id="1" name=""/>
        <p:cNvGrpSpPr/>
        <p:nvPr/>
      </p:nvGrpSpPr>
      <p:grpSpPr>
        <a:xfrm xmlns:a="http://schemas.openxmlformats.org/drawingml/2006/main"/>
      </p:grpSpPr>
      <p:sp>
        <p:nvSpPr>
          <p:cNvPr id="7" name="Como demonstrar o valor da colaboração">
            <a:extLst xmlns:a="http://schemas.openxmlformats.org/drawingml/2006/main">
              <a:ext uri="{FF2B5EF4-FFF2-40B4-BE49-F238E27FC236}">
                <a16:creationId xmlns:a16="http://schemas.microsoft.com/office/drawing/2014/main" id="{1D27ACF6-7B16-43B7-8A76-41CCDB3FF8B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72520"/>
                </a:solidFill>
                <a:latin typeface="Arial"/>
                <a:ea typeface="Arial"/>
                <a:cs typeface="Arial"/>
              </a:defRPr>
            </a:pPr>
            <a:r>
              <a:rPr sz="3300" b="1">
                <a:solidFill>
                  <a:srgbClr val="172520"/>
                </a:solidFill>
                <a:latin typeface="Arial"/>
                <a:ea typeface="Arial"/>
                <a:cs typeface="Arial"/>
              </a:rPr>
              <a:t>Critérios oficiais e validação proposta</a:t>
            </a:r>
          </a:p>
        </p:txBody>
      </p:sp>
      <p:sp>
        <p:nvSpPr>
          <p:cNvPr id="2" name="Comparação com um agente único competente">
            <a:extLst xmlns:a="http://schemas.openxmlformats.org/drawingml/2006/main">
              <a:ext uri="{FF2B5EF4-FFF2-40B4-BE49-F238E27FC236}">
                <a16:creationId xmlns:a16="http://schemas.microsoft.com/office/drawing/2014/main" id="{AFA95623-DC85-4D97-B7D7-73775146A550}"/>
              </a:ext>
            </a:extLst>
          </p:cNvPr>
          <p:cNvSpPr>
            <a:spLocks xmlns:a="http://schemas.openxmlformats.org/drawingml/2006/main" noGrp="1"/>
          </p:cNvSpPr>
          <p:nvPr/>
        </p:nvSpPr>
        <p:spPr>
          <a:xfrm xmlns:a="http://schemas.openxmlformats.org/drawingml/2006/main">
            <a:off x="619125" y="16383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086F68"/>
                </a:solidFill>
                <a:latin typeface="Arial"/>
                <a:ea typeface="Arial"/>
                <a:cs typeface="Arial"/>
              </a:defRPr>
            </a:pPr>
            <a:r>
              <a:rPr sz="2550" b="1">
                <a:solidFill>
                  <a:srgbClr val="086F68"/>
                </a:solidFill>
                <a:latin typeface="Arial"/>
                <a:ea typeface="Arial"/>
                <a:cs typeface="Arial"/>
              </a:rPr>
              <a:t>Foco na jornada, experiência e consistência técnica</a:t>
            </a:r>
          </a:p>
        </p:txBody>
      </p:sp>
      <p:sp>
        <p:nvSpPr>
          <p:cNvPr id="3" name="Mesmos casos, dados, ferramentas, modelo e regras. Custos e tempo entram na avaliação.">
            <a:extLst xmlns:a="http://schemas.openxmlformats.org/drawingml/2006/main">
              <a:ext uri="{FF2B5EF4-FFF2-40B4-BE49-F238E27FC236}">
                <a16:creationId xmlns:a16="http://schemas.microsoft.com/office/drawing/2014/main" id="{74D817E8-1B68-49E1-A600-F3D9D4F6F567}"/>
              </a:ext>
            </a:extLst>
          </p:cNvPr>
          <p:cNvSpPr>
            <a:spLocks xmlns:a="http://schemas.openxmlformats.org/drawingml/2006/main" noGrp="1"/>
          </p:cNvSpPr>
          <p:nvPr/>
        </p:nvSpPr>
        <p:spPr>
          <a:xfrm xmlns:a="http://schemas.openxmlformats.org/drawingml/2006/main">
            <a:off x="619125" y="2409825"/>
            <a:ext cx="1095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72520"/>
                </a:solidFill>
                <a:latin typeface="Arial"/>
                <a:ea typeface="Arial"/>
                <a:cs typeface="Arial"/>
              </a:defRPr>
            </a:pPr>
            <a:r>
              <a:rPr sz="2250" b="0">
                <a:solidFill>
                  <a:srgbClr val="172520"/>
                </a:solidFill>
                <a:latin typeface="Arial"/>
                <a:ea typeface="Arial"/>
                <a:cs typeface="Arial"/>
              </a:rPr>
              <a:t>Os pesos orientam a preparação das evidências.</a:t>
            </a:r>
          </a:p>
          <a:p xmlns:a="http://schemas.openxmlformats.org/drawingml/2006/main">
            <a:pPr algn="l">
              <a:buNone/>
              <a:defRPr sz="2250" b="0">
                <a:solidFill>
                  <a:srgbClr val="172520"/>
                </a:solidFill>
                <a:latin typeface="Arial"/>
                <a:ea typeface="Arial"/>
                <a:cs typeface="Arial"/>
              </a:defRPr>
            </a:pPr>
            <a:r>
              <a:rPr sz="2250" b="0">
                <a:solidFill>
                  <a:srgbClr val="172520"/>
                </a:solidFill>
                <a:latin typeface="Arial"/>
                <a:ea typeface="Arial"/>
                <a:cs typeface="Arial"/>
              </a:rPr>
              <a:t>A quantidade de agentes não recebe pontuação própria.</a:t>
            </a:r>
          </a:p>
        </p:txBody>
      </p:sp>
      <p:graphicFrame>
        <p:nvGraphicFramePr>
          <p:cNvPr id="12" name=""/>
          <p:cNvGraphicFramePr/>
          <p:nvPr/>
        </p:nvGraphicFramePr>
        <p:xfrm>
          <a:off xmlns:a="http://schemas.openxmlformats.org/drawingml/2006/main" x="609600" y="3762375"/>
          <a:ext xmlns:a="http://schemas.openxmlformats.org/drawingml/2006/main" cx="10972800" cy="2314575"/>
        </p:xfrm>
        <a:graphic xmlns:a="http://schemas.openxmlformats.org/drawingml/2006/main">
          <a:graphicData uri="http://schemas.openxmlformats.org/drawingml/2006/table">
            <a:tbl>
              <a:tblPr firstRow="1" bandRow="0"/>
              <a:tblGrid>
                <a:gridCol w="4800600"/>
                <a:gridCol w="6172200"/>
              </a:tblGrid>
              <a:tr h="462915">
                <a:tc>
                  <a:txBody>
                    <a:bodyPr lIns="133350" tIns="76200" rIns="114300" bIns="76200">
                      <a:noAutofit/>
                    </a:bodyPr>
                    <a:lstStyle/>
                    <a:p>
                      <a:pPr algn="l">
                        <a:buNone/>
                      </a:pPr>
                      <a:r>
                        <a:rPr sz="1800" b="1">
                          <a:solidFill>
                            <a:srgbClr val="172520"/>
                          </a:solidFill>
                          <a:latin typeface="Arial"/>
                          <a:ea typeface="Arial"/>
                          <a:cs typeface="Arial"/>
                        </a:rPr>
                        <a:t>Avaliação</a:t>
                      </a:r>
                    </a:p>
                  </a:txBody>
                  <a:tcPr marL="91440" marR="91440" marT="45720" marB="45720" anchor="ctr">
                    <a:solidFill>
                      <a:srgbClr val="E3E9E1"/>
                    </a:solidFill>
                  </a:tcPr>
                </a:tc>
                <a:tc>
                  <a:txBody>
                    <a:bodyPr lIns="133350" tIns="76200" rIns="114300" bIns="76200">
                      <a:noAutofit/>
                    </a:bodyPr>
                    <a:lstStyle/>
                    <a:p>
                      <a:pPr algn="l">
                        <a:buNone/>
                      </a:pPr>
                      <a:r>
                        <a:rPr sz="1800" b="1">
                          <a:solidFill>
                            <a:srgbClr val="172520"/>
                          </a:solidFill>
                          <a:latin typeface="Arial"/>
                          <a:ea typeface="Arial"/>
                          <a:cs typeface="Arial"/>
                        </a:rPr>
                        <a:t>Evidência proposta no Hausto</a:t>
                      </a:r>
                    </a:p>
                  </a:txBody>
                  <a:tcPr marL="91440" marR="91440" marT="45720" marB="45720" anchor="ctr">
                    <a:solidFill>
                      <a:srgbClr val="E3E9E1"/>
                    </a:solidFill>
                  </a:tcPr>
                </a:tc>
              </a:tr>
              <a:tr h="462915">
                <a:tc>
                  <a:txBody>
                    <a:bodyPr lIns="133350" tIns="76200" rIns="114300" bIns="76200">
                      <a:noAutofit/>
                    </a:bodyPr>
                    <a:lstStyle/>
                    <a:p>
                      <a:pPr algn="l">
                        <a:buNone/>
                      </a:pPr>
                      <a:r>
                        <a:rPr sz="1800" b="0">
                          <a:solidFill>
                            <a:srgbClr val="172520"/>
                          </a:solidFill>
                          <a:latin typeface="Arial"/>
                          <a:ea typeface="Arial"/>
                          <a:cs typeface="Arial"/>
                        </a:rPr>
                        <a:t>Business Thinking: 30%</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Dor delimitada, público e hipótese de impacto.</a:t>
                      </a:r>
                    </a:p>
                  </a:txBody>
                  <a:tcPr marL="91440" marR="91440" marT="45720" marB="45720" anchor="ctr">
                    <a:solidFill>
                      <a:srgbClr val="F6F5EE"/>
                    </a:solidFill>
                  </a:tcPr>
                </a:tc>
              </a:tr>
              <a:tr h="462915">
                <a:tc>
                  <a:txBody>
                    <a:bodyPr lIns="133350" tIns="76200" rIns="114300" bIns="76200">
                      <a:noAutofit/>
                    </a:bodyPr>
                    <a:lstStyle/>
                    <a:p>
                      <a:pPr algn="l">
                        <a:buNone/>
                      </a:pPr>
                      <a:r>
                        <a:rPr sz="1800" b="0">
                          <a:solidFill>
                            <a:srgbClr val="172520"/>
                          </a:solidFill>
                          <a:latin typeface="Arial"/>
                          <a:ea typeface="Arial"/>
                          <a:cs typeface="Arial"/>
                        </a:rPr>
                        <a:t>Design e Experiência: 20%</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Conversa útil, acessibilidade e compreensão.</a:t>
                      </a:r>
                    </a:p>
                  </a:txBody>
                  <a:tcPr marL="91440" marR="91440" marT="45720" marB="45720" anchor="ctr">
                    <a:solidFill>
                      <a:srgbClr val="F6F5EE"/>
                    </a:solidFill>
                  </a:tcPr>
                </a:tc>
              </a:tr>
              <a:tr h="462915">
                <a:tc>
                  <a:txBody>
                    <a:bodyPr lIns="133350" tIns="76200" rIns="114300" bIns="76200">
                      <a:noAutofit/>
                    </a:bodyPr>
                    <a:lstStyle/>
                    <a:p>
                      <a:pPr algn="l">
                        <a:buNone/>
                      </a:pPr>
                      <a:r>
                        <a:rPr sz="1800" b="0">
                          <a:solidFill>
                            <a:srgbClr val="172520"/>
                          </a:solidFill>
                          <a:latin typeface="Arial"/>
                          <a:ea typeface="Arial"/>
                          <a:cs typeface="Arial"/>
                        </a:rPr>
                        <a:t>Arquitetura, Engenharia e Dados: 50%</a:t>
                      </a:r>
                    </a:p>
                  </a:txBody>
                  <a:tcPr marL="91440" marR="91440" marT="45720" marB="45720" anchor="ctr">
                    <a:solidFill>
                      <a:srgbClr val="F6F5EE"/>
                    </a:solidFill>
                  </a:tcPr>
                </a:tc>
                <a:tc>
                  <a:txBody>
                    <a:bodyPr lIns="133350" tIns="76200" rIns="114300" bIns="76200">
                      <a:noAutofit/>
                    </a:bodyPr>
                    <a:lstStyle/>
                    <a:p>
                      <a:pPr algn="l">
                        <a:buNone/>
                      </a:pPr>
                      <a:r>
                        <a:rPr sz="1800" b="0">
                          <a:solidFill>
                            <a:srgbClr val="172520"/>
                          </a:solidFill>
                          <a:latin typeface="Arial"/>
                          <a:ea typeface="Arial"/>
                          <a:cs typeface="Arial"/>
                        </a:rPr>
                        <a:t>Ferramentas, contexto, segurança e testes.</a:t>
                      </a:r>
                    </a:p>
                  </a:txBody>
                  <a:tcPr marL="91440" marR="91440" marT="45720" marB="45720" anchor="ctr">
                    <a:solidFill>
                      <a:srgbClr val="F6F5EE"/>
                    </a:solidFill>
                  </a:tcPr>
                </a:tc>
              </a:tr>
              <a:tr h="462915">
                <a:tc>
                  <a:txBody>
                    <a:bodyPr lIns="133350" tIns="76200" rIns="114300" bIns="76200">
                      <a:noAutofit/>
                    </a:bodyPr>
                    <a:lstStyle/>
                    <a:p>
                      <a:pPr algn="l">
                        <a:buNone/>
                      </a:pPr>
                      <a:r>
                        <a:rPr sz="1800" b="0">
                          <a:solidFill>
                            <a:srgbClr val="172520"/>
                          </a:solidFill>
                          <a:latin typeface="Arial"/>
                          <a:ea typeface="Arial"/>
                          <a:cs typeface="Arial"/>
                        </a:rPr>
                        <a:t>Validação proposta (sem peso)</a:t>
                      </a:r>
                    </a:p>
                  </a:txBody>
                  <a:tcPr marL="91440" marR="91440" marT="45720" marB="45720" anchor="ctr">
                    <a:solidFill>
                      <a:srgbClr val="FFE0C2"/>
                    </a:solidFill>
                  </a:tcPr>
                </a:tc>
                <a:tc>
                  <a:txBody>
                    <a:bodyPr lIns="133350" tIns="76200" rIns="114300" bIns="76200">
                      <a:noAutofit/>
                    </a:bodyPr>
                    <a:lstStyle/>
                    <a:p>
                      <a:pPr algn="l">
                        <a:buNone/>
                      </a:pPr>
                      <a:r>
                        <a:rPr sz="1800" b="0">
                          <a:solidFill>
                            <a:srgbClr val="172520"/>
                          </a:solidFill>
                          <a:latin typeface="Arial"/>
                          <a:ea typeface="Arial"/>
                          <a:cs typeface="Arial"/>
                        </a:rPr>
                        <a:t>Comparar com agente único, mesmas regras e ferramentas.</a:t>
                      </a:r>
                    </a:p>
                  </a:txBody>
                  <a:tcPr marL="91440" marR="91440" marT="45720" marB="45720" anchor="ctr">
                    <a:solidFill>
                      <a:srgbClr val="FFE0C2"/>
                    </a:solidFill>
                  </a:tcPr>
                </a:tc>
              </a:tr>
            </a:tbl>
          </a:graphicData>
        </a:graphic>
      </p:graphicFrame>
      <p:sp>
        <p:nvSpPr>
          <p:cNvPr id="5" name="Redução de juros, inadimplência e esforço de atendimento são hipóteses para um piloto, não">
            <a:extLst xmlns:a="http://schemas.openxmlformats.org/drawingml/2006/main">
              <a:ext uri="{FF2B5EF4-FFF2-40B4-BE49-F238E27FC236}">
                <a16:creationId xmlns:a16="http://schemas.microsoft.com/office/drawing/2014/main" id="{9A5FD572-0821-4CEC-92F0-B16868A6278D}"/>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B6862"/>
                </a:solidFill>
                <a:latin typeface="Arial"/>
                <a:ea typeface="Arial"/>
                <a:cs typeface="Arial"/>
              </a:defRPr>
            </a:pPr>
            <a:r>
              <a:rPr sz="1275" b="0">
                <a:solidFill>
                  <a:srgbClr val="5B6862"/>
                </a:solidFill>
                <a:latin typeface="Arial"/>
                <a:ea typeface="Arial"/>
                <a:cs typeface="Arial"/>
              </a:rPr>
              <a:t>Pesos do regulamento, página 2. Benefícios financeiros permanecem hipóteses até avaliação adequada.</a:t>
            </a:r>
          </a:p>
        </p:txBody>
      </p:sp>
      <p:sp>
        <p:nvSpPr>
          <p:cNvPr id="6" name="15">
            <a:extLst xmlns:a="http://schemas.openxmlformats.org/drawingml/2006/main">
              <a:ext uri="{FF2B5EF4-FFF2-40B4-BE49-F238E27FC236}">
                <a16:creationId xmlns:a16="http://schemas.microsoft.com/office/drawing/2014/main" id="{374A8C92-9AA5-4CA7-9044-2B254BF6FD79}"/>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B6862"/>
                </a:solidFill>
                <a:latin typeface="Arial"/>
                <a:ea typeface="Arial"/>
                <a:cs typeface="Arial"/>
              </a:defRPr>
            </a:pPr>
            <a:r>
              <a:rPr sz="1275" b="0">
                <a:solidFill>
                  <a:srgbClr val="5B6862"/>
                </a:solidFill>
                <a:latin typeface="Arial"/>
                <a:ea typeface="Arial"/>
                <a:cs typeface="Arial"/>
              </a:rPr>
              <a:t>15</a:t>
            </a:r>
          </a:p>
        </p:txBody>
      </p:sp>
    </p:spTree>
    <p:extLst>
      <p:ext uri="{BB962C8B-B14F-4D97-AF65-F5344CB8AC3E}">
        <p14:creationId xmlns:p14="http://schemas.microsoft.com/office/powerpoint/2010/main" val="150538631"/>
      </p:ext>
    </p:extLst>
  </p:cSld>
</p:sld>
</file>

<file path=ppt/slides/slide16.xml><?xml version="1.0" encoding="utf-8"?>
<p:sld xmlns:p="http://schemas.openxmlformats.org/presentationml/2006/main">
  <p:cSld>
    <p:bg>
      <p:bgPr>
        <a:solidFill xmlns:a="http://schemas.openxmlformats.org/drawingml/2006/main">
          <a:srgbClr val="14231E"/>
        </a:solidFill>
      </p:bgPr>
    </p:bg>
    <p:spTree>
      <p:nvGrpSpPr>
        <p:cNvPr id="1" name=""/>
        <p:cNvGrpSpPr/>
        <p:nvPr/>
      </p:nvGrpSpPr>
      <p:grpSpPr>
        <a:xfrm xmlns:a="http://schemas.openxmlformats.org/drawingml/2006/main"/>
      </p:grpSpPr>
      <p:sp>
        <p:nvSpPr>
          <p:cNvPr id="17" name="Plano de construção para a Eleven">
            <a:extLst xmlns:a="http://schemas.openxmlformats.org/drawingml/2006/main">
              <a:ext uri="{FF2B5EF4-FFF2-40B4-BE49-F238E27FC236}">
                <a16:creationId xmlns:a16="http://schemas.microsoft.com/office/drawing/2014/main" id="{85F40DE2-C559-4D56-80DA-DA9D48C24AD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Divisão de construção e primeira integração</a:t>
            </a:r>
          </a:p>
        </p:txBody>
      </p:sp>
      <p:sp>
        <p:nvSpPr>
          <p:cNvPr id="2" name="01">
            <a:extLst xmlns:a="http://schemas.openxmlformats.org/drawingml/2006/main">
              <a:ext uri="{FF2B5EF4-FFF2-40B4-BE49-F238E27FC236}">
                <a16:creationId xmlns:a16="http://schemas.microsoft.com/office/drawing/2014/main" id="{63FED35E-62BF-4106-818F-E1057C271BB5}"/>
              </a:ext>
            </a:extLst>
          </p:cNvPr>
          <p:cNvSpPr>
            <a:spLocks xmlns:a="http://schemas.openxmlformats.org/drawingml/2006/main" noGrp="1"/>
          </p:cNvSpPr>
          <p:nvPr/>
        </p:nvSpPr>
        <p:spPr>
          <a:xfrm xmlns:a="http://schemas.openxmlformats.org/drawingml/2006/main">
            <a:off x="609600" y="1733550"/>
            <a:ext cx="73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75" b="1">
                <a:solidFill>
                  <a:srgbClr val="ED7417"/>
                </a:solidFill>
                <a:latin typeface="Arial"/>
                <a:ea typeface="Arial"/>
                <a:cs typeface="Arial"/>
              </a:defRPr>
            </a:pPr>
            <a:r>
              <a:rPr sz="3075" b="1">
                <a:solidFill>
                  <a:srgbClr val="ED7417"/>
                </a:solidFill>
                <a:latin typeface="Arial"/>
                <a:ea typeface="Arial"/>
                <a:cs typeface="Arial"/>
              </a:rPr>
              <a:t>01</a:t>
            </a:r>
          </a:p>
        </p:txBody>
      </p:sp>
      <p:sp>
        <p:nvSpPr>
          <p:cNvPr id="3" name="Dados e regras">
            <a:extLst xmlns:a="http://schemas.openxmlformats.org/drawingml/2006/main">
              <a:ext uri="{FF2B5EF4-FFF2-40B4-BE49-F238E27FC236}">
                <a16:creationId xmlns:a16="http://schemas.microsoft.com/office/drawing/2014/main" id="{F2B8AF46-6DCC-4266-AFD3-FF43CC9DA830}"/>
              </a:ext>
            </a:extLst>
          </p:cNvPr>
          <p:cNvSpPr>
            <a:spLocks xmlns:a="http://schemas.openxmlformats.org/drawingml/2006/main" noGrp="1"/>
          </p:cNvSpPr>
          <p:nvPr/>
        </p:nvSpPr>
        <p:spPr>
          <a:xfrm xmlns:a="http://schemas.openxmlformats.org/drawingml/2006/main">
            <a:off x="1619250" y="1733550"/>
            <a:ext cx="3562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Você</a:t>
            </a:r>
          </a:p>
        </p:txBody>
      </p:sp>
      <p:sp>
        <p:nvSpPr>
          <p:cNvPr id="4" name="Fechar cenários, datas, piso e resultados esperados.">
            <a:extLst xmlns:a="http://schemas.openxmlformats.org/drawingml/2006/main">
              <a:ext uri="{FF2B5EF4-FFF2-40B4-BE49-F238E27FC236}">
                <a16:creationId xmlns:a16="http://schemas.microsoft.com/office/drawing/2014/main" id="{7402713B-7266-45E3-8590-602E19BC07FB}"/>
              </a:ext>
            </a:extLst>
          </p:cNvPr>
          <p:cNvSpPr>
            <a:spLocks xmlns:a="http://schemas.openxmlformats.org/drawingml/2006/main" noGrp="1"/>
          </p:cNvSpPr>
          <p:nvPr/>
        </p:nvSpPr>
        <p:spPr>
          <a:xfrm xmlns:a="http://schemas.openxmlformats.org/drawingml/2006/main">
            <a:off x="5581650" y="1733550"/>
            <a:ext cx="59721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CCD7D1"/>
                </a:solidFill>
                <a:latin typeface="Arial"/>
                <a:ea typeface="Arial"/>
                <a:cs typeface="Arial"/>
              </a:defRPr>
            </a:pPr>
            <a:r>
              <a:rPr sz="2100" b="0">
                <a:solidFill>
                  <a:srgbClr val="CCD7D1"/>
                </a:solidFill>
                <a:latin typeface="Arial"/>
                <a:ea typeface="Arial"/>
                <a:cs typeface="Arial"/>
              </a:rPr>
              <a:t>Contexto, Revisão, estado, encaminhamento e registros.</a:t>
            </a:r>
          </a:p>
        </p:txBody>
      </p:sp>
      <p:sp>
        <p:nvSpPr>
          <p:cNvPr id="5" name="02">
            <a:extLst xmlns:a="http://schemas.openxmlformats.org/drawingml/2006/main">
              <a:ext uri="{FF2B5EF4-FFF2-40B4-BE49-F238E27FC236}">
                <a16:creationId xmlns:a16="http://schemas.microsoft.com/office/drawing/2014/main" id="{ABEC42F0-9228-4FAB-AB1D-B34EA9AA57B9}"/>
              </a:ext>
            </a:extLst>
          </p:cNvPr>
          <p:cNvSpPr>
            <a:spLocks xmlns:a="http://schemas.openxmlformats.org/drawingml/2006/main" noGrp="1"/>
          </p:cNvSpPr>
          <p:nvPr/>
        </p:nvSpPr>
        <p:spPr>
          <a:xfrm xmlns:a="http://schemas.openxmlformats.org/drawingml/2006/main">
            <a:off x="609600" y="2647950"/>
            <a:ext cx="73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75" b="1">
                <a:solidFill>
                  <a:srgbClr val="ED7417"/>
                </a:solidFill>
                <a:latin typeface="Arial"/>
                <a:ea typeface="Arial"/>
                <a:cs typeface="Arial"/>
              </a:defRPr>
            </a:pPr>
            <a:r>
              <a:rPr sz="3075" b="1">
                <a:solidFill>
                  <a:srgbClr val="ED7417"/>
                </a:solidFill>
                <a:latin typeface="Arial"/>
                <a:ea typeface="Arial"/>
                <a:cs typeface="Arial"/>
              </a:rPr>
              <a:t>02</a:t>
            </a:r>
          </a:p>
        </p:txBody>
      </p:sp>
      <p:sp>
        <p:nvSpPr>
          <p:cNvPr id="6" name="Ferramentas e estado">
            <a:extLst xmlns:a="http://schemas.openxmlformats.org/drawingml/2006/main">
              <a:ext uri="{FF2B5EF4-FFF2-40B4-BE49-F238E27FC236}">
                <a16:creationId xmlns:a16="http://schemas.microsoft.com/office/drawing/2014/main" id="{0AEE1DD4-7DA8-4899-BDB8-4041E421909C}"/>
              </a:ext>
            </a:extLst>
          </p:cNvPr>
          <p:cNvSpPr>
            <a:spLocks xmlns:a="http://schemas.openxmlformats.org/drawingml/2006/main" noGrp="1"/>
          </p:cNvSpPr>
          <p:nvPr/>
        </p:nvSpPr>
        <p:spPr>
          <a:xfrm xmlns:a="http://schemas.openxmlformats.org/drawingml/2006/main">
            <a:off x="1619250" y="2647950"/>
            <a:ext cx="3562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Outro desenvolvedor</a:t>
            </a:r>
          </a:p>
        </p:txBody>
      </p:sp>
      <p:sp>
        <p:nvSpPr>
          <p:cNvPr id="7" name="Integrar projeção, validação, permissões e versões.">
            <a:extLst xmlns:a="http://schemas.openxmlformats.org/drawingml/2006/main">
              <a:ext uri="{FF2B5EF4-FFF2-40B4-BE49-F238E27FC236}">
                <a16:creationId xmlns:a16="http://schemas.microsoft.com/office/drawing/2014/main" id="{3CA5FBFD-5479-49F0-8970-909B39668C29}"/>
              </a:ext>
            </a:extLst>
          </p:cNvPr>
          <p:cNvSpPr>
            <a:spLocks xmlns:a="http://schemas.openxmlformats.org/drawingml/2006/main" noGrp="1"/>
          </p:cNvSpPr>
          <p:nvPr/>
        </p:nvSpPr>
        <p:spPr>
          <a:xfrm xmlns:a="http://schemas.openxmlformats.org/drawingml/2006/main">
            <a:off x="5581650" y="2647950"/>
            <a:ext cx="59721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CCD7D1"/>
                </a:solidFill>
                <a:latin typeface="Arial"/>
                <a:ea typeface="Arial"/>
                <a:cs typeface="Arial"/>
              </a:defRPr>
            </a:pPr>
            <a:r>
              <a:rPr sz="2100" b="0">
                <a:solidFill>
                  <a:srgbClr val="CCD7D1"/>
                </a:solidFill>
                <a:latin typeface="Arial"/>
                <a:ea typeface="Arial"/>
                <a:cs typeface="Arial"/>
              </a:rPr>
              <a:t>Conta, Compromissos, ferramentas e validações financeiras.</a:t>
            </a:r>
          </a:p>
        </p:txBody>
      </p:sp>
      <p:sp>
        <p:nvSpPr>
          <p:cNvPr id="8" name="03">
            <a:extLst xmlns:a="http://schemas.openxmlformats.org/drawingml/2006/main">
              <a:ext uri="{FF2B5EF4-FFF2-40B4-BE49-F238E27FC236}">
                <a16:creationId xmlns:a16="http://schemas.microsoft.com/office/drawing/2014/main" id="{DA4CBCC0-32F0-4866-A5F1-771BA0EDCD99}"/>
              </a:ext>
            </a:extLst>
          </p:cNvPr>
          <p:cNvSpPr>
            <a:spLocks xmlns:a="http://schemas.openxmlformats.org/drawingml/2006/main" noGrp="1"/>
          </p:cNvSpPr>
          <p:nvPr/>
        </p:nvSpPr>
        <p:spPr>
          <a:xfrm xmlns:a="http://schemas.openxmlformats.org/drawingml/2006/main">
            <a:off x="609600" y="3562350"/>
            <a:ext cx="73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75" b="1">
                <a:solidFill>
                  <a:srgbClr val="ED7417"/>
                </a:solidFill>
                <a:latin typeface="Arial"/>
                <a:ea typeface="Arial"/>
                <a:cs typeface="Arial"/>
              </a:defRPr>
            </a:pPr>
            <a:r>
              <a:rPr sz="3075" b="1">
                <a:solidFill>
                  <a:srgbClr val="ED7417"/>
                </a:solidFill>
                <a:latin typeface="Arial"/>
                <a:ea typeface="Arial"/>
                <a:cs typeface="Arial"/>
              </a:rPr>
              <a:t>03</a:t>
            </a:r>
          </a:p>
        </p:txBody>
      </p:sp>
      <p:sp>
        <p:nvSpPr>
          <p:cNvPr id="9" name="Agentes em colaboração">
            <a:extLst xmlns:a="http://schemas.openxmlformats.org/drawingml/2006/main">
              <a:ext uri="{FF2B5EF4-FFF2-40B4-BE49-F238E27FC236}">
                <a16:creationId xmlns:a16="http://schemas.microsoft.com/office/drawing/2014/main" id="{A10CDB9C-24AF-4B22-B758-C0F2B9F2549F}"/>
              </a:ext>
            </a:extLst>
          </p:cNvPr>
          <p:cNvSpPr>
            <a:spLocks xmlns:a="http://schemas.openxmlformats.org/drawingml/2006/main" noGrp="1"/>
          </p:cNvSpPr>
          <p:nvPr/>
        </p:nvSpPr>
        <p:spPr>
          <a:xfrm xmlns:a="http://schemas.openxmlformats.org/drawingml/2006/main">
            <a:off x="1619250" y="3562350"/>
            <a:ext cx="3562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Vocês juntos</a:t>
            </a:r>
          </a:p>
        </p:txBody>
      </p:sp>
      <p:sp>
        <p:nvSpPr>
          <p:cNvPr id="10" name="Executar a jornada e registrar pedidos entre especialistas.">
            <a:extLst xmlns:a="http://schemas.openxmlformats.org/drawingml/2006/main">
              <a:ext uri="{FF2B5EF4-FFF2-40B4-BE49-F238E27FC236}">
                <a16:creationId xmlns:a16="http://schemas.microsoft.com/office/drawing/2014/main" id="{A56EFBDD-9949-4E89-AC45-2DD8C5ADC337}"/>
              </a:ext>
            </a:extLst>
          </p:cNvPr>
          <p:cNvSpPr>
            <a:spLocks xmlns:a="http://schemas.openxmlformats.org/drawingml/2006/main" noGrp="1"/>
          </p:cNvSpPr>
          <p:nvPr/>
        </p:nvSpPr>
        <p:spPr>
          <a:xfrm xmlns:a="http://schemas.openxmlformats.org/drawingml/2006/main">
            <a:off x="5581650" y="3562350"/>
            <a:ext cx="59721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CCD7D1"/>
                </a:solidFill>
                <a:latin typeface="Arial"/>
                <a:ea typeface="Arial"/>
                <a:cs typeface="Arial"/>
              </a:defRPr>
            </a:pPr>
            <a:r>
              <a:rPr sz="2100" b="0">
                <a:solidFill>
                  <a:srgbClr val="CCD7D1"/>
                </a:solidFill>
                <a:latin typeface="Arial"/>
                <a:ea typeface="Arial"/>
                <a:cs typeface="Arial"/>
              </a:rPr>
              <a:t>Formato das mensagens, regras, integração e testes.</a:t>
            </a:r>
          </a:p>
        </p:txBody>
      </p:sp>
      <p:sp>
        <p:nvSpPr>
          <p:cNvPr id="11" name="04">
            <a:extLst xmlns:a="http://schemas.openxmlformats.org/drawingml/2006/main">
              <a:ext uri="{FF2B5EF4-FFF2-40B4-BE49-F238E27FC236}">
                <a16:creationId xmlns:a16="http://schemas.microsoft.com/office/drawing/2014/main" id="{469333B8-4761-4B0D-8212-F936A616E88A}"/>
              </a:ext>
            </a:extLst>
          </p:cNvPr>
          <p:cNvSpPr>
            <a:spLocks xmlns:a="http://schemas.openxmlformats.org/drawingml/2006/main" noGrp="1"/>
          </p:cNvSpPr>
          <p:nvPr/>
        </p:nvSpPr>
        <p:spPr>
          <a:xfrm xmlns:a="http://schemas.openxmlformats.org/drawingml/2006/main">
            <a:off x="609600" y="4476750"/>
            <a:ext cx="73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75" b="1">
                <a:solidFill>
                  <a:srgbClr val="ED7417"/>
                </a:solidFill>
                <a:latin typeface="Arial"/>
                <a:ea typeface="Arial"/>
                <a:cs typeface="Arial"/>
              </a:defRPr>
            </a:pPr>
            <a:r>
              <a:rPr sz="3075" b="1">
                <a:solidFill>
                  <a:srgbClr val="ED7417"/>
                </a:solidFill>
                <a:latin typeface="Arial"/>
                <a:ea typeface="Arial"/>
                <a:cs typeface="Arial"/>
              </a:rPr>
              <a:t>04</a:t>
            </a:r>
          </a:p>
        </p:txBody>
      </p:sp>
      <p:sp>
        <p:nvSpPr>
          <p:cNvPr id="12" name="Demonstração e avaliação">
            <a:extLst xmlns:a="http://schemas.openxmlformats.org/drawingml/2006/main">
              <a:ext uri="{FF2B5EF4-FFF2-40B4-BE49-F238E27FC236}">
                <a16:creationId xmlns:a16="http://schemas.microsoft.com/office/drawing/2014/main" id="{24EDA5AF-7096-41BE-BE53-A4A4666CE2DC}"/>
              </a:ext>
            </a:extLst>
          </p:cNvPr>
          <p:cNvSpPr>
            <a:spLocks xmlns:a="http://schemas.openxmlformats.org/drawingml/2006/main" noGrp="1"/>
          </p:cNvSpPr>
          <p:nvPr/>
        </p:nvSpPr>
        <p:spPr>
          <a:xfrm xmlns:a="http://schemas.openxmlformats.org/drawingml/2006/main">
            <a:off x="1619250" y="4476750"/>
            <a:ext cx="3562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Equipe Eleven</a:t>
            </a:r>
          </a:p>
        </p:txBody>
      </p:sp>
      <p:sp>
        <p:nvSpPr>
          <p:cNvPr id="13" name="Comparar resultados, corrigir falhas e ensaiar a explicação.">
            <a:extLst xmlns:a="http://schemas.openxmlformats.org/drawingml/2006/main">
              <a:ext uri="{FF2B5EF4-FFF2-40B4-BE49-F238E27FC236}">
                <a16:creationId xmlns:a16="http://schemas.microsoft.com/office/drawing/2014/main" id="{097377D5-9892-4EDE-8937-523F321184D0}"/>
              </a:ext>
            </a:extLst>
          </p:cNvPr>
          <p:cNvSpPr>
            <a:spLocks xmlns:a="http://schemas.openxmlformats.org/drawingml/2006/main" noGrp="1"/>
          </p:cNvSpPr>
          <p:nvPr/>
        </p:nvSpPr>
        <p:spPr>
          <a:xfrm xmlns:a="http://schemas.openxmlformats.org/drawingml/2006/main">
            <a:off x="5581650" y="4476750"/>
            <a:ext cx="59721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CCD7D1"/>
                </a:solidFill>
                <a:latin typeface="Arial"/>
                <a:ea typeface="Arial"/>
                <a:cs typeface="Arial"/>
              </a:defRPr>
            </a:pPr>
            <a:r>
              <a:rPr sz="2100" b="0">
                <a:solidFill>
                  <a:srgbClr val="CCD7D1"/>
                </a:solidFill>
                <a:latin typeface="Arial"/>
                <a:ea typeface="Arial"/>
                <a:cs typeface="Arial"/>
              </a:rPr>
              <a:t>Validar a experiência e preparar as evidências do pitch.</a:t>
            </a:r>
          </a:p>
        </p:txBody>
      </p:sp>
      <p:sp>
        <p:nvSpPr>
          <p:cNvPr id="14" name="Resultado da reunião: responsáveis por frente e uma jornada integrada como primeira entreg">
            <a:extLst xmlns:a="http://schemas.openxmlformats.org/drawingml/2006/main">
              <a:ext uri="{FF2B5EF4-FFF2-40B4-BE49-F238E27FC236}">
                <a16:creationId xmlns:a16="http://schemas.microsoft.com/office/drawing/2014/main" id="{3ACB9AF6-8E6F-4418-AA51-13487501817C}"/>
              </a:ext>
            </a:extLst>
          </p:cNvPr>
          <p:cNvSpPr>
            <a:spLocks xmlns:a="http://schemas.openxmlformats.org/drawingml/2006/main" noGrp="1"/>
          </p:cNvSpPr>
          <p:nvPr/>
        </p:nvSpPr>
        <p:spPr>
          <a:xfrm xmlns:a="http://schemas.openxmlformats.org/drawingml/2006/main">
            <a:off x="619125" y="56388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Primeira entrega: Contexto chama Conta, a ferramenta calcula</a:t>
            </a:r>
          </a:p>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e a resposta retorna ao cliente na mesma conversa.</a:t>
            </a:r>
          </a:p>
        </p:txBody>
      </p:sp>
      <p:sp>
        <p:nvSpPr>
          <p:cNvPr id="15" name="Critério de conclusão: uma mudança real de contexto produz números novos e uma orientação ">
            <a:extLst xmlns:a="http://schemas.openxmlformats.org/drawingml/2006/main">
              <a:ext uri="{FF2B5EF4-FFF2-40B4-BE49-F238E27FC236}">
                <a16:creationId xmlns:a16="http://schemas.microsoft.com/office/drawing/2014/main" id="{A0826627-999E-4CFC-A894-6395A27CEB9D}"/>
              </a:ext>
            </a:extLst>
          </p:cNvPr>
          <p:cNvSpPr>
            <a:spLocks xmlns:a="http://schemas.openxmlformats.org/drawingml/2006/main" noGrp="1"/>
          </p:cNvSpPr>
          <p:nvPr/>
        </p:nvSpPr>
        <p:spPr>
          <a:xfrm xmlns:a="http://schemas.openxmlformats.org/drawingml/2006/main">
            <a:off x="609600" y="6334125"/>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CD7D1"/>
                </a:solidFill>
                <a:latin typeface="Arial"/>
                <a:ea typeface="Arial"/>
                <a:cs typeface="Arial"/>
              </a:defRPr>
            </a:pPr>
            <a:r>
              <a:rPr sz="1275" b="0">
                <a:solidFill>
                  <a:srgbClr val="CCD7D1"/>
                </a:solidFill>
                <a:latin typeface="Arial"/>
                <a:ea typeface="Arial"/>
                <a:cs typeface="Arial"/>
              </a:rPr>
              <a:t>Um projeto com módulos separados. Integração desde o início e PJ somente após consolidar a jornada PF.</a:t>
            </a:r>
          </a:p>
        </p:txBody>
      </p:sp>
      <p:sp>
        <p:nvSpPr>
          <p:cNvPr id="16" name="16">
            <a:extLst xmlns:a="http://schemas.openxmlformats.org/drawingml/2006/main">
              <a:ext uri="{FF2B5EF4-FFF2-40B4-BE49-F238E27FC236}">
                <a16:creationId xmlns:a16="http://schemas.microsoft.com/office/drawing/2014/main" id="{7A881DDD-4DD7-4867-A96B-DF960C6F25CF}"/>
              </a:ext>
            </a:extLst>
          </p:cNvPr>
          <p:cNvSpPr>
            <a:spLocks xmlns:a="http://schemas.openxmlformats.org/drawingml/2006/main" noGrp="1"/>
          </p:cNvSpPr>
          <p:nvPr/>
        </p:nvSpPr>
        <p:spPr>
          <a:xfrm xmlns:a="http://schemas.openxmlformats.org/drawingml/2006/main">
            <a:off x="1112520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CCD7D1"/>
                </a:solidFill>
                <a:latin typeface="Arial"/>
                <a:ea typeface="Arial"/>
                <a:cs typeface="Arial"/>
              </a:defRPr>
            </a:pPr>
            <a:r>
              <a:rPr sz="1275" b="0">
                <a:solidFill>
                  <a:srgbClr val="CCD7D1"/>
                </a:solidFill>
                <a:latin typeface="Arial"/>
                <a:ea typeface="Arial"/>
                <a:cs typeface="Arial"/>
              </a:rPr>
              <a:t>16</a:t>
            </a:r>
          </a:p>
        </p:txBody>
      </p:sp>
    </p:spTree>
    <p:extLst>
      <p:ext uri="{BB962C8B-B14F-4D97-AF65-F5344CB8AC3E}">
        <p14:creationId xmlns:p14="http://schemas.microsoft.com/office/powerpoint/2010/main" val="16774715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2026-09-26T19:45:14.6140000Z</dcterms:created>
  <dcterms:modified xsi:type="dcterms:W3CDTF">2026-09-26T19:45:14.6140000Z</dcterms:modified>
</coreProperties>
</file>