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HAUSTO — EQUIPE ELEVEN</a:t>
            </a:r>
          </a:p>
          <a:p>
            <a:endParaRPr/>
          </a:p>
          <a:p>
            <a:r>
              <a:t>Proposta para a Parte 1 do Projeto. A arquitetura e a demonstração descritas são propostas de implementação. Esta ficha não afirma que o protótipo já está construído.</a:t>
            </a:r>
          </a:p>
          <a:p>
            <a:endParaRPr/>
          </a:p>
          <a:p>
            <a:r>
              <a:t>PROBLEMA E EVIDÊNCIA</a:t>
            </a:r>
          </a:p>
          <a:p>
            <a:r>
              <a:t>Base fornecida para o desafio: 467.585 transações sintéticas, 1.000 pessoas e janeiro a dezembro de 2025. Há 12.000 registros de pagamento de fatura, dos quais 8.823 integrais, 2.102 parciais e 1.075 mínimos. Os 3.177 pagamentos não integrais representam 26,475%, arredondados para 26,5%. São 689 pessoas com pelo menos um pagamento parcial ou mínimo no ano. Esses números descrevem a base sintética e não estimam prevalência na carteira real do Itaú. A população de 689 pessoas não corresponde automaticamente ao segmento recorrente do piloto, cujo critério ainda será validado.</a:t>
            </a:r>
          </a:p>
          <a:p>
            <a:r>
              <a:t>Juros registrados no mesmo usuário-mês de pagamentos não integrais somam R$ 446.660,99. A associação temporal não comprova que esses juros sejam de rotativo, que tenham sido causados por esses pagamentos ou que seriam evitáveis pelo agente. Por isso, esse montante não é apresentado como economia potencial.</a:t>
            </a:r>
          </a:p>
          <a:p>
            <a:endParaRPr/>
          </a:p>
          <a:p>
            <a:r>
              <a:t>MOMENTO E PROPOSTA</a:t>
            </a:r>
          </a:p>
          <a:p>
            <a:r>
              <a:t>O agente se propõe a apoiar a decisão de pagamento da fatura antes do vencimento informado pelo cliente. O histórico serve para identificar um sinal e formular perguntas, não para concluir que a pessoa possui dinheiro livre. Para qualquer caso retrospectivo da demo, só entram transações conhecidas até a data da decisão. Não usar o restante do ano como informação disponível naquele momento.</a:t>
            </a:r>
          </a:p>
          <a:p>
            <a:r>
              <a:t>O agente confirma valor e vencimento da fatura, dinheiro efetivamente disponível, renda e data de recebimento, despesas essenciais e compromissos até a próxima renda, além das condições e custos das alternativas. A base não fornece todos esses campos, incluindo taxas contratuais, vencimentos, fechamento de fatura e obrigações externas. Dados ausentes exigem perguntas. Taxas ilustrativas aparecem expressamente como hipóteses de simulação. Uma indicação personalizada depende das condições confirmadas.</a:t>
            </a:r>
          </a:p>
          <a:p>
            <a:r>
              <a:t>O agente compara pagamento integral, parcial e, quando existir condição confirmada, outra alternativa disponível. Mostra custos e efeito no caixa com o mesmo horizonte e premissas. Só o cliente decide. Se nenhuma alternativa cobrir as despesas essenciais informadas, o agente explicita a insuficiência e orienta a procurar atendimento para avaliar opções, sem inventar uma opção viável. Evita duplicar compras no cartão com o pagamento da respectiva fatura no cálculo de caixa.</a:t>
            </a:r>
          </a:p>
          <a:p>
            <a:endParaRPr/>
          </a:p>
          <a:p>
            <a:r>
              <a:t>DADOS E TECNOLOGIA PROPOSTOS</a:t>
            </a:r>
          </a:p>
          <a:p>
            <a:r>
              <a:t>1. BigQuery consulta e agrega histórico sintético com corte temporal.</a:t>
            </a:r>
          </a:p>
          <a:p>
            <a:r>
              <a:t>2. Google ADK com Gemini conduz a conversa, identifica lacunas e chama ferramentas. O texto do cliente e os dados consultados são contexto, não instruções para alterar os limites do agente.</a:t>
            </a:r>
          </a:p>
          <a:p>
            <a:r>
              <a:t>3. Funções determinísticas em serviço no Cloud Run calculam custos, fluxos por data e cobertura das despesas. O modelo não inventa cálculos, taxas nem valores contratuais.</a:t>
            </a:r>
          </a:p>
          <a:p>
            <a:r>
              <a:t>4. Gemini transforma os resultados em explicações, checa compreensão e registra, para avaliação, as premissas e a escolha declarada pelo cliente. Registrar apenas os dados necessários. A demo usa identificadores sintéticos.</a:t>
            </a:r>
          </a:p>
          <a:p>
            <a:r>
              <a:t>Essa divisão permite demonstrar adaptação real: uma nova despesa informada pelo cliente muda a ferramenta chamada, o cenário calculado e a explicação.</a:t>
            </a:r>
          </a:p>
          <a:p>
            <a:endParaRPr/>
          </a:p>
          <a:p>
            <a:r>
              <a:t>MÉTRICAS PROPOSTAS E DEFINIÇÕES</a:t>
            </a:r>
          </a:p>
          <a:p>
            <a:r>
              <a:t>1. Diferença de custo total projetado entre alternativas no mesmo horizonte e com as mesmas premissas. É estimativa de simulação, não economia realizada. Exibir inclusive quando não houver alternativa melhor.</a:t>
            </a:r>
          </a:p>
          <a:p>
            <a:r>
              <a:t>2. Percentual de casos com saldo projetado não negativo após cada compromisso essencial informado até a próxima renda. Informar também quantos casos não possuem alternativa viável. Resultado condicionado à completude e à precisão das informações.</a:t>
            </a:r>
          </a:p>
          <a:p>
            <a:r>
              <a:t>3. Variação da taxa de acertos em perguntas equivalentes antes e após a orientação, para verificar compreensão de encargos e impacto no orçamento. Não usar apenas cliques ou engajamento como evidência de educação financeira.</a:t>
            </a:r>
          </a:p>
          <a:p>
            <a:r>
              <a:t>4. Percentual de respostas sem violação dos limites definidos na avaliação: não inventar taxa ou dado, não recomendar sem contexto suficiente, usar cálculos da ferramenta, informar hipóteses, não comprometer o essencial sem explicitar a insuficiência e não executar transações. O denominador inclui todos os casos avaliados. Meta proposta: zero violação crítica, ainda não medida.</a:t>
            </a:r>
          </a:p>
          <a:p>
            <a:r>
              <a:t>Benefícios esperados a validar: melhor compreensão e decisão para o cliente, qualidade e rastreabilidade da orientação para o banco, apoio à educação financeira e prevenção do superendividamento. Redução real de juros, inadimplência ou custos operacionais só poderá ser atribuída após piloto com comparação adequada. A ficha não promete ROI nem conformidade regulatória comprovada.</a:t>
            </a:r>
          </a:p>
          <a:p>
            <a:endParaRPr/>
          </a:p>
          <a:p>
            <a:r>
              <a:t>JORNADA DA DEMO</a:t>
            </a:r>
          </a:p>
          <a:p>
            <a:r>
              <a:t>Um caso sintético: sinal no histórico anterior à decisão, alerta, confirmação de fatura e orçamento, chamada da ferramenta, comparação das opções, nova despesa essencial informada pelo cliente, recálculo, explicação da mudança, checagem de compreensão e escolha final registrada em ambiente de demonstração. Sem movimentar dinheiro, contratar crédito, integrar contas reais ou usar taxas ilustrativas como ofertas comerciais. O objetivo é evidenciar utilidade e limites do agente, antes da implementação de um produto.</a:t>
            </a:r>
          </a:p>
          <a:p>
            <a:endParaRPr/>
          </a:p>
          <a:p>
            <a:r>
              <a:t>FONTES</a:t>
            </a:r>
          </a:p>
          <a:p>
            <a:r>
              <a:t>Template: Batalha de Agentes - Ficha de Projeto Template.pptx, fornecido pelo usuário.</a:t>
            </a:r>
          </a:p>
          <a:p>
            <a:r>
              <a:t>Desafio: Batalha de Agentes - Apresentação Case.pdf, fornecido pelo usuário, 7 páginas.</a:t>
            </a:r>
          </a:p>
          <a:p>
            <a:r>
              <a:t>Dados: bq-results-20260926-150302-1790435008795.csv, fornecido pelo usuário. Consolidação própria das categorias de pagamento da fatura.</a:t>
            </a:r>
          </a:p>
          <a:p>
            <a:r>
              <a:t>Materiais de discussão: analise-base-transacoes-itau.md, relatorio_agente_financeiro.html e Folego_Pitch_Time_Final.pptx, fornecidos pelo usuário. Alegações desses materiais só foram adotadas quando sustentadas pelos dados ou explicitamente tratadas como propostas.</a:t>
            </a:r>
          </a:p>
          <a:p>
            <a:r>
              <a:t>Resolução Conjunta nº 8, Banco Central do Brasil, arts. 2 a 4: https://www.bcb.gov.br/estabilidadefinanceira/exibenormativo?numero=8&amp;tipo=Resolu%C3%A7%C3%A3o%20Conjunta</a:t>
            </a:r>
          </a:p>
          <a:p>
            <a:r>
              <a:t>BigQuery: https://docs.cloud.google.com/bigquery/docs/introduction</a:t>
            </a:r>
          </a:p>
          <a:p>
            <a:r>
              <a:t>Google ADK, ferramentas de função: https://adk.dev/tools-custom/function-tools/</a:t>
            </a:r>
          </a:p>
          <a:p>
            <a:r>
              <a:t>Google ADK, implantação no Cloud Run: https://adk.dev/deploy/cloud-run/</a:t>
            </a:r>
          </a:p>
          <a:p>
            <a:r>
              <a:t>Gemini, modelos no Google Cloud: https://docs.cloud.google.com/gemini-enterprise-agent-platform/models/start</a:t>
            </a:r>
          </a:p>
          <a:p>
            <a:r>
              <a:t>Consulta documental em 26/09/2026.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>
            <a:spLocks noGrp="1"/>
          </p:cNvSpPr>
          <p:nvPr/>
        </p:nvSpPr>
        <p:spPr>
          <a:xfrm>
            <a:off x="63500" y="6657340"/>
            <a:ext cx="1042988" cy="13716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l">
              <a:buNone/>
            </a:pPr>
            <a:r>
              <a:rPr sz="9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62865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noGrp="1"/>
          </p:cNvSpPr>
          <p:nvPr/>
        </p:nvSpPr>
        <p:spPr>
          <a:xfrm>
            <a:off x="876300" y="560070"/>
            <a:ext cx="10001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sz="2800" b="1" i="0" u="none" kern="1200" cap="none" spc="0" baseline="0">
              <a:ln>
                <a:noFill/>
              </a:ln>
              <a:solidFill>
                <a:srgbClr val="FFFFFF"/>
              </a:solidFill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27" name="Imagem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3268" y="6381750"/>
            <a:ext cx="836613" cy="38100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>
            <a:spLocks noGrp="1"/>
          </p:cNvSpPr>
          <p:nvPr/>
        </p:nvSpPr>
        <p:spPr>
          <a:xfrm>
            <a:off x="647700" y="1260909"/>
            <a:ext cx="5542146" cy="4235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sz="1800" dirty="0"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Nome do </a:t>
            </a:r>
            <a:r>
              <a:rPr sz="1800" dirty="0" err="1"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Agente</a:t>
            </a:r>
            <a:r>
              <a:rPr sz="1800" dirty="0"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: </a:t>
            </a:r>
            <a:r>
              <a:rPr lang="pt-BR" dirty="0"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Hausto</a:t>
            </a:r>
            <a:endParaRPr sz="1800" dirty="0">
              <a:solidFill>
                <a:srgbClr val="FF6200"/>
              </a:solidFill>
              <a:latin typeface="Itau Display Pro Black"/>
              <a:ea typeface="Itau Display Pro Black"/>
              <a:cs typeface="Itau Display Pro Black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>
            <a:spLocks noGrp="1"/>
          </p:cNvSpPr>
          <p:nvPr/>
        </p:nvSpPr>
        <p:spPr>
          <a:xfrm>
            <a:off x="647700" y="186266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250" tIns="66675" rIns="95250" bIns="66675" anchor="t">
            <a:noAutofit/>
          </a:bodyPr>
          <a:lstStyle/>
          <a:p>
            <a:pPr algn="l">
              <a:spcAft>
                <a:spcPts val="45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800" b="1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O Problema: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Decidir quanto pagar da fatura sem faltar dinheiro para despesas essenciais.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Base sintética de 2025: 26,5% dos 12.000 pagamentos foram parciais ou mínimos, atingindo 689 de 1.000 pessoas.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>
            <a:spLocks noGrp="1"/>
          </p:cNvSpPr>
          <p:nvPr/>
        </p:nvSpPr>
        <p:spPr>
          <a:xfrm>
            <a:off x="4279900" y="1862668"/>
            <a:ext cx="3433233" cy="2125132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250" tIns="66675" rIns="95250" bIns="66675" anchor="t">
            <a:noAutofit/>
          </a:bodyPr>
          <a:lstStyle/>
          <a:p>
            <a:pPr algn="l">
              <a:spcAft>
                <a:spcPts val="45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800" b="1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Momento do Usuário: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com pagamentos parciais ou mínimos recorrentes, antes do vencimento informado por ele.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Usamos o histórico anterior à decisão e confirmamos fatura, vencimento, custos, próxima renda e despesas essenciais.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>
            <a:spLocks noGrp="1"/>
          </p:cNvSpPr>
          <p:nvPr/>
        </p:nvSpPr>
        <p:spPr>
          <a:xfrm>
            <a:off x="7912100" y="186266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250" tIns="66675" rIns="95250" bIns="66675" anchor="t">
            <a:noAutofit/>
          </a:bodyPr>
          <a:lstStyle/>
          <a:p>
            <a:pPr algn="l">
              <a:spcAft>
                <a:spcPts val="45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800" b="1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Proposta do Agente: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Apoiar uma escolha informada que preserve o essencial.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1. Perguntar o que falta no extrato.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2. Comparar custo total e caixa até a próxima renda.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3. Explicar impactos e checar a compreensão. A decisão é do cliente.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>
            <a:spLocks noGrp="1"/>
          </p:cNvSpPr>
          <p:nvPr/>
        </p:nvSpPr>
        <p:spPr>
          <a:xfrm>
            <a:off x="647700" y="418422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250" tIns="66675" rIns="95250" bIns="66675" anchor="t">
            <a:noAutofit/>
          </a:bodyPr>
          <a:lstStyle/>
          <a:p>
            <a:pPr algn="l">
              <a:spcAft>
                <a:spcPts val="45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800" b="1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Dados e tecnologia: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Arquitetura proposta: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1. BigQuery organiza o histórico.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2. Gemini + Google ADK coletam contexto.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3. Funções no Cloud Run calculam cenários.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4. Gemini explica e registra a decisão.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Base sintética e contexto confirmado.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>
            <a:spLocks noGrp="1"/>
          </p:cNvSpPr>
          <p:nvPr/>
        </p:nvSpPr>
        <p:spPr>
          <a:xfrm>
            <a:off x="4279900" y="4184228"/>
            <a:ext cx="3433233" cy="2125132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250" tIns="66675" rIns="95250" bIns="66675" anchor="t">
            <a:noAutofit/>
          </a:bodyPr>
          <a:lstStyle/>
          <a:p>
            <a:pPr algn="l">
              <a:spcAft>
                <a:spcPts val="45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800" b="1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Como mediremos valor: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1. Diferença de custo projetado entre opções.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2. % de casos com o essencial preservado.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3. Compreensão antes e após a orientação.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4. % de respostas dentro dos limites definidos.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Impacto real a validar em piloto.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>
            <a:spLocks noGrp="1"/>
          </p:cNvSpPr>
          <p:nvPr/>
        </p:nvSpPr>
        <p:spPr>
          <a:xfrm>
            <a:off x="7912100" y="418422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5250" tIns="66675" rIns="95250" bIns="66675" anchor="t">
            <a:noAutofit/>
          </a:bodyPr>
          <a:lstStyle/>
          <a:p>
            <a:pPr algn="l">
              <a:spcAft>
                <a:spcPts val="45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800" b="1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Escopo da Demo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Uma jornada: alerta, confirmação de dados, comparação e escolha.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O cliente informa nova despesa essencial. O agente recalcula e explica a mudança.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defRPr>
            </a:pPr>
            <a:r>
              <a:rPr sz="1400" b="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Base sintética e taxas ilustrativas explícitas. Sem pagamentos ou contratação de crédito.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>
            <a:spLocks noGrp="1"/>
          </p:cNvSpPr>
          <p:nvPr/>
        </p:nvSpPr>
        <p:spPr>
          <a:xfrm>
            <a:off x="6411629" y="1260909"/>
            <a:ext cx="4933704" cy="4235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sz="1800"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Equipe: Eleven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DocSecurity>0</DocSecurity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Calibri</vt:lpstr>
      <vt:lpstr>Itau Display Pro</vt:lpstr>
      <vt:lpstr>Itau Display Pro Black</vt:lpstr>
      <vt:lpstr>Itau Display Pro XBold</vt:lpstr>
      <vt:lpstr>ChatGPT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Hausto</dc:title>
  <dc:creator>Walnut Exporter</dc:creator>
  <cp:lastModifiedBy>WILLIAN AUGUSTO FERREIRA</cp:lastModifiedBy>
  <cp:revision>1</cp:revision>
  <dcterms:created xsi:type="dcterms:W3CDTF">2026-09-26T16:15:00Z</dcterms:created>
  <dcterms:modified xsi:type="dcterms:W3CDTF">2026-09-26T16:20:39Z</dcterms:modified>
</cp:coreProperties>
</file>